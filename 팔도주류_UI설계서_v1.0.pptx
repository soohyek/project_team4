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trictFirstAndLastChars="0" saveSubsetFonts="1">
  <p:sldMasterIdLst>
    <p:sldMasterId id="2147483700" r:id="rId1"/>
    <p:sldMasterId id="2147483701" r:id="rId2"/>
  </p:sldMasterIdLst>
  <p:notesMasterIdLst>
    <p:notesMasterId r:id="rId44"/>
  </p:notesMasterIdLst>
  <p:handoutMasterIdLst>
    <p:handoutMasterId r:id="rId45"/>
  </p:handoutMasterIdLst>
  <p:sldIdLst>
    <p:sldId id="256" r:id="rId3"/>
    <p:sldId id="257" r:id="rId4"/>
    <p:sldId id="258" r:id="rId5"/>
    <p:sldId id="259" r:id="rId6"/>
    <p:sldId id="260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98" r:id="rId15"/>
    <p:sldId id="297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99" r:id="rId26"/>
    <p:sldId id="300" r:id="rId27"/>
    <p:sldId id="279" r:id="rId28"/>
    <p:sldId id="280" r:id="rId29"/>
    <p:sldId id="281" r:id="rId30"/>
    <p:sldId id="301" r:id="rId31"/>
    <p:sldId id="283" r:id="rId32"/>
    <p:sldId id="284" r:id="rId33"/>
    <p:sldId id="285" r:id="rId34"/>
    <p:sldId id="286" r:id="rId35"/>
    <p:sldId id="287" r:id="rId36"/>
    <p:sldId id="288" r:id="rId37"/>
    <p:sldId id="289" r:id="rId38"/>
    <p:sldId id="290" r:id="rId39"/>
    <p:sldId id="293" r:id="rId40"/>
    <p:sldId id="294" r:id="rId41"/>
    <p:sldId id="295" r:id="rId42"/>
    <p:sldId id="296" r:id="rId43"/>
  </p:sldIdLst>
  <p:sldSz cx="9906000" cy="6858000" type="A4"/>
  <p:notesSz cx="6797675" cy="9926638"/>
  <p:defaultTextStyle>
    <a:defPPr>
      <a:defRPr lang="en-US"/>
    </a:defPPr>
    <a:lvl1pPr algn="ctr" rtl="0" eaLnBrk="0" fontAlgn="base" hangingPunct="0">
      <a:spcBef>
        <a:spcPct val="25000"/>
      </a:spcBef>
      <a:spcAft>
        <a:spcPct val="25000"/>
      </a:spcAft>
      <a:buClr>
        <a:schemeClr val="bg1"/>
      </a:buClr>
      <a:buFont typeface="Wingdings"/>
      <a:defRPr sz="1200" kern="1200">
        <a:solidFill>
          <a:schemeClr val="tx1"/>
        </a:solidFill>
        <a:latin typeface="Arial"/>
        <a:ea typeface="굴림"/>
        <a:cs typeface="+mn-cs"/>
      </a:defRPr>
    </a:lvl1pPr>
    <a:lvl2pPr marL="457200" algn="ctr" rtl="0" eaLnBrk="0" fontAlgn="base" hangingPunct="0">
      <a:spcBef>
        <a:spcPct val="25000"/>
      </a:spcBef>
      <a:spcAft>
        <a:spcPct val="25000"/>
      </a:spcAft>
      <a:buClr>
        <a:schemeClr val="bg1"/>
      </a:buClr>
      <a:buFont typeface="Wingdings"/>
      <a:defRPr sz="1200" kern="1200">
        <a:solidFill>
          <a:schemeClr val="tx1"/>
        </a:solidFill>
        <a:latin typeface="Arial"/>
        <a:ea typeface="굴림"/>
        <a:cs typeface="+mn-cs"/>
      </a:defRPr>
    </a:lvl2pPr>
    <a:lvl3pPr marL="914400" algn="ctr" rtl="0" eaLnBrk="0" fontAlgn="base" hangingPunct="0">
      <a:spcBef>
        <a:spcPct val="25000"/>
      </a:spcBef>
      <a:spcAft>
        <a:spcPct val="25000"/>
      </a:spcAft>
      <a:buClr>
        <a:schemeClr val="bg1"/>
      </a:buClr>
      <a:buFont typeface="Wingdings"/>
      <a:defRPr sz="1200" kern="1200">
        <a:solidFill>
          <a:schemeClr val="tx1"/>
        </a:solidFill>
        <a:latin typeface="Arial"/>
        <a:ea typeface="굴림"/>
        <a:cs typeface="+mn-cs"/>
      </a:defRPr>
    </a:lvl3pPr>
    <a:lvl4pPr marL="1371600" algn="ctr" rtl="0" eaLnBrk="0" fontAlgn="base" hangingPunct="0">
      <a:spcBef>
        <a:spcPct val="25000"/>
      </a:spcBef>
      <a:spcAft>
        <a:spcPct val="25000"/>
      </a:spcAft>
      <a:buClr>
        <a:schemeClr val="bg1"/>
      </a:buClr>
      <a:buFont typeface="Wingdings"/>
      <a:defRPr sz="1200" kern="1200">
        <a:solidFill>
          <a:schemeClr val="tx1"/>
        </a:solidFill>
        <a:latin typeface="Arial"/>
        <a:ea typeface="굴림"/>
        <a:cs typeface="+mn-cs"/>
      </a:defRPr>
    </a:lvl4pPr>
    <a:lvl5pPr marL="1828800" algn="ctr" rtl="0" eaLnBrk="0" fontAlgn="base" hangingPunct="0">
      <a:spcBef>
        <a:spcPct val="25000"/>
      </a:spcBef>
      <a:spcAft>
        <a:spcPct val="25000"/>
      </a:spcAft>
      <a:buClr>
        <a:schemeClr val="bg1"/>
      </a:buClr>
      <a:buFont typeface="Wingdings"/>
      <a:defRPr sz="1200" kern="1200">
        <a:solidFill>
          <a:schemeClr val="tx1"/>
        </a:solidFill>
        <a:latin typeface="Arial"/>
        <a:ea typeface="굴림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Arial"/>
        <a:ea typeface="굴림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Arial"/>
        <a:ea typeface="굴림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Arial"/>
        <a:ea typeface="굴림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Arial"/>
        <a:ea typeface="굴림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59">
          <p15:clr>
            <a:srgbClr val="A4A3A4"/>
          </p15:clr>
        </p15:guide>
        <p15:guide id="2" pos="3119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5">
          <p15:clr>
            <a:srgbClr val="A4A3A4"/>
          </p15:clr>
        </p15:guide>
        <p15:guide id="2" pos="2139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C7853C-536D-4A76-A0AE-DD22124D55A5}" styleName="테마 스타일 1 - 강조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TxStyle/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TxStyle/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TxStyle/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TxStyle/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465" autoAdjust="0"/>
    <p:restoredTop sz="94556" autoAdjust="0"/>
  </p:normalViewPr>
  <p:slideViewPr>
    <p:cSldViewPr snapToObjects="1">
      <p:cViewPr varScale="1">
        <p:scale>
          <a:sx n="93" d="100"/>
          <a:sy n="93" d="100"/>
        </p:scale>
        <p:origin x="946" y="67"/>
      </p:cViewPr>
      <p:guideLst>
        <p:guide orient="horz" pos="2159"/>
        <p:guide pos="3119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75" d="100"/>
        <a:sy n="75" d="100"/>
      </p:scale>
      <p:origin x="0" y="10098"/>
    </p:cViewPr>
  </p:sorterViewPr>
  <p:notesViewPr>
    <p:cSldViewPr snapToObjects="1">
      <p:cViewPr varScale="1">
        <p:scale>
          <a:sx n="68" d="100"/>
          <a:sy n="68" d="100"/>
        </p:scale>
        <p:origin x="-2874" y="-102"/>
      </p:cViewPr>
      <p:guideLst>
        <p:guide orient="horz" pos="3125"/>
        <p:guide pos="2139"/>
      </p:guideLst>
    </p:cSldViewPr>
  </p:notesViewPr>
  <p:gridSpacing cx="36004" cy="36004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handoutMaster" Target="handoutMasters/handoutMaster1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tableStyles" Target="tableStyle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theme" Target="theme/theme1.xml"/><Relationship Id="rId8" Type="http://schemas.openxmlformats.org/officeDocument/2006/relationships/slide" Target="slides/slide6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presProps" Target="presProps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square" lIns="92217" tIns="46112" rIns="92217" bIns="46112" anchor="t" anchorCtr="0">
            <a:prstTxWarp prst="textNoShape">
              <a:avLst/>
            </a:prstTxWarp>
          </a:bodyPr>
          <a:lstStyle>
            <a:lvl1pPr algn="l" defTabSz="915988"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 smtClean="0">
                <a:latin typeface="Times New Roman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sz="quarter" idx="1"/>
          </p:nvPr>
        </p:nvSpPr>
        <p:spPr>
          <a:xfrm>
            <a:off x="3851275" y="0"/>
            <a:ext cx="2946400" cy="496888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square" lIns="92217" tIns="46112" rIns="92217" bIns="46112" anchor="t" anchorCtr="0">
            <a:prstTxWarp prst="textNoShape">
              <a:avLst/>
            </a:prstTxWarp>
          </a:bodyPr>
          <a:lstStyle>
            <a:lvl1pPr algn="r" defTabSz="915988"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 smtClean="0">
                <a:latin typeface="Times New Roman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076" name="Rectangle 4"/>
          <p:cNvSpPr>
            <a:spLocks noGrp="1" noChangeArrowheads="1"/>
          </p:cNvSpPr>
          <p:nvPr>
            <p:ph type="ftr" sz="quarter" idx="2"/>
          </p:nvPr>
        </p:nvSpPr>
        <p:spPr>
          <a:xfrm>
            <a:off x="0" y="9429750"/>
            <a:ext cx="2946400" cy="496888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square" lIns="92217" tIns="46112" rIns="92217" bIns="46112" anchor="b" anchorCtr="0">
            <a:prstTxWarp prst="textNoShape">
              <a:avLst/>
            </a:prstTxWarp>
          </a:bodyPr>
          <a:lstStyle>
            <a:lvl1pPr algn="l" defTabSz="915988"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 smtClean="0">
                <a:latin typeface="Times New Roman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077" name="Rectangle 5"/>
          <p:cNvSpPr>
            <a:spLocks noGrp="1" noChangeArrowheads="1"/>
          </p:cNvSpPr>
          <p:nvPr>
            <p:ph type="sldNum" sz="quarter" idx="3"/>
          </p:nvPr>
        </p:nvSpPr>
        <p:spPr>
          <a:xfrm>
            <a:off x="3851275" y="9429750"/>
            <a:ext cx="2946400" cy="496888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square" lIns="92217" tIns="46112" rIns="92217" bIns="46112" anchor="b" anchorCtr="0">
            <a:prstTxWarp prst="textNoShape">
              <a:avLst/>
            </a:prstTxWarp>
          </a:bodyPr>
          <a:lstStyle>
            <a:lvl1pPr algn="r" defTabSz="915988"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 smtClean="0">
                <a:latin typeface="Times New Roman"/>
              </a:defRPr>
            </a:lvl1pPr>
          </a:lstStyle>
          <a:p>
            <a:pPr>
              <a:defRPr/>
            </a:pPr>
            <a:fld id="{C121CBEC-F840-47FB-B16F-1609A90E49E4}" type="slidenum">
              <a:rPr lang="ko-KR" altLang="en-US"/>
              <a:pPr>
                <a:defRPr/>
              </a:pPr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Rectangle 2"/>
          <p:cNvSpPr>
            <a:spLocks noGrp="1" noChangeArrowheads="1"/>
          </p:cNvSpPr>
          <p:nvPr>
            <p:ph type="hdr" sz="quarter"/>
          </p:nvPr>
        </p:nvSpPr>
        <p:spPr>
          <a:xfrm>
            <a:off x="0" y="0"/>
            <a:ext cx="2946400" cy="496888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square" lIns="92217" tIns="46112" rIns="92217" bIns="46112" anchor="t" anchorCtr="0">
            <a:prstTxWarp prst="textNoShape">
              <a:avLst/>
            </a:prstTxWarp>
          </a:bodyPr>
          <a:lstStyle>
            <a:lvl1pPr algn="l" defTabSz="915988"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 smtClean="0">
                <a:latin typeface="Times New Roman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2051" name="Rectangle 3"/>
          <p:cNvSpPr>
            <a:spLocks noGrp="1" noChangeArrowheads="1"/>
          </p:cNvSpPr>
          <p:nvPr>
            <p:ph type="dt" idx="1"/>
          </p:nvPr>
        </p:nvSpPr>
        <p:spPr>
          <a:xfrm>
            <a:off x="3851275" y="0"/>
            <a:ext cx="2946400" cy="496888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square" lIns="92217" tIns="46112" rIns="92217" bIns="46112" anchor="t" anchorCtr="0">
            <a:prstTxWarp prst="textNoShape">
              <a:avLst/>
            </a:prstTxWarp>
          </a:bodyPr>
          <a:lstStyle>
            <a:lvl1pPr algn="r" defTabSz="915988"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 smtClean="0">
                <a:latin typeface="Times New Roman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11268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>
          <a:xfrm>
            <a:off x="720725" y="744538"/>
            <a:ext cx="5376863" cy="3722687"/>
          </a:xfrm>
          <a:prstGeom prst="rect">
            <a:avLst/>
          </a:prstGeom>
          <a:noFill/>
          <a:ln w="12700">
            <a:solidFill>
              <a:srgbClr val="000000"/>
            </a:solidFill>
            <a:miter/>
          </a:ln>
        </p:spPr>
      </p:sp>
      <p:sp>
        <p:nvSpPr>
          <p:cNvPr id="2053" name="Rectangle 5"/>
          <p:cNvSpPr>
            <a:spLocks noGrp="1" noChangeArrowheads="1"/>
          </p:cNvSpPr>
          <p:nvPr>
            <p:ph type="body" sz="quarter" idx="3"/>
          </p:nvPr>
        </p:nvSpPr>
        <p:spPr>
          <a:xfrm>
            <a:off x="904875" y="4714875"/>
            <a:ext cx="4987925" cy="4468813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square" lIns="92217" tIns="46112" rIns="92217" bIns="46112" anchor="t" anchorCtr="0">
            <a:prstTxWarp prst="textNoShape">
              <a:avLst/>
            </a:prstTxWarp>
          </a:bodyPr>
          <a:lstStyle/>
          <a:p>
            <a:pPr lvl="0">
              <a:defRPr/>
            </a:pPr>
            <a:r>
              <a:rPr lang="en-US" altLang="ko-KR"/>
              <a:t>Click to edit Master text styles</a:t>
            </a:r>
          </a:p>
          <a:p>
            <a:pPr lvl="1">
              <a:defRPr/>
            </a:pPr>
            <a:r>
              <a:rPr lang="en-US" altLang="ko-KR"/>
              <a:t>Second level</a:t>
            </a:r>
          </a:p>
          <a:p>
            <a:pPr lvl="2">
              <a:defRPr/>
            </a:pPr>
            <a:r>
              <a:rPr lang="en-US" altLang="ko-KR"/>
              <a:t>Third level</a:t>
            </a:r>
          </a:p>
          <a:p>
            <a:pPr lvl="3">
              <a:defRPr/>
            </a:pPr>
            <a:r>
              <a:rPr lang="en-US" altLang="ko-KR"/>
              <a:t>Fourth level</a:t>
            </a:r>
          </a:p>
          <a:p>
            <a:pPr lvl="4">
              <a:defRPr/>
            </a:pPr>
            <a:r>
              <a:rPr lang="en-US" altLang="ko-KR"/>
              <a:t>Fifth level</a:t>
            </a:r>
          </a:p>
        </p:txBody>
      </p:sp>
      <p:sp>
        <p:nvSpPr>
          <p:cNvPr id="2054" name="Rectangle 6"/>
          <p:cNvSpPr>
            <a:spLocks noGrp="1" noChangeArrowheads="1"/>
          </p:cNvSpPr>
          <p:nvPr>
            <p:ph type="ftr" sz="quarter" idx="4"/>
          </p:nvPr>
        </p:nvSpPr>
        <p:spPr>
          <a:xfrm>
            <a:off x="0" y="9429750"/>
            <a:ext cx="2946400" cy="496888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square" lIns="92217" tIns="46112" rIns="92217" bIns="46112" anchor="b" anchorCtr="0">
            <a:prstTxWarp prst="textNoShape">
              <a:avLst/>
            </a:prstTxWarp>
          </a:bodyPr>
          <a:lstStyle>
            <a:lvl1pPr algn="l" defTabSz="915988"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 smtClean="0">
                <a:latin typeface="Times New Roman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2055" name="Rectangle 7"/>
          <p:cNvSpPr>
            <a:spLocks noGrp="1" noChangeArrowheads="1"/>
          </p:cNvSpPr>
          <p:nvPr>
            <p:ph type="sldNum" sz="quarter" idx="5"/>
          </p:nvPr>
        </p:nvSpPr>
        <p:spPr>
          <a:xfrm>
            <a:off x="3851275" y="9429750"/>
            <a:ext cx="2946400" cy="496888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 vert="horz" wrap="square" lIns="92217" tIns="46112" rIns="92217" bIns="46112" anchor="b" anchorCtr="0">
            <a:prstTxWarp prst="textNoShape">
              <a:avLst/>
            </a:prstTxWarp>
          </a:bodyPr>
          <a:lstStyle>
            <a:lvl1pPr algn="r" defTabSz="915988"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 smtClean="0">
                <a:latin typeface="Times New Roman"/>
              </a:defRPr>
            </a:lvl1pPr>
          </a:lstStyle>
          <a:p>
            <a:pPr>
              <a:defRPr/>
            </a:pPr>
            <a:fld id="{4585C176-5A44-4510-BA21-8BE7765042F7}" type="slidenum">
              <a:rPr lang="ko-KR" altLang="en-US"/>
              <a:pPr>
                <a:defRPr/>
              </a:pPr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hf hdr="0" ftr="0" dt="0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/>
        <a:ea typeface="굴림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/>
        <a:ea typeface="굴림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/>
        <a:ea typeface="굴림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/>
        <a:ea typeface="굴림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/>
        <a:ea typeface="굴림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4585C176-5A44-4510-BA21-8BE7765042F7}" type="slidenum">
              <a:rPr lang="ko-KR" altLang="en-US" smtClean="0"/>
              <a:pPr>
                <a:defRPr/>
              </a:pPr>
              <a:t>29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707238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1"/>
          <p:cNvSpPr>
            <a:spLocks noChangeArrowheads="1"/>
          </p:cNvSpPr>
          <p:nvPr/>
        </p:nvSpPr>
        <p:spPr bwMode="auto">
          <a:xfrm>
            <a:off x="0" y="0"/>
            <a:ext cx="9906000" cy="3505200"/>
          </a:xfrm>
          <a:prstGeom prst="rect">
            <a:avLst/>
          </a:prstGeom>
          <a:solidFill>
            <a:srgbClr val="006699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90000" tIns="46800" rIns="90000" bIns="46800" anchor="ctr"/>
          <a:lstStyle/>
          <a:p>
            <a:pPr>
              <a:defRPr/>
            </a:pPr>
            <a:endParaRPr lang="ko-KR" altLang="en-US"/>
          </a:p>
        </p:txBody>
      </p:sp>
    </p:spTree>
  </p:cSld>
  <p:clrMapOvr>
    <a:masterClrMapping/>
  </p:clrMapOvr>
  <p:transition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Page </a:t>
            </a:r>
            <a:fld id="{5B86BCDD-ABA8-4226-A02C-A51F0A9A3C5A}" type="slidenum">
              <a:rPr lang="en-US" altLang="ko-KR"/>
              <a:pPr>
                <a:defRPr/>
              </a:pPr>
              <a:t>‹#›</a:t>
            </a:fld>
            <a:r>
              <a:rPr lang="en-US" altLang="ko-KR"/>
              <a:t> / Total Pages</a:t>
            </a:r>
            <a:endParaRPr lang="ko-KR" altLang="ko-KR"/>
          </a:p>
        </p:txBody>
      </p:sp>
    </p:spTree>
  </p:cSld>
  <p:clrMapOvr>
    <a:masterClrMapping/>
  </p:clrMapOvr>
  <p:transition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82638" y="4406900"/>
            <a:ext cx="84201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82638" y="2906713"/>
            <a:ext cx="84201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Page </a:t>
            </a:r>
            <a:fld id="{49405D00-FD90-4D7E-AFF7-343B92A0E327}" type="slidenum">
              <a:rPr lang="en-US" altLang="ko-KR"/>
              <a:pPr>
                <a:defRPr/>
              </a:pPr>
              <a:t>‹#›</a:t>
            </a:fld>
            <a:r>
              <a:rPr lang="en-US" altLang="ko-KR"/>
              <a:t> / Total Pages</a:t>
            </a:r>
            <a:endParaRPr lang="ko-KR" altLang="ko-KR"/>
          </a:p>
        </p:txBody>
      </p:sp>
    </p:spTree>
  </p:cSld>
  <p:clrMapOvr>
    <a:masterClrMapping/>
  </p:clrMapOvr>
  <p:transition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261938" y="685800"/>
            <a:ext cx="4637087" cy="57943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5051425" y="685800"/>
            <a:ext cx="4638675" cy="57943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Page </a:t>
            </a:r>
            <a:fld id="{AE2039CC-F135-4024-9C74-145FE4B0521B}" type="slidenum">
              <a:rPr lang="en-US" altLang="ko-KR"/>
              <a:pPr>
                <a:defRPr/>
              </a:pPr>
              <a:t>‹#›</a:t>
            </a:fld>
            <a:r>
              <a:rPr lang="en-US" altLang="ko-KR"/>
              <a:t> / Total Pages</a:t>
            </a:r>
            <a:endParaRPr lang="ko-KR" altLang="ko-KR"/>
          </a:p>
        </p:txBody>
      </p:sp>
    </p:spTree>
  </p:cSld>
  <p:clrMapOvr>
    <a:masterClrMapping/>
  </p:clrMapOvr>
  <p:transition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95300" y="1535113"/>
            <a:ext cx="437673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73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5032375" y="1535113"/>
            <a:ext cx="437832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5032375" y="2174875"/>
            <a:ext cx="437832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Rectangle 8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Page </a:t>
            </a:r>
            <a:fld id="{D07F3723-A331-4FFC-B3F9-1D7916814FF3}" type="slidenum">
              <a:rPr lang="en-US" altLang="ko-KR"/>
              <a:pPr>
                <a:defRPr/>
              </a:pPr>
              <a:t>‹#›</a:t>
            </a:fld>
            <a:r>
              <a:rPr lang="en-US" altLang="ko-KR"/>
              <a:t> / Total Pages</a:t>
            </a:r>
            <a:endParaRPr lang="ko-KR" altLang="ko-KR"/>
          </a:p>
        </p:txBody>
      </p:sp>
    </p:spTree>
  </p:cSld>
  <p:clrMapOvr>
    <a:masterClrMapping/>
  </p:clrMapOvr>
  <p:transition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Rectangle 8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3872880" y="6523428"/>
            <a:ext cx="2063750" cy="287566"/>
          </a:xfrm>
          <a:ln/>
        </p:spPr>
        <p:txBody>
          <a:bodyPr/>
          <a:lstStyle>
            <a:lvl1pPr>
              <a:defRPr>
                <a:solidFill>
                  <a:srgbClr val="808080"/>
                </a:solidFill>
                <a:latin typeface="+mn-lt"/>
              </a:defRPr>
            </a:lvl1pPr>
          </a:lstStyle>
          <a:p>
            <a:pPr>
              <a:defRPr/>
            </a:pPr>
            <a:r>
              <a:rPr lang="en-US" altLang="ko-KR" dirty="0"/>
              <a:t>- </a:t>
            </a:r>
            <a:fld id="{C901A90A-51E9-4B3D-970E-5E426F951B65}" type="slidenum">
              <a:rPr lang="en-US" altLang="ko-KR" smtClean="0"/>
              <a:pPr>
                <a:defRPr/>
              </a:pPr>
              <a:t>‹#›</a:t>
            </a:fld>
            <a:r>
              <a:rPr lang="en-US" altLang="ko-KR" dirty="0"/>
              <a:t> -</a:t>
            </a:r>
            <a:endParaRPr lang="ko-KR" altLang="ko-KR" dirty="0"/>
          </a:p>
        </p:txBody>
      </p:sp>
    </p:spTree>
  </p:cSld>
  <p:clrMapOvr>
    <a:masterClrMapping/>
  </p:clrMapOvr>
  <p:transition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8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3872880" y="6523428"/>
            <a:ext cx="2063750" cy="287566"/>
          </a:xfrm>
          <a:ln/>
        </p:spPr>
        <p:txBody>
          <a:bodyPr/>
          <a:lstStyle>
            <a:lvl1pPr>
              <a:defRPr>
                <a:solidFill>
                  <a:srgbClr val="808080"/>
                </a:solidFill>
                <a:latin typeface="+mn-lt"/>
              </a:defRPr>
            </a:lvl1pPr>
          </a:lstStyle>
          <a:p>
            <a:pPr>
              <a:defRPr/>
            </a:pPr>
            <a:r>
              <a:rPr lang="en-US" altLang="ko-KR" dirty="0"/>
              <a:t>- </a:t>
            </a:r>
            <a:fld id="{C901A90A-51E9-4B3D-970E-5E426F951B65}" type="slidenum">
              <a:rPr lang="en-US" altLang="ko-KR" smtClean="0"/>
              <a:pPr>
                <a:defRPr/>
              </a:pPr>
              <a:t>‹#›</a:t>
            </a:fld>
            <a:r>
              <a:rPr lang="en-US" altLang="ko-KR" dirty="0"/>
              <a:t> -</a:t>
            </a:r>
            <a:endParaRPr lang="ko-KR" altLang="ko-KR" dirty="0"/>
          </a:p>
        </p:txBody>
      </p:sp>
    </p:spTree>
  </p:cSld>
  <p:clrMapOvr>
    <a:masterClrMapping/>
  </p:clrMapOvr>
  <p:transition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3050"/>
            <a:ext cx="3259138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73500" y="273050"/>
            <a:ext cx="553720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95300" y="1435100"/>
            <a:ext cx="3259138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Page </a:t>
            </a:r>
            <a:fld id="{BA2DA32A-F3BB-41DF-AC56-86AF8C1BCFEF}" type="slidenum">
              <a:rPr lang="en-US" altLang="ko-KR"/>
              <a:pPr>
                <a:defRPr/>
              </a:pPr>
              <a:t>‹#›</a:t>
            </a:fld>
            <a:r>
              <a:rPr lang="en-US" altLang="ko-KR"/>
              <a:t> / Total Pages</a:t>
            </a:r>
            <a:endParaRPr lang="ko-KR" altLang="ko-KR"/>
          </a:p>
        </p:txBody>
      </p:sp>
    </p:spTree>
  </p:cSld>
  <p:clrMapOvr>
    <a:masterClrMapping/>
  </p:clrMapOvr>
  <p:transition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941513" y="4800600"/>
            <a:ext cx="59436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941513" y="612775"/>
            <a:ext cx="59436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941513" y="5367338"/>
            <a:ext cx="59436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 dirty="0"/>
              <a:t>Page </a:t>
            </a:r>
            <a:fld id="{7902C462-9337-4C59-AF74-2545D7D57676}" type="slidenum">
              <a:rPr lang="en-US" altLang="ko-KR"/>
              <a:pPr>
                <a:defRPr/>
              </a:pPr>
              <a:t>‹#›</a:t>
            </a:fld>
            <a:r>
              <a:rPr lang="en-US" altLang="ko-KR" dirty="0"/>
              <a:t> / Total Pages</a:t>
            </a:r>
            <a:endParaRPr lang="ko-KR" altLang="ko-KR" dirty="0"/>
          </a:p>
        </p:txBody>
      </p:sp>
    </p:spTree>
  </p:cSld>
  <p:clrMapOvr>
    <a:masterClrMapping/>
  </p:clrMapOvr>
  <p:transition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Page </a:t>
            </a:r>
            <a:fld id="{CFBBC4A9-88BB-4C13-8EB2-E6F440D15E7E}" type="slidenum">
              <a:rPr lang="en-US" altLang="ko-KR"/>
              <a:pPr>
                <a:defRPr/>
              </a:pPr>
              <a:t>‹#›</a:t>
            </a:fld>
            <a:r>
              <a:rPr lang="en-US" altLang="ko-KR"/>
              <a:t> / Total Pages</a:t>
            </a:r>
            <a:endParaRPr lang="ko-KR" altLang="ko-KR"/>
          </a:p>
        </p:txBody>
      </p:sp>
    </p:spTree>
  </p:cSld>
  <p:clrMapOvr>
    <a:masterClrMapping/>
  </p:clrMapOvr>
  <p:transition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7334250" y="171450"/>
            <a:ext cx="2355850" cy="109378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261938" y="171450"/>
            <a:ext cx="6919912" cy="109378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4088904" y="6309320"/>
            <a:ext cx="2063750" cy="457200"/>
          </a:xfr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Page </a:t>
            </a:r>
            <a:fld id="{0FFB40B7-F975-44E4-973C-A72FED32264E}" type="slidenum">
              <a:rPr lang="en-US" altLang="ko-KR"/>
              <a:pPr>
                <a:defRPr/>
              </a:pPr>
              <a:t>‹#›</a:t>
            </a:fld>
            <a:r>
              <a:rPr lang="en-US" altLang="ko-KR"/>
              <a:t> / Total Pages</a:t>
            </a:r>
            <a:endParaRPr lang="ko-KR" altLang="ko-KR"/>
          </a:p>
        </p:txBody>
      </p:sp>
    </p:spTree>
  </p:cSld>
  <p:clrMapOvr>
    <a:masterClrMapping/>
  </p:clrMapOvr>
  <p:transition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제목 슬라이드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51"/>
          <p:cNvSpPr>
            <a:spLocks noChangeArrowheads="1"/>
          </p:cNvSpPr>
          <p:nvPr/>
        </p:nvSpPr>
        <p:spPr>
          <a:xfrm>
            <a:off x="0" y="0"/>
            <a:ext cx="9906000" cy="3505200"/>
          </a:xfrm>
          <a:prstGeom prst="rect">
            <a:avLst/>
          </a:prstGeom>
          <a:solidFill>
            <a:srgbClr val="006699"/>
          </a:solidFill>
          <a:ln w="9525">
            <a:noFill/>
            <a:miter/>
          </a:ln>
          <a:effectLst/>
        </p:spPr>
        <p:txBody>
          <a:bodyPr wrap="none" lIns="89999" tIns="46800" rIns="89999" bIns="46800" anchor="ctr"/>
          <a:lstStyle/>
          <a:p>
            <a:pPr>
              <a:defRPr/>
            </a:pPr>
            <a:endParaRPr lang="ko-KR" altLang="en-US"/>
          </a:p>
        </p:txBody>
      </p:sp>
    </p:spTree>
  </p:cSld>
  <p:clrMapOvr>
    <a:masterClrMapping/>
  </p:clrMapOvr>
  <p:transition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내용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Page </a:t>
            </a:r>
            <a:fld id="{5B86BCDD-ABA8-4226-A02C-A51F0A9A3C5A}" type="slidenum">
              <a:rPr lang="en-US" altLang="ko-KR"/>
              <a:pPr>
                <a:defRPr/>
              </a:pPr>
              <a:t>‹#›</a:t>
            </a:fld>
            <a:r>
              <a:rPr lang="en-US" altLang="ko-KR"/>
              <a:t> / Total Pages</a:t>
            </a:r>
            <a:endParaRPr lang="ko-KR" altLang="ko-KR"/>
          </a:p>
        </p:txBody>
      </p:sp>
    </p:spTree>
  </p:cSld>
  <p:clrMapOvr>
    <a:masterClrMapping/>
  </p:clrMapOvr>
  <p:transition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구역 머리글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82638" y="4406900"/>
            <a:ext cx="84201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82638" y="2906713"/>
            <a:ext cx="84201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>
              <a:defRPr/>
            </a:pPr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Page </a:t>
            </a:r>
            <a:fld id="{49405D00-FD90-4D7E-AFF7-343B92A0E327}" type="slidenum">
              <a:rPr lang="en-US" altLang="ko-KR"/>
              <a:pPr>
                <a:defRPr/>
              </a:pPr>
              <a:t>‹#›</a:t>
            </a:fld>
            <a:r>
              <a:rPr lang="en-US" altLang="ko-KR"/>
              <a:t> / Total Pages</a:t>
            </a:r>
            <a:endParaRPr lang="ko-KR" altLang="ko-KR"/>
          </a:p>
        </p:txBody>
      </p:sp>
    </p:spTree>
  </p:cSld>
  <p:clrMapOvr>
    <a:masterClrMapping/>
  </p:clrMapOvr>
  <p:transition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콘텐츠 2개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261938" y="685800"/>
            <a:ext cx="4637087" cy="57943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ko-KR" altLang="en-US"/>
              <a:t>마스터 텍스트 스타일을 편집합니다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5051425" y="685800"/>
            <a:ext cx="4638675" cy="57943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 lang="ko-KR" altLang="en-US"/>
              <a:t>마스터 텍스트 스타일을 편집합니다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Page </a:t>
            </a:r>
            <a:fld id="{AE2039CC-F135-4024-9C74-145FE4B0521B}" type="slidenum">
              <a:rPr lang="en-US" altLang="ko-KR"/>
              <a:pPr>
                <a:defRPr/>
              </a:pPr>
              <a:t>‹#›</a:t>
            </a:fld>
            <a:r>
              <a:rPr lang="en-US" altLang="ko-KR"/>
              <a:t> / Total Pages</a:t>
            </a:r>
            <a:endParaRPr lang="ko-KR" altLang="ko-KR"/>
          </a:p>
        </p:txBody>
      </p:sp>
    </p:spTree>
  </p:cSld>
  <p:clrMapOvr>
    <a:masterClrMapping/>
  </p:clrMapOvr>
  <p:transition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비교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</p:spPr>
        <p:txBody>
          <a:bodyPr/>
          <a:lstStyle>
            <a:lvl1pPr>
              <a:defRPr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95300" y="1535113"/>
            <a:ext cx="437673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73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ko-KR" altLang="en-US"/>
              <a:t>마스터 텍스트 스타일을 편집합니다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5032375" y="1535113"/>
            <a:ext cx="437832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5032375" y="2174875"/>
            <a:ext cx="437832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 lang="ko-KR" altLang="en-US"/>
              <a:t>마스터 텍스트 스타일을 편집합니다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7" name="Rectangle 8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Page </a:t>
            </a:r>
            <a:fld id="{D07F3723-A331-4FFC-B3F9-1D7916814FF3}" type="slidenum">
              <a:rPr lang="en-US" altLang="ko-KR"/>
              <a:pPr>
                <a:defRPr/>
              </a:pPr>
              <a:t>‹#›</a:t>
            </a:fld>
            <a:r>
              <a:rPr lang="en-US" altLang="ko-KR"/>
              <a:t> / Total Pages</a:t>
            </a:r>
            <a:endParaRPr lang="ko-KR" altLang="ko-KR"/>
          </a:p>
        </p:txBody>
      </p:sp>
    </p:spTree>
  </p:cSld>
  <p:clrMapOvr>
    <a:masterClrMapping/>
  </p:clrMapOvr>
  <p:transition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만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Rectangle 8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3872880" y="6523428"/>
            <a:ext cx="2063750" cy="287566"/>
          </a:xfrm>
          <a:ln/>
        </p:spPr>
        <p:txBody>
          <a:bodyPr/>
          <a:lstStyle>
            <a:lvl1pPr>
              <a:defRPr>
                <a:solidFill>
                  <a:srgbClr val="808080"/>
                </a:solidFill>
                <a:latin typeface="+mn-lt"/>
              </a:defRPr>
            </a:lvl1pPr>
          </a:lstStyle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‹#›</a:t>
            </a:fld>
            <a:r>
              <a:rPr lang="en-US" altLang="ko-KR"/>
              <a:t> -</a:t>
            </a:r>
            <a:endParaRPr lang="ko-KR" altLang="ko-KR"/>
          </a:p>
        </p:txBody>
      </p:sp>
    </p:spTree>
  </p:cSld>
  <p:clrMapOvr>
    <a:masterClrMapping/>
  </p:clrMapOvr>
  <p:transition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빈 화면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8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3872880" y="6523428"/>
            <a:ext cx="2063750" cy="287566"/>
          </a:xfrm>
          <a:ln/>
        </p:spPr>
        <p:txBody>
          <a:bodyPr/>
          <a:lstStyle>
            <a:lvl1pPr>
              <a:defRPr>
                <a:solidFill>
                  <a:srgbClr val="808080"/>
                </a:solidFill>
                <a:latin typeface="+mn-lt"/>
              </a:defRPr>
            </a:lvl1pPr>
          </a:lstStyle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‹#›</a:t>
            </a:fld>
            <a:r>
              <a:rPr lang="en-US" altLang="ko-KR"/>
              <a:t> -</a:t>
            </a:r>
            <a:endParaRPr lang="ko-KR" altLang="ko-KR"/>
          </a:p>
        </p:txBody>
      </p:sp>
    </p:spTree>
  </p:cSld>
  <p:clrMapOvr>
    <a:masterClrMapping/>
  </p:clrMapOvr>
  <p:transition/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콘텐츠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3050"/>
            <a:ext cx="3259138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73500" y="273050"/>
            <a:ext cx="553720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ko-KR" altLang="en-US"/>
              <a:t>마스터 텍스트 스타일을 편집합니다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95300" y="1435100"/>
            <a:ext cx="3259138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Page </a:t>
            </a:r>
            <a:fld id="{BA2DA32A-F3BB-41DF-AC56-86AF8C1BCFEF}" type="slidenum">
              <a:rPr lang="en-US" altLang="ko-KR"/>
              <a:pPr>
                <a:defRPr/>
              </a:pPr>
              <a:t>‹#›</a:t>
            </a:fld>
            <a:r>
              <a:rPr lang="en-US" altLang="ko-KR"/>
              <a:t> / Total Pages</a:t>
            </a:r>
            <a:endParaRPr lang="ko-KR" altLang="ko-KR"/>
          </a:p>
        </p:txBody>
      </p:sp>
    </p:spTree>
  </p:cSld>
  <p:clrMapOvr>
    <a:masterClrMapping/>
  </p:clrMapOvr>
  <p:transition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캡션 있는 그림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941513" y="4800600"/>
            <a:ext cx="59436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941513" y="612775"/>
            <a:ext cx="59436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>
              <a:defRPr/>
            </a:pP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941513" y="5367338"/>
            <a:ext cx="59436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Rectangle 8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Page </a:t>
            </a:r>
            <a:fld id="{7902C462-9337-4C59-AF74-2545D7D57676}" type="slidenum">
              <a:rPr lang="en-US" altLang="ko-KR"/>
              <a:pPr>
                <a:defRPr/>
              </a:pPr>
              <a:t>‹#›</a:t>
            </a:fld>
            <a:r>
              <a:rPr lang="en-US" altLang="ko-KR"/>
              <a:t> / Total Pages</a:t>
            </a:r>
            <a:endParaRPr lang="ko-KR" altLang="ko-KR"/>
          </a:p>
        </p:txBody>
      </p:sp>
    </p:spTree>
  </p:cSld>
  <p:clrMapOvr>
    <a:masterClrMapping/>
  </p:clrMapOvr>
  <p:transition/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제목 및 세로 텍스트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sldNum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Page </a:t>
            </a:r>
            <a:fld id="{CFBBC4A9-88BB-4C13-8EB2-E6F440D15E7E}" type="slidenum">
              <a:rPr lang="en-US" altLang="ko-KR"/>
              <a:pPr>
                <a:defRPr/>
              </a:pPr>
              <a:t>‹#›</a:t>
            </a:fld>
            <a:r>
              <a:rPr lang="en-US" altLang="ko-KR"/>
              <a:t> / Total Pages</a:t>
            </a:r>
            <a:endParaRPr lang="ko-KR" altLang="ko-KR"/>
          </a:p>
        </p:txBody>
      </p:sp>
    </p:spTree>
  </p:cSld>
  <p:clrMapOvr>
    <a:masterClrMapping/>
  </p:clrMapOvr>
  <p:transition/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세로 제목 및 텍스트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7334250" y="171450"/>
            <a:ext cx="2355850" cy="1093788"/>
          </a:xfrm>
        </p:spPr>
        <p:txBody>
          <a:bodyPr vert="eaVert"/>
          <a:lstStyle/>
          <a:p>
            <a:pPr lvl="0">
              <a:defRPr/>
            </a:pPr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261938" y="171450"/>
            <a:ext cx="6919912" cy="1093788"/>
          </a:xfrm>
        </p:spPr>
        <p:txBody>
          <a:bodyPr vert="eaVert"/>
          <a:lstStyle/>
          <a:p>
            <a:pPr lvl="0">
              <a:defRPr/>
            </a:pPr>
            <a:r>
              <a:rPr lang="ko-KR" altLang="en-US"/>
              <a:t>마스터 텍스트 스타일을 편집합니다</a:t>
            </a:r>
          </a:p>
          <a:p>
            <a:pPr lvl="1">
              <a:defRPr/>
            </a:pPr>
            <a:r>
              <a:rPr lang="ko-KR" altLang="en-US"/>
              <a:t>둘째 수준</a:t>
            </a:r>
          </a:p>
          <a:p>
            <a:pPr lvl="2">
              <a:defRPr/>
            </a:pPr>
            <a:r>
              <a:rPr lang="ko-KR" altLang="en-US"/>
              <a:t>셋째 수준</a:t>
            </a:r>
          </a:p>
          <a:p>
            <a:pPr lvl="3">
              <a:defRPr/>
            </a:pPr>
            <a:r>
              <a:rPr lang="ko-KR" altLang="en-US"/>
              <a:t>넷째 수준</a:t>
            </a:r>
          </a:p>
          <a:p>
            <a:pPr lvl="4">
              <a:defRPr/>
            </a:pPr>
            <a:r>
              <a:rPr lang="ko-KR" altLang="en-US"/>
              <a:t>다섯째 수준</a:t>
            </a:r>
          </a:p>
        </p:txBody>
      </p:sp>
      <p:sp>
        <p:nvSpPr>
          <p:cNvPr id="4" name="Rectangle 8"/>
          <p:cNvSpPr>
            <a:spLocks noGrp="1" noChangeArrowheads="1"/>
          </p:cNvSpPr>
          <p:nvPr>
            <p:ph type="sldNum" sz="quarter" idx="10"/>
          </p:nvPr>
        </p:nvSpPr>
        <p:spPr>
          <a:xfrm>
            <a:off x="4088904" y="6309320"/>
            <a:ext cx="2063750" cy="457200"/>
          </a:xfrm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ko-KR"/>
              <a:t>Page </a:t>
            </a:r>
            <a:fld id="{0FFB40B7-F975-44E4-973C-A72FED32264E}" type="slidenum">
              <a:rPr lang="en-US" altLang="ko-KR"/>
              <a:pPr>
                <a:defRPr/>
              </a:pPr>
              <a:t>‹#›</a:t>
            </a:fld>
            <a:r>
              <a:rPr lang="en-US" altLang="ko-KR"/>
              <a:t> / Total Pages</a:t>
            </a:r>
            <a:endParaRPr lang="ko-KR" altLang="ko-KR"/>
          </a:p>
        </p:txBody>
      </p:sp>
    </p:spTree>
  </p:cSld>
  <p:clrMapOvr>
    <a:masterClrMapping/>
  </p:clrMapOvr>
  <p:transition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67" name="Rectangle 71"/>
          <p:cNvSpPr>
            <a:spLocks noChangeArrowheads="1"/>
          </p:cNvSpPr>
          <p:nvPr/>
        </p:nvSpPr>
        <p:spPr bwMode="auto">
          <a:xfrm>
            <a:off x="0" y="0"/>
            <a:ext cx="9906000" cy="609600"/>
          </a:xfrm>
          <a:prstGeom prst="rect">
            <a:avLst/>
          </a:prstGeom>
          <a:solidFill>
            <a:srgbClr val="006699"/>
          </a:solidFill>
          <a:ln w="9525">
            <a:noFill/>
            <a:miter lim="800000"/>
            <a:headEnd/>
            <a:tailEnd/>
          </a:ln>
          <a:effectLst/>
        </p:spPr>
        <p:txBody>
          <a:bodyPr wrap="none" lIns="90000" tIns="46800" rIns="90000" bIns="46800" anchor="ctr"/>
          <a:lstStyle/>
          <a:p>
            <a:pPr>
              <a:defRPr/>
            </a:pPr>
            <a:endParaRPr lang="ko-KR" altLang="en-US"/>
          </a:p>
        </p:txBody>
      </p:sp>
      <p:sp>
        <p:nvSpPr>
          <p:cNvPr id="29704" name="Rectangle 8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3921125" y="6249988"/>
            <a:ext cx="2063750" cy="457200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 smtClean="0">
                <a:latin typeface="+mn-ea"/>
              </a:defRPr>
            </a:lvl1pPr>
          </a:lstStyle>
          <a:p>
            <a:pPr>
              <a:defRPr/>
            </a:pPr>
            <a:r>
              <a:rPr lang="en-US" altLang="ko-KR"/>
              <a:t>Page </a:t>
            </a:r>
            <a:fld id="{61EB4193-1A60-460E-9584-6872C09CD98C}" type="slidenum">
              <a:rPr lang="en-US" altLang="ko-KR"/>
              <a:pPr>
                <a:defRPr/>
              </a:pPr>
              <a:t>‹#›</a:t>
            </a:fld>
            <a:r>
              <a:rPr lang="en-US" altLang="ko-KR"/>
              <a:t> / Total Pages</a:t>
            </a:r>
            <a:endParaRPr lang="ko-KR" altLang="ko-KR"/>
          </a:p>
        </p:txBody>
      </p:sp>
      <p:sp>
        <p:nvSpPr>
          <p:cNvPr id="29719" name="Rectangle 23"/>
          <p:cNvSpPr>
            <a:spLocks noChangeArrowheads="1"/>
          </p:cNvSpPr>
          <p:nvPr/>
        </p:nvSpPr>
        <p:spPr bwMode="auto">
          <a:xfrm>
            <a:off x="633413" y="1843088"/>
            <a:ext cx="8747125" cy="4316412"/>
          </a:xfrm>
          <a:prstGeom prst="rect">
            <a:avLst/>
          </a:prstGeom>
          <a:noFill/>
          <a:ln w="12700">
            <a:noFill/>
            <a:miter lim="800000"/>
            <a:headEnd/>
            <a:tailEnd/>
          </a:ln>
          <a:effectLst/>
        </p:spPr>
        <p:txBody>
          <a:bodyPr lIns="90488" tIns="44450" rIns="90488" bIns="44450"/>
          <a:lstStyle/>
          <a:p>
            <a:pPr algn="l"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endParaRPr lang="ko-KR" altLang="ko-KR" sz="1600" b="1"/>
          </a:p>
        </p:txBody>
      </p:sp>
      <p:sp>
        <p:nvSpPr>
          <p:cNvPr id="1029" name="Rectangle 64"/>
          <p:cNvSpPr>
            <a:spLocks noGrp="1" noChangeArrowheads="1"/>
          </p:cNvSpPr>
          <p:nvPr>
            <p:ph type="body" idx="1"/>
          </p:nvPr>
        </p:nvSpPr>
        <p:spPr bwMode="auto">
          <a:xfrm>
            <a:off x="261938" y="685800"/>
            <a:ext cx="9428162" cy="5794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문자열 유형을 편집하려면 누르십시오.</a:t>
            </a:r>
          </a:p>
        </p:txBody>
      </p:sp>
      <p:sp>
        <p:nvSpPr>
          <p:cNvPr id="29761" name="Text Box 65"/>
          <p:cNvSpPr txBox="1">
            <a:spLocks noChangeArrowheads="1"/>
          </p:cNvSpPr>
          <p:nvPr/>
        </p:nvSpPr>
        <p:spPr bwMode="auto">
          <a:xfrm>
            <a:off x="279400" y="698500"/>
            <a:ext cx="9410700" cy="5683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algn="l"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endParaRPr lang="ko-KR" altLang="ko-KR" sz="1600" b="1"/>
          </a:p>
        </p:txBody>
      </p:sp>
      <p:sp>
        <p:nvSpPr>
          <p:cNvPr id="1031" name="Rectangle 70"/>
          <p:cNvSpPr>
            <a:spLocks noGrp="1" noChangeArrowheads="1"/>
          </p:cNvSpPr>
          <p:nvPr>
            <p:ph type="title"/>
          </p:nvPr>
        </p:nvSpPr>
        <p:spPr bwMode="auto"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ransition/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b="1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b="1">
          <a:solidFill>
            <a:schemeClr val="bg1"/>
          </a:solidFill>
          <a:latin typeface="Arial" charset="0"/>
          <a:ea typeface="굴림" pitchFamily="50" charset="-127"/>
        </a:defRPr>
      </a:lvl2pPr>
      <a:lvl3pPr algn="l" rtl="0" eaLnBrk="0" fontAlgn="base" hangingPunct="0">
        <a:spcBef>
          <a:spcPct val="0"/>
        </a:spcBef>
        <a:spcAft>
          <a:spcPct val="0"/>
        </a:spcAft>
        <a:defRPr b="1">
          <a:solidFill>
            <a:schemeClr val="bg1"/>
          </a:solidFill>
          <a:latin typeface="Arial" charset="0"/>
          <a:ea typeface="굴림" pitchFamily="50" charset="-127"/>
        </a:defRPr>
      </a:lvl3pPr>
      <a:lvl4pPr algn="l" rtl="0" eaLnBrk="0" fontAlgn="base" hangingPunct="0">
        <a:spcBef>
          <a:spcPct val="0"/>
        </a:spcBef>
        <a:spcAft>
          <a:spcPct val="0"/>
        </a:spcAft>
        <a:defRPr b="1">
          <a:solidFill>
            <a:schemeClr val="bg1"/>
          </a:solidFill>
          <a:latin typeface="Arial" charset="0"/>
          <a:ea typeface="굴림" pitchFamily="50" charset="-127"/>
        </a:defRPr>
      </a:lvl4pPr>
      <a:lvl5pPr algn="l" rtl="0" eaLnBrk="0" fontAlgn="base" hangingPunct="0">
        <a:spcBef>
          <a:spcPct val="0"/>
        </a:spcBef>
        <a:spcAft>
          <a:spcPct val="0"/>
        </a:spcAft>
        <a:defRPr b="1">
          <a:solidFill>
            <a:schemeClr val="bg1"/>
          </a:solidFill>
          <a:latin typeface="Arial" charset="0"/>
          <a:ea typeface="굴림" pitchFamily="50" charset="-127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b="1">
          <a:solidFill>
            <a:schemeClr val="bg1"/>
          </a:solidFill>
          <a:latin typeface="Arial" charset="0"/>
          <a:ea typeface="굴림" pitchFamily="50" charset="-127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b="1">
          <a:solidFill>
            <a:schemeClr val="bg1"/>
          </a:solidFill>
          <a:latin typeface="Arial" charset="0"/>
          <a:ea typeface="굴림" pitchFamily="50" charset="-127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b="1">
          <a:solidFill>
            <a:schemeClr val="bg1"/>
          </a:solidFill>
          <a:latin typeface="Arial" charset="0"/>
          <a:ea typeface="굴림" pitchFamily="50" charset="-127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b="1">
          <a:solidFill>
            <a:schemeClr val="bg1"/>
          </a:solidFill>
          <a:latin typeface="Arial" charset="0"/>
          <a:ea typeface="굴림" pitchFamily="50" charset="-127"/>
        </a:defRPr>
      </a:lvl9pPr>
    </p:titleStyle>
    <p:bodyStyle>
      <a:lvl1pPr algn="l" rtl="0" eaLnBrk="0" fontAlgn="base" hangingPunct="0">
        <a:spcBef>
          <a:spcPct val="0"/>
        </a:spcBef>
        <a:spcAft>
          <a:spcPct val="0"/>
        </a:spcAft>
        <a:defRPr sz="1600" b="1">
          <a:solidFill>
            <a:schemeClr val="tx1"/>
          </a:solidFill>
          <a:latin typeface="+mn-lt"/>
          <a:ea typeface="+mn-ea"/>
          <a:cs typeface="+mn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1600" b="1">
          <a:solidFill>
            <a:schemeClr val="tx1"/>
          </a:solidFill>
          <a:latin typeface="+mn-lt"/>
          <a:ea typeface="+mn-ea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1600" b="1">
          <a:solidFill>
            <a:schemeClr val="tx1"/>
          </a:solidFill>
          <a:latin typeface="+mn-lt"/>
          <a:ea typeface="+mn-ea"/>
        </a:defRPr>
      </a:lvl3pPr>
      <a:lvl4pPr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Wingdings" pitchFamily="2" charset="2"/>
        <a:buChar char="q"/>
        <a:defRPr sz="1400">
          <a:solidFill>
            <a:schemeClr val="tx1"/>
          </a:solidFill>
          <a:latin typeface="+mn-lt"/>
          <a:ea typeface="+mn-ea"/>
        </a:defRPr>
      </a:lvl4pPr>
      <a:lvl5pPr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Wingdings" pitchFamily="2" charset="2"/>
        <a:buChar char="q"/>
        <a:defRPr sz="1400">
          <a:solidFill>
            <a:schemeClr val="tx1"/>
          </a:solidFill>
          <a:latin typeface="+mn-lt"/>
          <a:ea typeface="+mn-ea"/>
        </a:defRPr>
      </a:lvl5pPr>
      <a:lvl6pPr marL="4572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Wingdings" pitchFamily="2" charset="2"/>
        <a:buChar char="q"/>
        <a:defRPr sz="1400">
          <a:solidFill>
            <a:schemeClr val="tx1"/>
          </a:solidFill>
          <a:latin typeface="+mn-lt"/>
          <a:ea typeface="+mn-ea"/>
        </a:defRPr>
      </a:lvl6pPr>
      <a:lvl7pPr marL="9144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Wingdings" pitchFamily="2" charset="2"/>
        <a:buChar char="q"/>
        <a:defRPr sz="1400">
          <a:solidFill>
            <a:schemeClr val="tx1"/>
          </a:solidFill>
          <a:latin typeface="+mn-lt"/>
          <a:ea typeface="+mn-ea"/>
        </a:defRPr>
      </a:lvl7pPr>
      <a:lvl8pPr marL="13716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Wingdings" pitchFamily="2" charset="2"/>
        <a:buChar char="q"/>
        <a:defRPr sz="1400">
          <a:solidFill>
            <a:schemeClr val="tx1"/>
          </a:solidFill>
          <a:latin typeface="+mn-lt"/>
          <a:ea typeface="+mn-ea"/>
        </a:defRPr>
      </a:lvl8pPr>
      <a:lvl9pPr marL="18288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Wingdings" pitchFamily="2" charset="2"/>
        <a:buChar char="q"/>
        <a:defRPr sz="14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 name="1_AC Photograph - Innovator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67" name="Rectangle 71"/>
          <p:cNvSpPr>
            <a:spLocks noChangeArrowheads="1"/>
          </p:cNvSpPr>
          <p:nvPr/>
        </p:nvSpPr>
        <p:spPr>
          <a:xfrm>
            <a:off x="0" y="0"/>
            <a:ext cx="9906000" cy="609600"/>
          </a:xfrm>
          <a:prstGeom prst="rect">
            <a:avLst/>
          </a:prstGeom>
          <a:solidFill>
            <a:srgbClr val="006699"/>
          </a:solidFill>
          <a:ln w="9525">
            <a:noFill/>
            <a:miter/>
          </a:ln>
          <a:effectLst/>
        </p:spPr>
        <p:txBody>
          <a:bodyPr wrap="none" lIns="89999" tIns="46800" rIns="89999" bIns="46800" anchor="ctr"/>
          <a:lstStyle/>
          <a:p>
            <a:pPr>
              <a:defRPr/>
            </a:pPr>
            <a:endParaRPr lang="ko-KR" altLang="en-US"/>
          </a:p>
        </p:txBody>
      </p:sp>
      <p:sp>
        <p:nvSpPr>
          <p:cNvPr id="29704" name="Rectangle 8"/>
          <p:cNvSpPr>
            <a:spLocks noGrp="1" noChangeArrowheads="1"/>
          </p:cNvSpPr>
          <p:nvPr>
            <p:ph type="sldNum" sz="quarter" idx="4"/>
          </p:nvPr>
        </p:nvSpPr>
        <p:spPr>
          <a:xfrm>
            <a:off x="3921125" y="6249988"/>
            <a:ext cx="2063750" cy="457200"/>
          </a:xfrm>
          <a:prstGeom prst="rect">
            <a:avLst/>
          </a:prstGeom>
          <a:noFill/>
          <a:ln w="12700">
            <a:noFill/>
            <a:miter/>
          </a:ln>
          <a:effectLst/>
        </p:spPr>
        <p:txBody>
          <a:bodyPr vert="horz" wrap="square" lIns="91440" tIns="45720" rIns="91440" bIns="45720" anchor="b" anchorCtr="0">
            <a:prstTxWarp prst="textNoShape">
              <a:avLst/>
            </a:prstTxWarp>
          </a:bodyPr>
          <a:lstStyle>
            <a:lvl1pPr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 smtClean="0">
                <a:latin typeface="+mn-ea"/>
              </a:defRPr>
            </a:lvl1pPr>
          </a:lstStyle>
          <a:p>
            <a:pPr>
              <a:defRPr/>
            </a:pPr>
            <a:r>
              <a:rPr lang="en-US" altLang="ko-KR"/>
              <a:t>Page </a:t>
            </a:r>
            <a:fld id="{61EB4193-1A60-460E-9584-6872C09CD98C}" type="slidenum">
              <a:rPr lang="en-US" altLang="ko-KR"/>
              <a:pPr>
                <a:defRPr/>
              </a:pPr>
              <a:t>‹#›</a:t>
            </a:fld>
            <a:r>
              <a:rPr lang="en-US" altLang="ko-KR"/>
              <a:t> / Total Pages</a:t>
            </a:r>
            <a:endParaRPr lang="ko-KR" altLang="ko-KR"/>
          </a:p>
        </p:txBody>
      </p:sp>
      <p:sp>
        <p:nvSpPr>
          <p:cNvPr id="29719" name="Rectangle 23"/>
          <p:cNvSpPr>
            <a:spLocks noChangeArrowheads="1"/>
          </p:cNvSpPr>
          <p:nvPr/>
        </p:nvSpPr>
        <p:spPr>
          <a:xfrm>
            <a:off x="633413" y="1843088"/>
            <a:ext cx="8747125" cy="4316412"/>
          </a:xfrm>
          <a:prstGeom prst="rect">
            <a:avLst/>
          </a:prstGeom>
          <a:noFill/>
          <a:ln w="12700">
            <a:noFill/>
            <a:miter/>
          </a:ln>
          <a:effectLst/>
        </p:spPr>
        <p:txBody>
          <a:bodyPr lIns="90488" tIns="44450" rIns="90488" bIns="44450"/>
          <a:lstStyle/>
          <a:p>
            <a:pPr algn="l"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endParaRPr lang="ko-KR" altLang="ko-KR" sz="1600" b="1"/>
          </a:p>
        </p:txBody>
      </p:sp>
      <p:sp>
        <p:nvSpPr>
          <p:cNvPr id="1029" name="Rectangle 64"/>
          <p:cNvSpPr>
            <a:spLocks noGrp="1" noChangeArrowheads="1"/>
          </p:cNvSpPr>
          <p:nvPr>
            <p:ph type="body" idx="1"/>
          </p:nvPr>
        </p:nvSpPr>
        <p:spPr>
          <a:xfrm>
            <a:off x="261938" y="685800"/>
            <a:ext cx="9428162" cy="579438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t" anchorCtr="0">
            <a:prstTxWarp prst="textNoShape">
              <a:avLst/>
            </a:prstTxWarp>
          </a:bodyPr>
          <a:lstStyle/>
          <a:p>
            <a:pPr lvl="0">
              <a:defRPr/>
            </a:pPr>
            <a:r>
              <a:rPr lang="ko-KR" altLang="en-US"/>
              <a:t>마스터 문자열 유형을 편집하려면 누르십시오.</a:t>
            </a:r>
          </a:p>
        </p:txBody>
      </p:sp>
      <p:sp>
        <p:nvSpPr>
          <p:cNvPr id="29761" name="Text Box 65"/>
          <p:cNvSpPr txBox="1">
            <a:spLocks noChangeArrowheads="1"/>
          </p:cNvSpPr>
          <p:nvPr/>
        </p:nvSpPr>
        <p:spPr>
          <a:xfrm>
            <a:off x="279400" y="698500"/>
            <a:ext cx="9410700" cy="568325"/>
          </a:xfrm>
          <a:prstGeom prst="rect">
            <a:avLst/>
          </a:prstGeom>
          <a:noFill/>
          <a:ln w="9525">
            <a:noFill/>
            <a:miter/>
          </a:ln>
          <a:effectLst/>
        </p:spPr>
        <p:txBody>
          <a:bodyPr/>
          <a:lstStyle/>
          <a:p>
            <a:pPr algn="l"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endParaRPr lang="ko-KR" altLang="ko-KR" sz="1600" b="1"/>
          </a:p>
        </p:txBody>
      </p:sp>
      <p:sp>
        <p:nvSpPr>
          <p:cNvPr id="1031" name="Rectangle 70"/>
          <p:cNvSpPr>
            <a:spLocks noGrp="1" noChangeArrowheads="1"/>
          </p:cNvSpPr>
          <p:nvPr>
            <p:ph type="title"/>
          </p:nvPr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lvl="0">
              <a:defRPr/>
            </a:pPr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  <p:sldLayoutId id="2147483697" r:id="rId11"/>
  </p:sldLayoutIdLst>
  <p:transition/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b="1">
          <a:solidFill>
            <a:schemeClr val="bg1"/>
          </a:solidFill>
          <a:latin typeface="+mj-lt"/>
          <a:ea typeface="+mj-ea"/>
          <a:cs typeface="+mj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b="1">
          <a:solidFill>
            <a:schemeClr val="bg1"/>
          </a:solidFill>
          <a:latin typeface="Arial"/>
          <a:ea typeface="굴림"/>
        </a:defRPr>
      </a:lvl2pPr>
      <a:lvl3pPr algn="l" rtl="0" eaLnBrk="0" fontAlgn="base" hangingPunct="0">
        <a:spcBef>
          <a:spcPct val="0"/>
        </a:spcBef>
        <a:spcAft>
          <a:spcPct val="0"/>
        </a:spcAft>
        <a:defRPr b="1">
          <a:solidFill>
            <a:schemeClr val="bg1"/>
          </a:solidFill>
          <a:latin typeface="Arial"/>
          <a:ea typeface="굴림"/>
        </a:defRPr>
      </a:lvl3pPr>
      <a:lvl4pPr algn="l" rtl="0" eaLnBrk="0" fontAlgn="base" hangingPunct="0">
        <a:spcBef>
          <a:spcPct val="0"/>
        </a:spcBef>
        <a:spcAft>
          <a:spcPct val="0"/>
        </a:spcAft>
        <a:defRPr b="1">
          <a:solidFill>
            <a:schemeClr val="bg1"/>
          </a:solidFill>
          <a:latin typeface="Arial"/>
          <a:ea typeface="굴림"/>
        </a:defRPr>
      </a:lvl4pPr>
      <a:lvl5pPr algn="l" rtl="0" eaLnBrk="0" fontAlgn="base" hangingPunct="0">
        <a:spcBef>
          <a:spcPct val="0"/>
        </a:spcBef>
        <a:spcAft>
          <a:spcPct val="0"/>
        </a:spcAft>
        <a:defRPr b="1">
          <a:solidFill>
            <a:schemeClr val="bg1"/>
          </a:solidFill>
          <a:latin typeface="Arial"/>
          <a:ea typeface="굴림"/>
        </a:defRPr>
      </a:lvl5pPr>
      <a:lvl6pPr marL="457200" algn="l" rtl="0" eaLnBrk="0" fontAlgn="base" hangingPunct="0">
        <a:spcBef>
          <a:spcPct val="0"/>
        </a:spcBef>
        <a:spcAft>
          <a:spcPct val="0"/>
        </a:spcAft>
        <a:defRPr b="1">
          <a:solidFill>
            <a:schemeClr val="bg1"/>
          </a:solidFill>
          <a:latin typeface="Arial"/>
          <a:ea typeface="굴림"/>
        </a:defRPr>
      </a:lvl6pPr>
      <a:lvl7pPr marL="914400" algn="l" rtl="0" eaLnBrk="0" fontAlgn="base" hangingPunct="0">
        <a:spcBef>
          <a:spcPct val="0"/>
        </a:spcBef>
        <a:spcAft>
          <a:spcPct val="0"/>
        </a:spcAft>
        <a:defRPr b="1">
          <a:solidFill>
            <a:schemeClr val="bg1"/>
          </a:solidFill>
          <a:latin typeface="Arial"/>
          <a:ea typeface="굴림"/>
        </a:defRPr>
      </a:lvl7pPr>
      <a:lvl8pPr marL="1371600" algn="l" rtl="0" eaLnBrk="0" fontAlgn="base" hangingPunct="0">
        <a:spcBef>
          <a:spcPct val="0"/>
        </a:spcBef>
        <a:spcAft>
          <a:spcPct val="0"/>
        </a:spcAft>
        <a:defRPr b="1">
          <a:solidFill>
            <a:schemeClr val="bg1"/>
          </a:solidFill>
          <a:latin typeface="Arial"/>
          <a:ea typeface="굴림"/>
        </a:defRPr>
      </a:lvl8pPr>
      <a:lvl9pPr marL="1828800" algn="l" rtl="0" eaLnBrk="0" fontAlgn="base" hangingPunct="0">
        <a:spcBef>
          <a:spcPct val="0"/>
        </a:spcBef>
        <a:spcAft>
          <a:spcPct val="0"/>
        </a:spcAft>
        <a:defRPr b="1">
          <a:solidFill>
            <a:schemeClr val="bg1"/>
          </a:solidFill>
          <a:latin typeface="Arial"/>
          <a:ea typeface="굴림"/>
        </a:defRPr>
      </a:lvl9pPr>
    </p:titleStyle>
    <p:bodyStyle>
      <a:lvl1pPr algn="l" rtl="0" eaLnBrk="0" fontAlgn="base" hangingPunct="0">
        <a:spcBef>
          <a:spcPct val="0"/>
        </a:spcBef>
        <a:spcAft>
          <a:spcPct val="0"/>
        </a:spcAft>
        <a:defRPr sz="1600" b="1">
          <a:solidFill>
            <a:schemeClr val="tx1"/>
          </a:solidFill>
          <a:latin typeface="+mn-lt"/>
          <a:ea typeface="+mn-ea"/>
          <a:cs typeface="+mn-cs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1600" b="1">
          <a:solidFill>
            <a:schemeClr val="tx1"/>
          </a:solidFill>
          <a:latin typeface="+mn-lt"/>
          <a:ea typeface="+mn-ea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1600" b="1">
          <a:solidFill>
            <a:schemeClr val="tx1"/>
          </a:solidFill>
          <a:latin typeface="+mn-lt"/>
          <a:ea typeface="+mn-ea"/>
        </a:defRPr>
      </a:lvl3pPr>
      <a:lvl4pPr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Wingdings"/>
        <a:buChar char="q"/>
        <a:defRPr sz="1400">
          <a:solidFill>
            <a:schemeClr val="tx1"/>
          </a:solidFill>
          <a:latin typeface="+mn-lt"/>
          <a:ea typeface="+mn-ea"/>
        </a:defRPr>
      </a:lvl4pPr>
      <a:lvl5pPr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Wingdings"/>
        <a:buChar char="q"/>
        <a:defRPr sz="1400">
          <a:solidFill>
            <a:schemeClr val="tx1"/>
          </a:solidFill>
          <a:latin typeface="+mn-lt"/>
          <a:ea typeface="+mn-ea"/>
        </a:defRPr>
      </a:lvl5pPr>
      <a:lvl6pPr marL="4572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Wingdings"/>
        <a:buChar char="q"/>
        <a:defRPr sz="1400">
          <a:solidFill>
            <a:schemeClr val="tx1"/>
          </a:solidFill>
          <a:latin typeface="+mn-lt"/>
          <a:ea typeface="+mn-ea"/>
        </a:defRPr>
      </a:lvl6pPr>
      <a:lvl7pPr marL="9144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Wingdings"/>
        <a:buChar char="q"/>
        <a:defRPr sz="1400">
          <a:solidFill>
            <a:schemeClr val="tx1"/>
          </a:solidFill>
          <a:latin typeface="+mn-lt"/>
          <a:ea typeface="+mn-ea"/>
        </a:defRPr>
      </a:lvl7pPr>
      <a:lvl8pPr marL="13716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Wingdings"/>
        <a:buChar char="q"/>
        <a:defRPr sz="1400">
          <a:solidFill>
            <a:schemeClr val="tx1"/>
          </a:solidFill>
          <a:latin typeface="+mn-lt"/>
          <a:ea typeface="+mn-ea"/>
        </a:defRPr>
      </a:lvl8pPr>
      <a:lvl9pPr marL="1828800" algn="l" rtl="0" eaLnBrk="0" fontAlgn="base" hangingPunct="0">
        <a:spcBef>
          <a:spcPct val="20000"/>
        </a:spcBef>
        <a:spcAft>
          <a:spcPct val="0"/>
        </a:spcAft>
        <a:buClr>
          <a:schemeClr val="tx1"/>
        </a:buClr>
        <a:buFont typeface="Wingdings"/>
        <a:buChar char="q"/>
        <a:defRPr sz="1400">
          <a:solidFill>
            <a:schemeClr val="tx1"/>
          </a:solidFill>
          <a:latin typeface="+mn-lt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1.png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7" Type="http://schemas.openxmlformats.org/officeDocument/2006/relationships/image" Target="../media/image1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7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18"/>
          <p:cNvSpPr>
            <a:spLocks noChangeArrowheads="1"/>
          </p:cNvSpPr>
          <p:nvPr/>
        </p:nvSpPr>
        <p:spPr bwMode="auto">
          <a:xfrm>
            <a:off x="3658237" y="1816100"/>
            <a:ext cx="5974713" cy="5232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r" eaLnBrk="0" hangingPunct="0"/>
            <a:r>
              <a:rPr lang="ko-KR" altLang="en-US" sz="2800" b="1" dirty="0">
                <a:latin typeface="맑은 고딕" pitchFamily="50" charset="-127"/>
                <a:ea typeface="맑은 고딕" pitchFamily="50" charset="-127"/>
              </a:rPr>
              <a:t>팔도주류 </a:t>
            </a:r>
            <a:r>
              <a:rPr lang="en-US" altLang="ko-KR" sz="2800" b="1" dirty="0">
                <a:latin typeface="맑은 고딕" pitchFamily="50" charset="-127"/>
                <a:ea typeface="맑은 고딕" pitchFamily="50" charset="-127"/>
              </a:rPr>
              <a:t>(</a:t>
            </a:r>
            <a:r>
              <a:rPr lang="ko-KR" altLang="en-US" sz="2800" b="1" dirty="0">
                <a:latin typeface="맑은 고딕" pitchFamily="50" charset="-127"/>
                <a:ea typeface="맑은 고딕" pitchFamily="50" charset="-127"/>
              </a:rPr>
              <a:t>주류 유통 관리</a:t>
            </a:r>
            <a:r>
              <a:rPr lang="en-US" altLang="ko-KR" sz="2800" b="1" dirty="0">
                <a:latin typeface="맑은 고딕" pitchFamily="50" charset="-127"/>
                <a:ea typeface="맑은 고딕" pitchFamily="50" charset="-127"/>
              </a:rPr>
              <a:t>)</a:t>
            </a:r>
            <a:r>
              <a:rPr lang="ko-KR" altLang="en-US" sz="2800" b="1" dirty="0">
                <a:latin typeface="맑은 고딕" pitchFamily="50" charset="-127"/>
                <a:ea typeface="맑은 고딕" pitchFamily="50" charset="-127"/>
              </a:rPr>
              <a:t> 프로젝트</a:t>
            </a:r>
          </a:p>
        </p:txBody>
      </p:sp>
      <p:sp>
        <p:nvSpPr>
          <p:cNvPr id="3076" name="Rectangle 476"/>
          <p:cNvSpPr>
            <a:spLocks noChangeArrowheads="1"/>
          </p:cNvSpPr>
          <p:nvPr/>
        </p:nvSpPr>
        <p:spPr bwMode="auto">
          <a:xfrm>
            <a:off x="6969125" y="3141663"/>
            <a:ext cx="2808288" cy="720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algn="r" latinLnBrk="1">
              <a:lnSpc>
                <a:spcPct val="110000"/>
              </a:lnSpc>
              <a:spcBef>
                <a:spcPct val="10000"/>
              </a:spcBef>
              <a:tabLst>
                <a:tab pos="5588000" algn="r"/>
              </a:tabLst>
            </a:pPr>
            <a:endParaRPr lang="ko-KR" altLang="en-US" sz="1600" b="1" dirty="0">
              <a:latin typeface="맑은 고딕" pitchFamily="50" charset="-127"/>
              <a:ea typeface="맑은 고딕" pitchFamily="50" charset="-127"/>
            </a:endParaRPr>
          </a:p>
        </p:txBody>
      </p:sp>
      <p:sp>
        <p:nvSpPr>
          <p:cNvPr id="3" name="직사각형 2"/>
          <p:cNvSpPr/>
          <p:nvPr/>
        </p:nvSpPr>
        <p:spPr>
          <a:xfrm>
            <a:off x="4693429" y="2394029"/>
            <a:ext cx="4953000" cy="1107996"/>
          </a:xfrm>
          <a:prstGeom prst="rect">
            <a:avLst/>
          </a:prstGeom>
        </p:spPr>
        <p:txBody>
          <a:bodyPr>
            <a:spAutoFit/>
          </a:bodyPr>
          <a:lstStyle/>
          <a:p>
            <a:pPr algn="r" eaLnBrk="1" latinLnBrk="1" hangingPunct="1"/>
            <a:r>
              <a:rPr lang="en-US" altLang="ko-KR" b="1" dirty="0"/>
              <a:t>Version :</a:t>
            </a:r>
            <a:r>
              <a:rPr lang="ko-KR" altLang="en-US" b="1" dirty="0"/>
              <a:t> </a:t>
            </a:r>
            <a:r>
              <a:rPr lang="en-US" altLang="ko-KR" b="1" dirty="0"/>
              <a:t>1.0</a:t>
            </a:r>
          </a:p>
          <a:p>
            <a:pPr algn="r" eaLnBrk="1" latinLnBrk="1" hangingPunct="1"/>
            <a:r>
              <a:rPr lang="ko-KR" altLang="en-US" b="1" dirty="0" err="1"/>
              <a:t>최초작성일</a:t>
            </a:r>
            <a:r>
              <a:rPr lang="ko-KR" altLang="en-US" b="1" dirty="0"/>
              <a:t> </a:t>
            </a:r>
            <a:r>
              <a:rPr lang="en-US" altLang="ko-KR" b="1" dirty="0"/>
              <a:t>:</a:t>
            </a:r>
            <a:r>
              <a:rPr lang="ko-KR" altLang="en-US" b="1" dirty="0"/>
              <a:t> </a:t>
            </a:r>
            <a:r>
              <a:rPr lang="en-US" altLang="ko-KR" b="1" dirty="0"/>
              <a:t>2022</a:t>
            </a:r>
            <a:r>
              <a:rPr lang="ko-KR" altLang="en-US" b="1" dirty="0"/>
              <a:t>년 </a:t>
            </a:r>
            <a:r>
              <a:rPr lang="en-US" altLang="ko-KR" b="1" dirty="0" smtClean="0"/>
              <a:t>07</a:t>
            </a:r>
            <a:r>
              <a:rPr lang="ko-KR" altLang="en-US" b="1" dirty="0" smtClean="0"/>
              <a:t>월 </a:t>
            </a:r>
            <a:r>
              <a:rPr lang="en-US" altLang="ko-KR" b="1" dirty="0" smtClean="0"/>
              <a:t>04</a:t>
            </a:r>
            <a:r>
              <a:rPr lang="ko-KR" altLang="en-US" b="1" dirty="0" smtClean="0"/>
              <a:t>일</a:t>
            </a:r>
            <a:endParaRPr lang="en-US" altLang="ko-KR" b="1" dirty="0" smtClean="0"/>
          </a:p>
          <a:p>
            <a:pPr algn="r" eaLnBrk="1" latinLnBrk="1" hangingPunct="1"/>
            <a:r>
              <a:rPr lang="ko-KR" altLang="en-US" b="1" dirty="0" err="1" smtClean="0"/>
              <a:t>최종수성일</a:t>
            </a:r>
            <a:r>
              <a:rPr lang="ko-KR" altLang="en-US" b="1" dirty="0" smtClean="0"/>
              <a:t> </a:t>
            </a:r>
            <a:r>
              <a:rPr lang="en-US" altLang="ko-KR" b="1" dirty="0"/>
              <a:t>:</a:t>
            </a:r>
            <a:r>
              <a:rPr lang="ko-KR" altLang="en-US" b="1" dirty="0"/>
              <a:t> </a:t>
            </a:r>
            <a:r>
              <a:rPr lang="en-US" altLang="ko-KR" b="1" dirty="0"/>
              <a:t>2022</a:t>
            </a:r>
            <a:r>
              <a:rPr lang="ko-KR" altLang="en-US" b="1" dirty="0"/>
              <a:t>년 </a:t>
            </a:r>
            <a:r>
              <a:rPr lang="en-US" altLang="ko-KR" b="1" dirty="0"/>
              <a:t>07</a:t>
            </a:r>
            <a:r>
              <a:rPr lang="ko-KR" altLang="en-US" b="1" dirty="0"/>
              <a:t>월 </a:t>
            </a:r>
            <a:r>
              <a:rPr lang="en-US" altLang="ko-KR" b="1" dirty="0"/>
              <a:t>04</a:t>
            </a:r>
            <a:r>
              <a:rPr lang="ko-KR" altLang="en-US" b="1" dirty="0"/>
              <a:t>일</a:t>
            </a:r>
            <a:r>
              <a:rPr lang="ko-KR" altLang="en-US" b="1" dirty="0" smtClean="0"/>
              <a:t> </a:t>
            </a:r>
            <a:endParaRPr lang="en-US" altLang="ko-KR" b="1" dirty="0"/>
          </a:p>
          <a:p>
            <a:pPr algn="r" eaLnBrk="1" latinLnBrk="1" hangingPunct="1"/>
            <a:r>
              <a:rPr lang="ko-KR" altLang="en-US" b="1" dirty="0"/>
              <a:t>작성자 </a:t>
            </a:r>
            <a:r>
              <a:rPr lang="en-US" altLang="ko-KR" b="1" dirty="0"/>
              <a:t>:</a:t>
            </a:r>
            <a:r>
              <a:rPr lang="ko-KR" altLang="en-US" b="1" dirty="0"/>
              <a:t>  </a:t>
            </a:r>
            <a:r>
              <a:rPr lang="ko-KR" altLang="en-US" b="1" dirty="0" smtClean="0"/>
              <a:t>최민지</a:t>
            </a:r>
            <a:r>
              <a:rPr lang="en-US" altLang="ko-KR" b="1" dirty="0" smtClean="0"/>
              <a:t>, </a:t>
            </a:r>
            <a:r>
              <a:rPr lang="ko-KR" altLang="en-US" b="1" dirty="0" smtClean="0"/>
              <a:t>김현동</a:t>
            </a:r>
            <a:endParaRPr lang="en-US" altLang="ko-KR" b="1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6358738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xfrm>
            <a:off x="3872880" y="6671742"/>
            <a:ext cx="2063750" cy="213642"/>
          </a:xfrm>
        </p:spPr>
        <p:txBody>
          <a:bodyPr/>
          <a:lstStyle/>
          <a:p>
            <a:pPr>
              <a:defRPr/>
            </a:pPr>
            <a:r>
              <a:rPr lang="en-US" altLang="ko-KR" dirty="0"/>
              <a:t>- </a:t>
            </a:r>
            <a:fld id="{C901A90A-51E9-4B3D-970E-5E426F951B65}" type="slidenum">
              <a:rPr lang="en-US" altLang="ko-KR" smtClean="0"/>
              <a:pPr>
                <a:defRPr/>
              </a:pPr>
              <a:t>1</a:t>
            </a:fld>
            <a:r>
              <a:rPr lang="en-US" altLang="ko-KR" dirty="0"/>
              <a:t> -</a:t>
            </a:r>
            <a:endParaRPr lang="ko-KR" altLang="ko-KR" dirty="0"/>
          </a:p>
        </p:txBody>
      </p:sp>
      <p:sp>
        <p:nvSpPr>
          <p:cNvPr id="3" name="Rectangle 94"/>
          <p:cNvSpPr txBox="1">
            <a:spLocks noChangeArrowheads="1"/>
          </p:cNvSpPr>
          <p:nvPr/>
        </p:nvSpPr>
        <p:spPr bwMode="auto"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 charset="0"/>
                <a:ea typeface="굴림" pitchFamily="50" charset="-127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 charset="0"/>
                <a:ea typeface="굴림" pitchFamily="50" charset="-127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 charset="0"/>
                <a:ea typeface="굴림" pitchFamily="50" charset="-127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 charset="0"/>
                <a:ea typeface="굴림" pitchFamily="50" charset="-127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 charset="0"/>
                <a:ea typeface="굴림" pitchFamily="50" charset="-127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 charset="0"/>
                <a:ea typeface="굴림" pitchFamily="50" charset="-127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 charset="0"/>
                <a:ea typeface="굴림" pitchFamily="50" charset="-127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 charset="0"/>
                <a:ea typeface="굴림" pitchFamily="50" charset="-127"/>
              </a:defRPr>
            </a:lvl9pPr>
          </a:lstStyle>
          <a:p>
            <a:r>
              <a:rPr lang="en-US" altLang="ko-KR" sz="1800" dirty="0"/>
              <a:t>1. UI </a:t>
            </a:r>
            <a:r>
              <a:rPr lang="ko-KR" altLang="en-US" sz="1800" dirty="0"/>
              <a:t> 설계</a:t>
            </a:r>
          </a:p>
        </p:txBody>
      </p:sp>
      <p:sp>
        <p:nvSpPr>
          <p:cNvPr id="4" name="Rectangle 94"/>
          <p:cNvSpPr txBox="1">
            <a:spLocks noChangeArrowheads="1"/>
          </p:cNvSpPr>
          <p:nvPr/>
        </p:nvSpPr>
        <p:spPr bwMode="auto"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1.1</a:t>
            </a:r>
            <a:r>
              <a:rPr kumimoji="0" lang="en-US" altLang="ko-KR" sz="1800" b="1" i="0" u="none" strike="noStrike" kern="0" cap="none" spc="0" normalizeH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ko-KR" altLang="en-US" sz="1800" b="1" i="0" u="none" strike="noStrike" kern="0" cap="none" spc="0" normalizeH="0" baseline="0" noProof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공통 화면</a:t>
            </a:r>
            <a:endParaRPr kumimoji="0" lang="ko-KR" altLang="en-US" sz="1800" b="1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  <p:graphicFrame>
        <p:nvGraphicFramePr>
          <p:cNvPr id="5" name="Group 3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13289065"/>
              </p:ext>
            </p:extLst>
          </p:nvPr>
        </p:nvGraphicFramePr>
        <p:xfrm>
          <a:off x="315913" y="747145"/>
          <a:ext cx="9272587" cy="5876622"/>
        </p:xfrm>
        <a:graphic>
          <a:graphicData uri="http://schemas.openxmlformats.org/drawingml/2006/table">
            <a:tbl>
              <a:tblPr/>
              <a:tblGrid>
                <a:gridCol w="96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718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6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36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752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7772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Level1</a:t>
                      </a: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  <a:cs typeface="+mn-cs"/>
                        </a:rPr>
                        <a:t>주류 유통 관리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 pitchFamily="50" charset="-127"/>
                        <a:ea typeface="맑은 고딕" pitchFamily="50" charset="-127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Level2</a:t>
                      </a: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  <a:cs typeface="+mn-cs"/>
                        </a:rPr>
                        <a:t>공통 화면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 pitchFamily="50" charset="-127"/>
                        <a:ea typeface="맑은 고딕" pitchFamily="50" charset="-127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5151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화면</a:t>
                      </a:r>
                      <a:r>
                        <a:rPr kumimoji="0" lang="en-US" altLang="ko-KR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ID</a:t>
                      </a:r>
                      <a:endParaRPr kumimoji="0" lang="ko-KR" alt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4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Wingdings" pitchFamily="2" charset="2"/>
                        <a:buNone/>
                        <a:tabLst/>
                      </a:pPr>
                      <a:r>
                        <a:rPr kumimoji="1" lang="en-US" altLang="ko-KR" sz="10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UI_PD4_011</a:t>
                      </a:r>
                      <a:endParaRPr kumimoji="1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화면명</a:t>
                      </a: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  <a:cs typeface="+mn-cs"/>
                        </a:rPr>
                        <a:t>메인</a:t>
                      </a:r>
                      <a:r>
                        <a:rPr lang="en-US" altLang="ko-KR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  <a:cs typeface="+mn-cs"/>
                        </a:rPr>
                        <a:t> </a:t>
                      </a: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  <a:cs typeface="+mn-cs"/>
                        </a:rPr>
                        <a:t>페이지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 pitchFamily="50" charset="-127"/>
                        <a:ea typeface="맑은 고딕" pitchFamily="50" charset="-127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4756">
                <a:tc>
                  <a:txBody>
                    <a:bodyPr/>
                    <a:lstStyle/>
                    <a:p>
                      <a:pPr marL="0" marR="0" lvl="0" indent="0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000" b="1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화면개요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사이트의 메인 페이지이다</a:t>
                      </a: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. </a:t>
                      </a:r>
                      <a:r>
                        <a:rPr kumimoji="0" lang="ko-KR" alt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 로고</a:t>
                      </a: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, </a:t>
                      </a:r>
                      <a:r>
                        <a:rPr kumimoji="0" lang="ko-KR" alt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검색 창</a:t>
                      </a: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, </a:t>
                      </a:r>
                      <a:r>
                        <a:rPr kumimoji="0" lang="ko-KR" alt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장바구니</a:t>
                      </a: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, </a:t>
                      </a:r>
                      <a:r>
                        <a:rPr kumimoji="0" lang="ko-KR" alt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마이페이지</a:t>
                      </a: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, </a:t>
                      </a:r>
                      <a:r>
                        <a:rPr kumimoji="0" lang="ko-KR" alt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로그인</a:t>
                      </a: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, </a:t>
                      </a:r>
                      <a:r>
                        <a:rPr kumimoji="0" lang="ko-KR" alt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회원가입</a:t>
                      </a: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, </a:t>
                      </a:r>
                      <a:r>
                        <a:rPr kumimoji="0" lang="ko-KR" alt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추천 상품</a:t>
                      </a: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, </a:t>
                      </a:r>
                      <a:r>
                        <a:rPr kumimoji="0" lang="ko-KR" altLang="en-US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판매하는 상품들을 조회할 수 있다</a:t>
                      </a: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.</a:t>
                      </a:r>
                      <a:endParaRPr kumimoji="0" lang="ko-KR" altLang="en-US" sz="10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811">
                <a:tc rowSpan="2" gridSpan="4">
                  <a:txBody>
                    <a:bodyPr/>
                    <a:lstStyle/>
                    <a:p>
                      <a:pPr marL="0" marR="0" lvl="0" indent="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맑은 고딕" pitchFamily="50" charset="-127"/>
                        <a:ea typeface="맑은 고딕" pitchFamily="50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marL="180975" marR="0" lvl="0" indent="-180975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Y울릉도M" pitchFamily="18" charset="-127"/>
                        <a:ea typeface="HY울릉도M" pitchFamily="18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180975" marR="0" lvl="0" indent="-180975" algn="ctr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설명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31132">
                <a:tc gridSpan="4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marL="266700" marR="0" lvl="0" indent="-26670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endParaRPr kumimoji="0" lang="ko-KR" altLang="en-US" sz="10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HY울릉도M" pitchFamily="18" charset="-127"/>
                        <a:ea typeface="HY울릉도M" pitchFamily="18" charset="-127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AutoNum type="arabicPeriod"/>
                        <a:tabLst/>
                      </a:pPr>
                      <a:r>
                        <a:rPr kumimoji="0" lang="ko-KR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사이트 메인 화면 중 로고</a:t>
                      </a:r>
                      <a:r>
                        <a:rPr kumimoji="0" lang="en-US" altLang="ko-KR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, </a:t>
                      </a:r>
                      <a:r>
                        <a:rPr kumimoji="0" lang="ko-KR" altLang="en-US" sz="1000" b="1" i="0" u="none" strike="noStrike" cap="none" normalizeH="0" baseline="0" dirty="0" err="1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검색창</a:t>
                      </a:r>
                      <a:r>
                        <a:rPr kumimoji="0" lang="en-US" altLang="ko-KR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, </a:t>
                      </a:r>
                      <a:r>
                        <a:rPr kumimoji="0" lang="ko-KR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장바구니</a:t>
                      </a:r>
                      <a:r>
                        <a:rPr kumimoji="0" lang="en-US" altLang="ko-KR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, </a:t>
                      </a:r>
                      <a:r>
                        <a:rPr kumimoji="0" lang="ko-KR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마이페이지</a:t>
                      </a:r>
                      <a:r>
                        <a:rPr kumimoji="0" lang="en-US" altLang="ko-KR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, </a:t>
                      </a:r>
                      <a:r>
                        <a:rPr kumimoji="0" lang="ko-KR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로그인</a:t>
                      </a:r>
                      <a:r>
                        <a:rPr kumimoji="0" lang="en-US" altLang="ko-KR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, </a:t>
                      </a:r>
                      <a:r>
                        <a:rPr kumimoji="0" lang="ko-KR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회원가입이 화면에 조회된다</a:t>
                      </a:r>
                      <a:r>
                        <a:rPr kumimoji="0" lang="en-US" altLang="ko-KR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.</a:t>
                      </a:r>
                    </a:p>
                    <a:p>
                      <a:pPr marL="228600" marR="0" lvl="0" indent="-22860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AutoNum type="arabicPeriod"/>
                        <a:tabLst/>
                      </a:pPr>
                      <a:r>
                        <a:rPr kumimoji="0" lang="ko-KR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로그인</a:t>
                      </a:r>
                      <a:r>
                        <a:rPr kumimoji="0" lang="en-US" altLang="ko-KR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, </a:t>
                      </a:r>
                      <a:r>
                        <a:rPr kumimoji="0" lang="ko-KR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회원가입</a:t>
                      </a:r>
                      <a:r>
                        <a:rPr kumimoji="0" lang="en-US" altLang="ko-KR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, </a:t>
                      </a:r>
                      <a:r>
                        <a:rPr kumimoji="0" lang="ko-KR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아이디 찾기</a:t>
                      </a:r>
                      <a:r>
                        <a:rPr kumimoji="0" lang="en-US" altLang="ko-KR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, </a:t>
                      </a:r>
                      <a:r>
                        <a:rPr kumimoji="0" lang="ko-KR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패스워드 찾기를 누르면 각각 의 화면으로 이동한다</a:t>
                      </a:r>
                      <a:r>
                        <a:rPr kumimoji="0" lang="en-US" altLang="ko-KR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.</a:t>
                      </a:r>
                    </a:p>
                    <a:p>
                      <a:pPr marL="228600" marR="0" lvl="0" indent="-22860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AutoNum type="arabicPeriod"/>
                        <a:tabLst/>
                      </a:pPr>
                      <a:r>
                        <a:rPr kumimoji="0" lang="ko-KR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사이트의 상품 목록</a:t>
                      </a:r>
                      <a:r>
                        <a:rPr kumimoji="0" lang="en-US" altLang="ko-KR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, </a:t>
                      </a:r>
                      <a:r>
                        <a:rPr kumimoji="0" lang="ko-KR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커뮤니티 게시판의 카테고리를 누르면 각각의 화면으로 이동한다</a:t>
                      </a:r>
                      <a:r>
                        <a:rPr kumimoji="0" lang="en-US" altLang="ko-KR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.</a:t>
                      </a:r>
                    </a:p>
                    <a:p>
                      <a:pPr marL="228600" marR="0" lvl="0" indent="-22860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AutoNum type="arabicPeriod"/>
                        <a:tabLst/>
                      </a:pPr>
                      <a:r>
                        <a:rPr kumimoji="0" lang="ko-KR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추천 상품이 조회된다</a:t>
                      </a:r>
                      <a:r>
                        <a:rPr kumimoji="0" lang="en-US" altLang="ko-KR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. </a:t>
                      </a:r>
                    </a:p>
                    <a:p>
                      <a:pPr marL="228600" marR="0" lvl="0" indent="-228600" algn="l" defTabSz="914400" rtl="0" eaLnBrk="0" fontAlgn="base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AutoNum type="arabicPeriod"/>
                        <a:tabLst/>
                      </a:pPr>
                      <a:r>
                        <a:rPr kumimoji="0" lang="ko-KR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사이트에서 판매하는 상품들이 나열된다</a:t>
                      </a:r>
                      <a:r>
                        <a:rPr kumimoji="0" lang="en-US" altLang="ko-KR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. </a:t>
                      </a:r>
                      <a:r>
                        <a:rPr kumimoji="0" lang="ko-KR" altLang="en-US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각 상품을 클릭하면 상세정보 화면으로 이동한다</a:t>
                      </a:r>
                      <a:r>
                        <a:rPr kumimoji="0" lang="en-US" altLang="ko-KR" sz="10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.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90" name="그룹 89">
            <a:extLst>
              <a:ext uri="{FF2B5EF4-FFF2-40B4-BE49-F238E27FC236}">
                <a16:creationId xmlns:a16="http://schemas.microsoft.com/office/drawing/2014/main" id="{29FAED81-6482-F4DC-F37C-025105797D53}"/>
              </a:ext>
            </a:extLst>
          </p:cNvPr>
          <p:cNvGrpSpPr/>
          <p:nvPr/>
        </p:nvGrpSpPr>
        <p:grpSpPr>
          <a:xfrm>
            <a:off x="567210" y="1976160"/>
            <a:ext cx="6395746" cy="4511422"/>
            <a:chOff x="198449" y="610796"/>
            <a:chExt cx="8348954" cy="6048672"/>
          </a:xfrm>
        </p:grpSpPr>
        <p:sp>
          <p:nvSpPr>
            <p:cNvPr id="50" name="직사각형 49">
              <a:extLst>
                <a:ext uri="{FF2B5EF4-FFF2-40B4-BE49-F238E27FC236}">
                  <a16:creationId xmlns:a16="http://schemas.microsoft.com/office/drawing/2014/main" id="{3E01C8B0-7AF4-3AF6-8306-4B632E9813B0}"/>
                </a:ext>
              </a:extLst>
            </p:cNvPr>
            <p:cNvSpPr/>
            <p:nvPr/>
          </p:nvSpPr>
          <p:spPr>
            <a:xfrm>
              <a:off x="236816" y="610796"/>
              <a:ext cx="8136904" cy="6048672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>
                <a:latin typeface="나눔바른고딕" panose="020B0603020101020101" pitchFamily="50" charset="-127"/>
                <a:ea typeface="나눔바른고딕" panose="020B0603020101020101" pitchFamily="50" charset="-127"/>
              </a:endParaRPr>
            </a:p>
          </p:txBody>
        </p:sp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B03BFF3E-DA5A-67C8-718F-4306B5CD4829}"/>
                </a:ext>
              </a:extLst>
            </p:cNvPr>
            <p:cNvSpPr/>
            <p:nvPr/>
          </p:nvSpPr>
          <p:spPr>
            <a:xfrm>
              <a:off x="236816" y="975779"/>
              <a:ext cx="8136904" cy="5338484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>
                <a:latin typeface="나눔바른고딕" panose="020B0603020101020101" pitchFamily="50" charset="-127"/>
                <a:ea typeface="나눔바른고딕" panose="020B0603020101020101" pitchFamily="50" charset="-127"/>
              </a:endParaRPr>
            </a:p>
          </p:txBody>
        </p:sp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37856568-B3D5-9CE0-983D-E4E41158B450}"/>
                </a:ext>
              </a:extLst>
            </p:cNvPr>
            <p:cNvSpPr/>
            <p:nvPr/>
          </p:nvSpPr>
          <p:spPr>
            <a:xfrm>
              <a:off x="355112" y="1062802"/>
              <a:ext cx="1162948" cy="297016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 dirty="0">
                  <a:solidFill>
                    <a:schemeClr val="tx1"/>
                  </a:solidFill>
                  <a:latin typeface="나눔바른고딕" panose="020B0603020101020101" pitchFamily="50" charset="-127"/>
                  <a:ea typeface="나눔바른고딕" panose="020B0603020101020101" pitchFamily="50" charset="-127"/>
                </a:rPr>
                <a:t>로고</a:t>
              </a:r>
            </a:p>
          </p:txBody>
        </p:sp>
        <p:sp>
          <p:nvSpPr>
            <p:cNvPr id="53" name="직사각형 52">
              <a:extLst>
                <a:ext uri="{FF2B5EF4-FFF2-40B4-BE49-F238E27FC236}">
                  <a16:creationId xmlns:a16="http://schemas.microsoft.com/office/drawing/2014/main" id="{E7A548E9-ADC2-91E0-F819-774E6339DA97}"/>
                </a:ext>
              </a:extLst>
            </p:cNvPr>
            <p:cNvSpPr/>
            <p:nvPr/>
          </p:nvSpPr>
          <p:spPr>
            <a:xfrm>
              <a:off x="2446019" y="1056378"/>
              <a:ext cx="1961677" cy="288032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900" dirty="0">
                  <a:solidFill>
                    <a:schemeClr val="tx1"/>
                  </a:solidFill>
                  <a:latin typeface="나눔바른고딕" panose="020B0603020101020101" pitchFamily="50" charset="-127"/>
                  <a:ea typeface="나눔바른고딕" panose="020B0603020101020101" pitchFamily="50" charset="-127"/>
                </a:rPr>
                <a:t>검색 창</a:t>
              </a:r>
            </a:p>
          </p:txBody>
        </p:sp>
        <p:sp>
          <p:nvSpPr>
            <p:cNvPr id="56" name="직사각형 55">
              <a:extLst>
                <a:ext uri="{FF2B5EF4-FFF2-40B4-BE49-F238E27FC236}">
                  <a16:creationId xmlns:a16="http://schemas.microsoft.com/office/drawing/2014/main" id="{4C28FCA2-8574-1407-A473-07D2AC1D73ED}"/>
                </a:ext>
              </a:extLst>
            </p:cNvPr>
            <p:cNvSpPr/>
            <p:nvPr/>
          </p:nvSpPr>
          <p:spPr>
            <a:xfrm>
              <a:off x="2632758" y="2692104"/>
              <a:ext cx="5534307" cy="3367895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 dirty="0">
                <a:latin typeface="나눔바른고딕" panose="020B0603020101020101" pitchFamily="50" charset="-127"/>
                <a:ea typeface="나눔바른고딕" panose="020B0603020101020101" pitchFamily="50" charset="-127"/>
              </a:endParaRPr>
            </a:p>
          </p:txBody>
        </p:sp>
        <p:sp>
          <p:nvSpPr>
            <p:cNvPr id="57" name="직사각형 56">
              <a:extLst>
                <a:ext uri="{FF2B5EF4-FFF2-40B4-BE49-F238E27FC236}">
                  <a16:creationId xmlns:a16="http://schemas.microsoft.com/office/drawing/2014/main" id="{0A1B65F2-6F37-C806-96CB-BA306D038DF2}"/>
                </a:ext>
              </a:extLst>
            </p:cNvPr>
            <p:cNvSpPr/>
            <p:nvPr/>
          </p:nvSpPr>
          <p:spPr>
            <a:xfrm>
              <a:off x="3658276" y="3262551"/>
              <a:ext cx="1512168" cy="208008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>
                <a:latin typeface="나눔바른고딕" panose="020B0603020101020101" pitchFamily="50" charset="-127"/>
                <a:ea typeface="나눔바른고딕" panose="020B0603020101020101" pitchFamily="50" charset="-127"/>
              </a:endParaRPr>
            </a:p>
          </p:txBody>
        </p:sp>
        <p:pic>
          <p:nvPicPr>
            <p:cNvPr id="58" name="그림 57">
              <a:extLst>
                <a:ext uri="{FF2B5EF4-FFF2-40B4-BE49-F238E27FC236}">
                  <a16:creationId xmlns:a16="http://schemas.microsoft.com/office/drawing/2014/main" id="{84281866-1AF4-0878-23E0-1F0FDA48267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05716" y="4025875"/>
              <a:ext cx="598901" cy="598901"/>
            </a:xfrm>
            <a:prstGeom prst="rect">
              <a:avLst/>
            </a:prstGeom>
          </p:spPr>
        </p:pic>
        <p:sp>
          <p:nvSpPr>
            <p:cNvPr id="59" name="직사각형 58">
              <a:extLst>
                <a:ext uri="{FF2B5EF4-FFF2-40B4-BE49-F238E27FC236}">
                  <a16:creationId xmlns:a16="http://schemas.microsoft.com/office/drawing/2014/main" id="{579C9DC9-5B1C-BE5E-D322-D26AEEC9D062}"/>
                </a:ext>
              </a:extLst>
            </p:cNvPr>
            <p:cNvSpPr/>
            <p:nvPr/>
          </p:nvSpPr>
          <p:spPr>
            <a:xfrm>
              <a:off x="5661374" y="3281641"/>
              <a:ext cx="1512168" cy="2080080"/>
            </a:xfrm>
            <a:prstGeom prst="rect">
              <a:avLst/>
            </a:prstGeom>
            <a:solidFill>
              <a:schemeClr val="bg1">
                <a:lumMod val="65000"/>
              </a:schemeClr>
            </a:solidFill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>
                <a:latin typeface="나눔바른고딕" panose="020B0603020101020101" pitchFamily="50" charset="-127"/>
                <a:ea typeface="나눔바른고딕" panose="020B0603020101020101" pitchFamily="50" charset="-127"/>
              </a:endParaRPr>
            </a:p>
          </p:txBody>
        </p:sp>
        <p:pic>
          <p:nvPicPr>
            <p:cNvPr id="60" name="그림 59">
              <a:extLst>
                <a:ext uri="{FF2B5EF4-FFF2-40B4-BE49-F238E27FC236}">
                  <a16:creationId xmlns:a16="http://schemas.microsoft.com/office/drawing/2014/main" id="{52FFB3BF-8BCD-4DBB-8FBE-0BA3D48AD7A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108814" y="4044965"/>
              <a:ext cx="598901" cy="598901"/>
            </a:xfrm>
            <a:prstGeom prst="rect">
              <a:avLst/>
            </a:prstGeom>
          </p:spPr>
        </p:pic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A8AA9205-6955-8518-FC8C-5C0120D1C3DE}"/>
                </a:ext>
              </a:extLst>
            </p:cNvPr>
            <p:cNvSpPr txBox="1"/>
            <p:nvPr/>
          </p:nvSpPr>
          <p:spPr>
            <a:xfrm>
              <a:off x="7103625" y="1057421"/>
              <a:ext cx="1443778" cy="30777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dirty="0">
                  <a:latin typeface="나눔바른고딕" panose="020B0603020101020101" pitchFamily="50" charset="-127"/>
                  <a:ea typeface="나눔바른고딕" panose="020B0603020101020101" pitchFamily="50" charset="-127"/>
                </a:rPr>
                <a:t>마이페이지</a:t>
              </a:r>
            </a:p>
          </p:txBody>
        </p:sp>
        <p:grpSp>
          <p:nvGrpSpPr>
            <p:cNvPr id="62" name="그룹 61">
              <a:extLst>
                <a:ext uri="{FF2B5EF4-FFF2-40B4-BE49-F238E27FC236}">
                  <a16:creationId xmlns:a16="http://schemas.microsoft.com/office/drawing/2014/main" id="{96C9F7FB-7383-089E-6E93-596C9D9F87B5}"/>
                </a:ext>
              </a:extLst>
            </p:cNvPr>
            <p:cNvGrpSpPr/>
            <p:nvPr/>
          </p:nvGrpSpPr>
          <p:grpSpPr>
            <a:xfrm>
              <a:off x="4591999" y="3404529"/>
              <a:ext cx="428160" cy="415721"/>
              <a:chOff x="2819501" y="1729949"/>
              <a:chExt cx="576857" cy="503788"/>
            </a:xfrm>
          </p:grpSpPr>
          <p:pic>
            <p:nvPicPr>
              <p:cNvPr id="63" name="그림 62">
                <a:extLst>
                  <a:ext uri="{FF2B5EF4-FFF2-40B4-BE49-F238E27FC236}">
                    <a16:creationId xmlns:a16="http://schemas.microsoft.com/office/drawing/2014/main" id="{D9ED5C2E-4413-D954-0484-773FCDBA9CE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56035" y="1729949"/>
                <a:ext cx="503788" cy="503788"/>
              </a:xfrm>
              <a:prstGeom prst="rect">
                <a:avLst/>
              </a:prstGeom>
            </p:spPr>
          </p:pic>
          <p:sp>
            <p:nvSpPr>
              <p:cNvPr id="64" name="직사각형 63">
                <a:extLst>
                  <a:ext uri="{FF2B5EF4-FFF2-40B4-BE49-F238E27FC236}">
                    <a16:creationId xmlns:a16="http://schemas.microsoft.com/office/drawing/2014/main" id="{0071F799-D5FC-6B59-ECFB-51B867809B3F}"/>
                  </a:ext>
                </a:extLst>
              </p:cNvPr>
              <p:cNvSpPr/>
              <p:nvPr/>
            </p:nvSpPr>
            <p:spPr>
              <a:xfrm>
                <a:off x="2819501" y="1729949"/>
                <a:ext cx="576857" cy="46213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>
                  <a:latin typeface="나눔바른고딕" panose="020B0603020101020101" pitchFamily="50" charset="-127"/>
                  <a:ea typeface="나눔바른고딕" panose="020B0603020101020101" pitchFamily="50" charset="-127"/>
                </a:endParaRPr>
              </a:p>
            </p:txBody>
          </p:sp>
        </p:grpSp>
        <p:grpSp>
          <p:nvGrpSpPr>
            <p:cNvPr id="65" name="그룹 64">
              <a:extLst>
                <a:ext uri="{FF2B5EF4-FFF2-40B4-BE49-F238E27FC236}">
                  <a16:creationId xmlns:a16="http://schemas.microsoft.com/office/drawing/2014/main" id="{40D94098-9EDF-E08C-0511-8EBFED6D9E92}"/>
                </a:ext>
              </a:extLst>
            </p:cNvPr>
            <p:cNvGrpSpPr/>
            <p:nvPr/>
          </p:nvGrpSpPr>
          <p:grpSpPr>
            <a:xfrm>
              <a:off x="6602570" y="3404529"/>
              <a:ext cx="428160" cy="415721"/>
              <a:chOff x="2819501" y="1729949"/>
              <a:chExt cx="576857" cy="503788"/>
            </a:xfrm>
          </p:grpSpPr>
          <p:pic>
            <p:nvPicPr>
              <p:cNvPr id="66" name="그림 65">
                <a:extLst>
                  <a:ext uri="{FF2B5EF4-FFF2-40B4-BE49-F238E27FC236}">
                    <a16:creationId xmlns:a16="http://schemas.microsoft.com/office/drawing/2014/main" id="{CEE147E8-FEE7-ED24-25FF-7D15106C317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856035" y="1729949"/>
                <a:ext cx="503788" cy="503788"/>
              </a:xfrm>
              <a:prstGeom prst="rect">
                <a:avLst/>
              </a:prstGeom>
            </p:spPr>
          </p:pic>
          <p:sp>
            <p:nvSpPr>
              <p:cNvPr id="67" name="직사각형 66">
                <a:extLst>
                  <a:ext uri="{FF2B5EF4-FFF2-40B4-BE49-F238E27FC236}">
                    <a16:creationId xmlns:a16="http://schemas.microsoft.com/office/drawing/2014/main" id="{BD50A67D-373C-4E27-2AC6-F2DC8FBA6DF9}"/>
                  </a:ext>
                </a:extLst>
              </p:cNvPr>
              <p:cNvSpPr/>
              <p:nvPr/>
            </p:nvSpPr>
            <p:spPr>
              <a:xfrm>
                <a:off x="2819501" y="1729949"/>
                <a:ext cx="576857" cy="46213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>
                  <a:latin typeface="나눔바른고딕" panose="020B0603020101020101" pitchFamily="50" charset="-127"/>
                  <a:ea typeface="나눔바른고딕" panose="020B0603020101020101" pitchFamily="50" charset="-127"/>
                </a:endParaRPr>
              </a:p>
            </p:txBody>
          </p:sp>
        </p:grp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BED871DF-413A-C440-3143-F9D83EBEB80B}"/>
                </a:ext>
              </a:extLst>
            </p:cNvPr>
            <p:cNvSpPr txBox="1"/>
            <p:nvPr/>
          </p:nvSpPr>
          <p:spPr>
            <a:xfrm>
              <a:off x="6245208" y="1075550"/>
              <a:ext cx="1443778" cy="30777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900" dirty="0">
                  <a:latin typeface="나눔바른고딕" panose="020B0603020101020101" pitchFamily="50" charset="-127"/>
                  <a:ea typeface="나눔바른고딕" panose="020B0603020101020101" pitchFamily="50" charset="-127"/>
                </a:rPr>
                <a:t>장바구니</a:t>
              </a:r>
            </a:p>
          </p:txBody>
        </p:sp>
        <p:grpSp>
          <p:nvGrpSpPr>
            <p:cNvPr id="69" name="그룹 68">
              <a:extLst>
                <a:ext uri="{FF2B5EF4-FFF2-40B4-BE49-F238E27FC236}">
                  <a16:creationId xmlns:a16="http://schemas.microsoft.com/office/drawing/2014/main" id="{2150BA31-15E1-44E0-1125-5824DCDA0460}"/>
                </a:ext>
              </a:extLst>
            </p:cNvPr>
            <p:cNvGrpSpPr/>
            <p:nvPr/>
          </p:nvGrpSpPr>
          <p:grpSpPr>
            <a:xfrm>
              <a:off x="198449" y="1512869"/>
              <a:ext cx="2381260" cy="1009647"/>
              <a:chOff x="209382" y="1439192"/>
              <a:chExt cx="2381260" cy="1009647"/>
            </a:xfrm>
          </p:grpSpPr>
          <p:sp>
            <p:nvSpPr>
              <p:cNvPr id="70" name="직사각형 69">
                <a:extLst>
                  <a:ext uri="{FF2B5EF4-FFF2-40B4-BE49-F238E27FC236}">
                    <a16:creationId xmlns:a16="http://schemas.microsoft.com/office/drawing/2014/main" id="{D3813C71-DEC2-C390-313D-B58569F2D253}"/>
                  </a:ext>
                </a:extLst>
              </p:cNvPr>
              <p:cNvSpPr/>
              <p:nvPr/>
            </p:nvSpPr>
            <p:spPr>
              <a:xfrm>
                <a:off x="356938" y="1439192"/>
                <a:ext cx="2100550" cy="1003888"/>
              </a:xfrm>
              <a:prstGeom prst="rect">
                <a:avLst/>
              </a:prstGeom>
              <a:noFill/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>
                  <a:latin typeface="나눔바른고딕" panose="020B0603020101020101" pitchFamily="50" charset="-127"/>
                  <a:ea typeface="나눔바른고딕" panose="020B0603020101020101" pitchFamily="50" charset="-127"/>
                </a:endParaRPr>
              </a:p>
            </p:txBody>
          </p:sp>
          <p:sp>
            <p:nvSpPr>
              <p:cNvPr id="71" name="직사각형 70">
                <a:extLst>
                  <a:ext uri="{FF2B5EF4-FFF2-40B4-BE49-F238E27FC236}">
                    <a16:creationId xmlns:a16="http://schemas.microsoft.com/office/drawing/2014/main" id="{52F7DB99-27EA-BAD1-78D8-576B09BF458E}"/>
                  </a:ext>
                </a:extLst>
              </p:cNvPr>
              <p:cNvSpPr/>
              <p:nvPr/>
            </p:nvSpPr>
            <p:spPr>
              <a:xfrm>
                <a:off x="407368" y="1488909"/>
                <a:ext cx="882926" cy="298507"/>
              </a:xfrm>
              <a:prstGeom prst="rect">
                <a:avLst/>
              </a:prstGeom>
              <a:noFill/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>
                  <a:solidFill>
                    <a:schemeClr val="tx1"/>
                  </a:solidFill>
                  <a:latin typeface="나눔바른고딕" panose="020B0603020101020101" pitchFamily="50" charset="-127"/>
                  <a:ea typeface="나눔바른고딕" panose="020B0603020101020101" pitchFamily="50" charset="-127"/>
                </a:endParaRPr>
              </a:p>
            </p:txBody>
          </p:sp>
          <p:sp>
            <p:nvSpPr>
              <p:cNvPr id="72" name="직사각형 71">
                <a:extLst>
                  <a:ext uri="{FF2B5EF4-FFF2-40B4-BE49-F238E27FC236}">
                    <a16:creationId xmlns:a16="http://schemas.microsoft.com/office/drawing/2014/main" id="{C4BEFD41-1A40-14B7-0B77-D2959393C955}"/>
                  </a:ext>
                </a:extLst>
              </p:cNvPr>
              <p:cNvSpPr/>
              <p:nvPr/>
            </p:nvSpPr>
            <p:spPr>
              <a:xfrm>
                <a:off x="407368" y="1793738"/>
                <a:ext cx="882926" cy="298507"/>
              </a:xfrm>
              <a:prstGeom prst="rect">
                <a:avLst/>
              </a:prstGeom>
              <a:noFill/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>
                  <a:solidFill>
                    <a:schemeClr val="tx1"/>
                  </a:solidFill>
                  <a:latin typeface="나눔바른고딕" panose="020B0603020101020101" pitchFamily="50" charset="-127"/>
                  <a:ea typeface="나눔바른고딕" panose="020B0603020101020101" pitchFamily="50" charset="-127"/>
                </a:endParaRPr>
              </a:p>
            </p:txBody>
          </p:sp>
          <p:sp>
            <p:nvSpPr>
              <p:cNvPr id="73" name="직사각형 72">
                <a:extLst>
                  <a:ext uri="{FF2B5EF4-FFF2-40B4-BE49-F238E27FC236}">
                    <a16:creationId xmlns:a16="http://schemas.microsoft.com/office/drawing/2014/main" id="{1392CA0A-5584-394A-056B-333654C9CF6C}"/>
                  </a:ext>
                </a:extLst>
              </p:cNvPr>
              <p:cNvSpPr/>
              <p:nvPr/>
            </p:nvSpPr>
            <p:spPr>
              <a:xfrm>
                <a:off x="1365718" y="1507159"/>
                <a:ext cx="1020849" cy="592861"/>
              </a:xfrm>
              <a:prstGeom prst="rect">
                <a:avLst/>
              </a:prstGeom>
              <a:solidFill>
                <a:srgbClr val="64C07A"/>
              </a:solidFill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ko-KR" sz="900" b="1" dirty="0">
                    <a:solidFill>
                      <a:schemeClr val="bg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rPr>
                  <a:t>LOGIN</a:t>
                </a:r>
              </a:p>
              <a:p>
                <a:pPr algn="ctr"/>
                <a:r>
                  <a:rPr lang="ko-KR" altLang="en-US" sz="900" b="1" dirty="0">
                    <a:solidFill>
                      <a:schemeClr val="bg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rPr>
                  <a:t>로그인</a:t>
                </a:r>
              </a:p>
            </p:txBody>
          </p:sp>
          <p:sp>
            <p:nvSpPr>
              <p:cNvPr id="74" name="TextBox 73">
                <a:extLst>
                  <a:ext uri="{FF2B5EF4-FFF2-40B4-BE49-F238E27FC236}">
                    <a16:creationId xmlns:a16="http://schemas.microsoft.com/office/drawing/2014/main" id="{9A279ABA-A5DF-9A16-1DF9-8D36E133B7F5}"/>
                  </a:ext>
                </a:extLst>
              </p:cNvPr>
              <p:cNvSpPr txBox="1"/>
              <p:nvPr/>
            </p:nvSpPr>
            <p:spPr>
              <a:xfrm>
                <a:off x="209382" y="2149381"/>
                <a:ext cx="882928" cy="2888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800" dirty="0">
                    <a:latin typeface="나눔바른고딕" panose="020B0603020101020101" pitchFamily="50" charset="-127"/>
                    <a:ea typeface="나눔바른고딕" panose="020B0603020101020101" pitchFamily="50" charset="-127"/>
                  </a:rPr>
                  <a:t>회원가입</a:t>
                </a:r>
              </a:p>
            </p:txBody>
          </p:sp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EF43D01C-235E-EAAF-6BD3-863EE1124F83}"/>
                  </a:ext>
                </a:extLst>
              </p:cNvPr>
              <p:cNvSpPr txBox="1"/>
              <p:nvPr/>
            </p:nvSpPr>
            <p:spPr>
              <a:xfrm>
                <a:off x="766532" y="2150840"/>
                <a:ext cx="1020849" cy="2888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800" dirty="0">
                    <a:latin typeface="나눔바른고딕" panose="020B0603020101020101" pitchFamily="50" charset="-127"/>
                    <a:ea typeface="나눔바른고딕" panose="020B0603020101020101" pitchFamily="50" charset="-127"/>
                  </a:rPr>
                  <a:t>아이디 찾기</a:t>
                </a:r>
              </a:p>
            </p:txBody>
          </p:sp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C342D717-2715-AE01-8DD6-AC813AAA5A8A}"/>
                  </a:ext>
                </a:extLst>
              </p:cNvPr>
              <p:cNvSpPr txBox="1"/>
              <p:nvPr/>
            </p:nvSpPr>
            <p:spPr>
              <a:xfrm>
                <a:off x="1507788" y="2159983"/>
                <a:ext cx="1082854" cy="28885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800" dirty="0">
                    <a:latin typeface="나눔바른고딕" panose="020B0603020101020101" pitchFamily="50" charset="-127"/>
                    <a:ea typeface="나눔바른고딕" panose="020B0603020101020101" pitchFamily="50" charset="-127"/>
                  </a:rPr>
                  <a:t>패스워드 찾기</a:t>
                </a:r>
              </a:p>
            </p:txBody>
          </p:sp>
        </p:grpSp>
        <p:sp>
          <p:nvSpPr>
            <p:cNvPr id="77" name="직사각형 76">
              <a:extLst>
                <a:ext uri="{FF2B5EF4-FFF2-40B4-BE49-F238E27FC236}">
                  <a16:creationId xmlns:a16="http://schemas.microsoft.com/office/drawing/2014/main" id="{5AAAC944-689B-93F0-6402-659C73598A80}"/>
                </a:ext>
              </a:extLst>
            </p:cNvPr>
            <p:cNvSpPr/>
            <p:nvPr/>
          </p:nvSpPr>
          <p:spPr>
            <a:xfrm>
              <a:off x="2632759" y="1512869"/>
              <a:ext cx="5534308" cy="1003888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900">
                <a:latin typeface="나눔바른고딕" panose="020B0603020101020101" pitchFamily="50" charset="-127"/>
                <a:ea typeface="나눔바른고딕" panose="020B0603020101020101" pitchFamily="50" charset="-127"/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0881AE24-FECB-64A4-2AF5-33B8DDB92A20}"/>
                </a:ext>
              </a:extLst>
            </p:cNvPr>
            <p:cNvSpPr txBox="1"/>
            <p:nvPr/>
          </p:nvSpPr>
          <p:spPr>
            <a:xfrm>
              <a:off x="4763623" y="1850685"/>
              <a:ext cx="1296144" cy="3094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ko-KR" altLang="en-US" sz="900" dirty="0">
                  <a:latin typeface="나눔바른고딕" panose="020B0603020101020101" pitchFamily="50" charset="-127"/>
                  <a:ea typeface="나눔바른고딕" panose="020B0603020101020101" pitchFamily="50" charset="-127"/>
                </a:rPr>
                <a:t>추천 상품</a:t>
              </a:r>
            </a:p>
          </p:txBody>
        </p:sp>
        <p:grpSp>
          <p:nvGrpSpPr>
            <p:cNvPr id="79" name="그룹 78">
              <a:extLst>
                <a:ext uri="{FF2B5EF4-FFF2-40B4-BE49-F238E27FC236}">
                  <a16:creationId xmlns:a16="http://schemas.microsoft.com/office/drawing/2014/main" id="{C61F6908-2017-97C5-8577-1EBDD2FB588A}"/>
                </a:ext>
              </a:extLst>
            </p:cNvPr>
            <p:cNvGrpSpPr/>
            <p:nvPr/>
          </p:nvGrpSpPr>
          <p:grpSpPr>
            <a:xfrm>
              <a:off x="317382" y="2746705"/>
              <a:ext cx="2146857" cy="3330109"/>
              <a:chOff x="320418" y="2465089"/>
              <a:chExt cx="2146857" cy="3330109"/>
            </a:xfrm>
          </p:grpSpPr>
          <p:sp>
            <p:nvSpPr>
              <p:cNvPr id="80" name="직사각형 79">
                <a:extLst>
                  <a:ext uri="{FF2B5EF4-FFF2-40B4-BE49-F238E27FC236}">
                    <a16:creationId xmlns:a16="http://schemas.microsoft.com/office/drawing/2014/main" id="{F65ADA7C-92B2-2376-DE21-6C8826F74E6D}"/>
                  </a:ext>
                </a:extLst>
              </p:cNvPr>
              <p:cNvSpPr/>
              <p:nvPr/>
            </p:nvSpPr>
            <p:spPr>
              <a:xfrm>
                <a:off x="380235" y="2465089"/>
                <a:ext cx="2087040" cy="3330109"/>
              </a:xfrm>
              <a:prstGeom prst="rect">
                <a:avLst/>
              </a:prstGeom>
              <a:noFill/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900" dirty="0">
                  <a:latin typeface="나눔바른고딕" panose="020B0603020101020101" pitchFamily="50" charset="-127"/>
                  <a:ea typeface="나눔바른고딕" panose="020B0603020101020101" pitchFamily="50" charset="-127"/>
                </a:endParaRPr>
              </a:p>
            </p:txBody>
          </p:sp>
          <p:sp>
            <p:nvSpPr>
              <p:cNvPr id="81" name="TextBox 80">
                <a:extLst>
                  <a:ext uri="{FF2B5EF4-FFF2-40B4-BE49-F238E27FC236}">
                    <a16:creationId xmlns:a16="http://schemas.microsoft.com/office/drawing/2014/main" id="{40FA7D50-8181-91FE-766D-D71EAF4BC7C1}"/>
                  </a:ext>
                </a:extLst>
              </p:cNvPr>
              <p:cNvSpPr txBox="1"/>
              <p:nvPr/>
            </p:nvSpPr>
            <p:spPr>
              <a:xfrm>
                <a:off x="422521" y="3838387"/>
                <a:ext cx="1160767" cy="30777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900" dirty="0">
                    <a:latin typeface="나눔바른고딕" panose="020B0603020101020101" pitchFamily="50" charset="-127"/>
                    <a:ea typeface="나눔바른고딕" panose="020B0603020101020101" pitchFamily="50" charset="-127"/>
                  </a:rPr>
                  <a:t>공지사항</a:t>
                </a:r>
              </a:p>
            </p:txBody>
          </p:sp>
          <p:sp>
            <p:nvSpPr>
              <p:cNvPr id="85" name="직사각형 84">
                <a:extLst>
                  <a:ext uri="{FF2B5EF4-FFF2-40B4-BE49-F238E27FC236}">
                    <a16:creationId xmlns:a16="http://schemas.microsoft.com/office/drawing/2014/main" id="{4C9784AE-72B6-ABE7-E243-2F9E58DFF29A}"/>
                  </a:ext>
                </a:extLst>
              </p:cNvPr>
              <p:cNvSpPr/>
              <p:nvPr/>
            </p:nvSpPr>
            <p:spPr>
              <a:xfrm>
                <a:off x="422521" y="2524036"/>
                <a:ext cx="1961677" cy="288032"/>
              </a:xfrm>
              <a:prstGeom prst="rect">
                <a:avLst/>
              </a:prstGeom>
              <a:noFill/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 dirty="0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rPr>
                  <a:t>상품 카테고리</a:t>
                </a:r>
              </a:p>
            </p:txBody>
          </p:sp>
          <p:sp>
            <p:nvSpPr>
              <p:cNvPr id="86" name="직사각형 85">
                <a:extLst>
                  <a:ext uri="{FF2B5EF4-FFF2-40B4-BE49-F238E27FC236}">
                    <a16:creationId xmlns:a16="http://schemas.microsoft.com/office/drawing/2014/main" id="{422178D9-ADD9-FC17-95C4-83DC8C03ED7C}"/>
                  </a:ext>
                </a:extLst>
              </p:cNvPr>
              <p:cNvSpPr/>
              <p:nvPr/>
            </p:nvSpPr>
            <p:spPr>
              <a:xfrm>
                <a:off x="430762" y="3497845"/>
                <a:ext cx="1961677" cy="288032"/>
              </a:xfrm>
              <a:prstGeom prst="rect">
                <a:avLst/>
              </a:prstGeom>
              <a:noFill/>
              <a:ln w="31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900" dirty="0">
                    <a:solidFill>
                      <a:schemeClr val="tx1"/>
                    </a:solidFill>
                    <a:latin typeface="나눔바른고딕" panose="020B0603020101020101" pitchFamily="50" charset="-127"/>
                    <a:ea typeface="나눔바른고딕" panose="020B0603020101020101" pitchFamily="50" charset="-127"/>
                  </a:rPr>
                  <a:t>커뮤니티 게시판</a:t>
                </a:r>
              </a:p>
            </p:txBody>
          </p:sp>
          <p:sp>
            <p:nvSpPr>
              <p:cNvPr id="87" name="TextBox 86">
                <a:extLst>
                  <a:ext uri="{FF2B5EF4-FFF2-40B4-BE49-F238E27FC236}">
                    <a16:creationId xmlns:a16="http://schemas.microsoft.com/office/drawing/2014/main" id="{86A9DA86-E85B-C2E5-FA82-E240AA797090}"/>
                  </a:ext>
                </a:extLst>
              </p:cNvPr>
              <p:cNvSpPr txBox="1"/>
              <p:nvPr/>
            </p:nvSpPr>
            <p:spPr>
              <a:xfrm>
                <a:off x="481504" y="2883559"/>
                <a:ext cx="1160767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endParaRPr lang="ko-KR" altLang="en-US" sz="900" dirty="0">
                  <a:latin typeface="나눔바른고딕" panose="020B0603020101020101" pitchFamily="50" charset="-127"/>
                  <a:ea typeface="나눔바른고딕" panose="020B0603020101020101" pitchFamily="50" charset="-127"/>
                </a:endParaRP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CA21115E-8211-C197-B468-7FD6A8F72B2B}"/>
                  </a:ext>
                </a:extLst>
              </p:cNvPr>
              <p:cNvSpPr txBox="1"/>
              <p:nvPr/>
            </p:nvSpPr>
            <p:spPr>
              <a:xfrm>
                <a:off x="320418" y="4194842"/>
                <a:ext cx="1311880" cy="3094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900" dirty="0">
                    <a:latin typeface="나눔바른고딕" panose="020B0603020101020101" pitchFamily="50" charset="-127"/>
                    <a:ea typeface="나눔바른고딕" panose="020B0603020101020101" pitchFamily="50" charset="-127"/>
                  </a:rPr>
                  <a:t>찜 목록</a:t>
                </a:r>
              </a:p>
            </p:txBody>
          </p:sp>
        </p:grp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3582B3B6-9644-A95A-71DC-FC29F66E3302}"/>
                </a:ext>
              </a:extLst>
            </p:cNvPr>
            <p:cNvSpPr txBox="1"/>
            <p:nvPr/>
          </p:nvSpPr>
          <p:spPr>
            <a:xfrm>
              <a:off x="446362" y="3130190"/>
              <a:ext cx="571707" cy="3094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dirty="0">
                  <a:latin typeface="나눔바른고딕" panose="020B0603020101020101" pitchFamily="50" charset="-127"/>
                  <a:ea typeface="나눔바른고딕" panose="020B0603020101020101" pitchFamily="50" charset="-127"/>
                </a:rPr>
                <a:t>1.</a:t>
              </a: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09AD2BAD-C56E-07F7-B26F-F27DA4ADC1DC}"/>
                </a:ext>
              </a:extLst>
            </p:cNvPr>
            <p:cNvSpPr txBox="1"/>
            <p:nvPr/>
          </p:nvSpPr>
          <p:spPr>
            <a:xfrm>
              <a:off x="446362" y="3446000"/>
              <a:ext cx="571707" cy="3094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900" dirty="0">
                  <a:latin typeface="나눔바른고딕" panose="020B0603020101020101" pitchFamily="50" charset="-127"/>
                  <a:ea typeface="나눔바른고딕" panose="020B0603020101020101" pitchFamily="50" charset="-127"/>
                </a:rPr>
                <a:t>2.</a:t>
              </a:r>
            </a:p>
          </p:txBody>
        </p:sp>
      </p:grpSp>
      <p:sp>
        <p:nvSpPr>
          <p:cNvPr id="94" name="TextBox 93">
            <a:extLst>
              <a:ext uri="{FF2B5EF4-FFF2-40B4-BE49-F238E27FC236}">
                <a16:creationId xmlns:a16="http://schemas.microsoft.com/office/drawing/2014/main" id="{57EA098F-DE00-A371-34D2-5B1E1969AD78}"/>
              </a:ext>
            </a:extLst>
          </p:cNvPr>
          <p:cNvSpPr txBox="1"/>
          <p:nvPr/>
        </p:nvSpPr>
        <p:spPr>
          <a:xfrm>
            <a:off x="540790" y="1986994"/>
            <a:ext cx="4041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solidFill>
                  <a:srgbClr val="FF0000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①</a:t>
            </a:r>
            <a:endParaRPr lang="ko-KR" altLang="en-US" sz="2000" dirty="0"/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9E16038D-A23E-B12F-754C-E88884DD93A6}"/>
              </a:ext>
            </a:extLst>
          </p:cNvPr>
          <p:cNvSpPr txBox="1"/>
          <p:nvPr/>
        </p:nvSpPr>
        <p:spPr>
          <a:xfrm>
            <a:off x="1985747" y="2387104"/>
            <a:ext cx="4041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solidFill>
                  <a:srgbClr val="FF0000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②</a:t>
            </a:r>
            <a:endParaRPr lang="ko-KR" altLang="en-US" sz="2000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C2000EFD-8A9B-E978-8DF3-8BBCEBE3BA22}"/>
              </a:ext>
            </a:extLst>
          </p:cNvPr>
          <p:cNvSpPr txBox="1"/>
          <p:nvPr/>
        </p:nvSpPr>
        <p:spPr>
          <a:xfrm>
            <a:off x="2305651" y="2448639"/>
            <a:ext cx="4041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solidFill>
                  <a:srgbClr val="FF0000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④</a:t>
            </a:r>
            <a:endParaRPr lang="ko-KR" altLang="en-US" sz="2000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B6EE193D-AB62-AF57-9720-DD5040994DF9}"/>
              </a:ext>
            </a:extLst>
          </p:cNvPr>
          <p:cNvSpPr txBox="1"/>
          <p:nvPr/>
        </p:nvSpPr>
        <p:spPr>
          <a:xfrm>
            <a:off x="465143" y="3319036"/>
            <a:ext cx="4041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solidFill>
                  <a:srgbClr val="FF0000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③</a:t>
            </a:r>
            <a:endParaRPr lang="ko-KR" altLang="en-US" sz="2000" dirty="0"/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2D61868E-B582-4385-1E96-0022ECF52EDB}"/>
              </a:ext>
            </a:extLst>
          </p:cNvPr>
          <p:cNvSpPr txBox="1"/>
          <p:nvPr/>
        </p:nvSpPr>
        <p:spPr>
          <a:xfrm>
            <a:off x="2176227" y="3290519"/>
            <a:ext cx="4041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solidFill>
                  <a:srgbClr val="FF0000"/>
                </a:solidFill>
                <a:latin typeface="나눔바른고딕" panose="020B0603020101020101" pitchFamily="50" charset="-127"/>
                <a:ea typeface="나눔바른고딕" panose="020B0603020101020101" pitchFamily="50" charset="-127"/>
              </a:rPr>
              <a:t>⑤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657158859"/>
      </p:ext>
    </p:extLst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2</a:t>
            </a:fld>
            <a:r>
              <a:rPr lang="en-US" altLang="ko-KR"/>
              <a:t> -</a:t>
            </a:r>
            <a:endParaRPr lang="ko-KR" altLang="ko-KR"/>
          </a:p>
        </p:txBody>
      </p:sp>
      <p:graphicFrame>
        <p:nvGraphicFramePr>
          <p:cNvPr id="3" name="표 4"/>
          <p:cNvGraphicFramePr>
            <a:graphicFrameLocks noGrp="1"/>
          </p:cNvGraphicFramePr>
          <p:nvPr/>
        </p:nvGraphicFramePr>
        <p:xfrm>
          <a:off x="560511" y="1052738"/>
          <a:ext cx="8928992" cy="5429409"/>
        </p:xfrm>
        <a:graphic>
          <a:graphicData uri="http://schemas.openxmlformats.org/drawingml/2006/table">
            <a:tbl>
              <a:tblPr/>
              <a:tblGrid>
                <a:gridCol w="9964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24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10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10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684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49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87221"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alt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I/</a:t>
                      </a: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O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한글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영문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필수여부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I/O </a:t>
                      </a: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유형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초기값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회원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ID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memberid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Param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회원비밀번호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memberPw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Param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상품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ID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productid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이미지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image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가격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price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8"/>
                  </a:ext>
                </a:extLst>
              </a:tr>
            </a:tbl>
          </a:graphicData>
        </a:graphic>
      </p:graphicFrame>
      <p:sp>
        <p:nvSpPr>
          <p:cNvPr id="5" name="직사각형 6"/>
          <p:cNvSpPr/>
          <p:nvPr/>
        </p:nvSpPr>
        <p:spPr>
          <a:xfrm>
            <a:off x="425987" y="703729"/>
            <a:ext cx="138691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b="1">
                <a:latin typeface="맑은 고딕"/>
                <a:ea typeface="맑은 고딕"/>
              </a:rPr>
              <a:t>* </a:t>
            </a:r>
            <a:r>
              <a:rPr lang="ko-KR" altLang="ko-KR" b="1">
                <a:latin typeface="맑은 고딕"/>
                <a:ea typeface="맑은 고딕"/>
              </a:rPr>
              <a:t>화면입출력정보</a:t>
            </a:r>
          </a:p>
        </p:txBody>
      </p:sp>
      <p:sp>
        <p:nvSpPr>
          <p:cNvPr id="9" name="Rectangle 3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2pPr>
            <a:lvl3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3pPr>
            <a:lvl4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4pPr>
            <a:lvl5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sp>
        <p:nvSpPr>
          <p:cNvPr id="8" name="Rectangle 94"/>
          <p:cNvSpPr txBox="1">
            <a:spLocks noChangeArrowheads="1"/>
          </p:cNvSpPr>
          <p:nvPr/>
        </p:nvSpPr>
        <p:spPr bwMode="auto"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1.1</a:t>
            </a:r>
            <a:r>
              <a:rPr kumimoji="0" lang="en-US" altLang="ko-KR" sz="1800" b="1" i="0" u="none" strike="noStrike" kern="0" cap="none" spc="0" normalizeH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ko-KR" altLang="en-US" sz="1800" b="1" i="0" u="none" strike="noStrike" kern="0" cap="none" spc="0" normalizeH="0" baseline="0" noProof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공통 화면</a:t>
            </a:r>
            <a:endParaRPr kumimoji="0" lang="ko-KR" altLang="en-US" sz="1800" b="1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xfrm>
            <a:off x="3872880" y="6671742"/>
            <a:ext cx="2063750" cy="213642"/>
          </a:xfrm>
        </p:spPr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3</a:t>
            </a:fld>
            <a:r>
              <a:rPr lang="en-US" altLang="ko-KR"/>
              <a:t> -</a:t>
            </a:r>
            <a:endParaRPr lang="ko-KR" altLang="ko-KR"/>
          </a:p>
        </p:txBody>
      </p:sp>
      <p:sp>
        <p:nvSpPr>
          <p:cNvPr id="3" name="Rectangle 94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graphicFrame>
        <p:nvGraphicFramePr>
          <p:cNvPr id="5" name="Group 3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8255928"/>
              </p:ext>
            </p:extLst>
          </p:nvPr>
        </p:nvGraphicFramePr>
        <p:xfrm>
          <a:off x="315913" y="747145"/>
          <a:ext cx="9272587" cy="5876622"/>
        </p:xfrm>
        <a:graphic>
          <a:graphicData uri="http://schemas.openxmlformats.org/drawingml/2006/table">
            <a:tbl>
              <a:tblPr/>
              <a:tblGrid>
                <a:gridCol w="96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718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6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36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752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7772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Level1</a:t>
                      </a:r>
                      <a:endParaRPr kumimoji="0" lang="en-US" altLang="ko-KR" sz="1000" b="1" i="0" u="none" strike="noStrike" cap="none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주류 유통 관리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Level2</a:t>
                      </a:r>
                      <a:endParaRPr kumimoji="0" lang="en-US" altLang="ko-KR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  <a:cs typeface="+mn-cs"/>
                        </a:rPr>
                        <a:t>공통 화면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5151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</a:t>
                      </a:r>
                      <a:r>
                        <a:rPr kumimoji="0" lang="en-US" altLang="ko-KR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ID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4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Wingdings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UI_PD4_012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로그인</a:t>
                      </a:r>
                      <a:r>
                        <a:rPr lang="en-US" altLang="ko-KR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/</a:t>
                      </a:r>
                      <a:r>
                        <a:rPr lang="ko-KR" alt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가입</a:t>
                      </a:r>
                      <a:r>
                        <a:rPr lang="en-US" altLang="ko-KR" sz="1000" b="0" i="0" u="none" strike="noStrike" kern="1200" baseline="0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 </a:t>
                      </a:r>
                      <a:r>
                        <a:rPr lang="ko-KR" altLang="en-US" sz="1000" b="0" i="0" u="none" strike="noStrike" kern="1200" baseline="0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페이지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4756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화면개요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로그인과 회원가입을 할 수 있는 페이지이다</a:t>
                      </a:r>
                      <a:r>
                        <a:rPr kumimoji="0" lang="en-US" altLang="ko-KR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  <a:endParaRPr kumimoji="0" lang="ko-KR" altLang="en-US" sz="1000" b="0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811">
                <a:tc rowSpan="2"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설명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31132">
                <a:tc gridSpan="4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marL="266700" marR="0" lvl="0" indent="-2667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아이디와 비밀번호를 입력하고 로그인 버튼을 누르면 회원 정보를 확인한 후 정보가 일치하면 로그인 후 메인 페이지로 이동한다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아이디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, 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비밀번호 찾기를 누르면 회원정보 확인 하고 그 정보가 일치하면 비밀번호를 이메일로 전송한다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회원가입에 필요한 정보를 입력하고 가입하기 버튼을 누른다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 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회원 정보 등록 여부에 오류처리가 생기면 다시 작성한다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 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등록여부에 성공하면 회원가입이 완료된다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pSp>
        <p:nvGrpSpPr>
          <p:cNvPr id="6" name="그룹 5"/>
          <p:cNvGrpSpPr/>
          <p:nvPr/>
        </p:nvGrpSpPr>
        <p:grpSpPr>
          <a:xfrm>
            <a:off x="469400" y="1890649"/>
            <a:ext cx="2390704" cy="2323263"/>
            <a:chOff x="430545" y="1296082"/>
            <a:chExt cx="3649231" cy="3717094"/>
          </a:xfrm>
        </p:grpSpPr>
        <p:sp>
          <p:nvSpPr>
            <p:cNvPr id="28" name="TextBox 27"/>
            <p:cNvSpPr txBox="1"/>
            <p:nvPr/>
          </p:nvSpPr>
          <p:spPr>
            <a:xfrm>
              <a:off x="593530" y="2394320"/>
              <a:ext cx="1080120" cy="44318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아이디</a:t>
              </a:r>
              <a:endParaRPr lang="en-US" altLang="ko-KR">
                <a:latin typeface="나눔바른고딕"/>
                <a:ea typeface="나눔바른고딕"/>
              </a:endParaRP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576043" y="3019559"/>
              <a:ext cx="1224136" cy="44318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비밀번호</a:t>
              </a:r>
              <a:endParaRPr lang="en-US" altLang="ko-KR">
                <a:latin typeface="나눔바른고딕"/>
                <a:ea typeface="나눔바른고딕"/>
              </a:endParaRPr>
            </a:p>
          </p:txBody>
        </p:sp>
        <p:sp>
          <p:nvSpPr>
            <p:cNvPr id="30" name="직사각형 29"/>
            <p:cNvSpPr/>
            <p:nvPr/>
          </p:nvSpPr>
          <p:spPr>
            <a:xfrm>
              <a:off x="550466" y="1296082"/>
              <a:ext cx="3529310" cy="3717094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>
                <a:latin typeface="나눔바른고딕"/>
                <a:ea typeface="나눔바른고딕"/>
              </a:endParaRP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1188112" y="1418311"/>
              <a:ext cx="2315599" cy="44318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로그인</a:t>
              </a:r>
              <a:r>
                <a:rPr lang="en-US" altLang="ko-KR">
                  <a:latin typeface="나눔바른고딕"/>
                  <a:ea typeface="나눔바른고딕"/>
                </a:rPr>
                <a:t>(</a:t>
              </a:r>
              <a:r>
                <a:rPr lang="ko-KR" altLang="en-US">
                  <a:latin typeface="나눔바른고딕"/>
                  <a:ea typeface="나눔바른고딕"/>
                </a:rPr>
                <a:t>일반</a:t>
              </a:r>
              <a:r>
                <a:rPr lang="en-US" altLang="ko-KR">
                  <a:latin typeface="나눔바른고딕"/>
                  <a:ea typeface="나눔바른고딕"/>
                </a:rPr>
                <a:t>/</a:t>
              </a:r>
              <a:r>
                <a:rPr lang="ko-KR" altLang="en-US">
                  <a:latin typeface="나눔바른고딕"/>
                  <a:ea typeface="나눔바른고딕"/>
                </a:rPr>
                <a:t>관리자</a:t>
              </a:r>
              <a:r>
                <a:rPr lang="en-US" altLang="ko-KR">
                  <a:latin typeface="나눔바른고딕"/>
                  <a:ea typeface="나눔바른고딕"/>
                </a:rPr>
                <a:t>)</a:t>
              </a:r>
              <a:endParaRPr lang="ko-KR" altLang="en-US">
                <a:latin typeface="나눔바른고딕"/>
                <a:ea typeface="나눔바른고딕"/>
              </a:endParaRPr>
            </a:p>
          </p:txBody>
        </p:sp>
        <p:sp>
          <p:nvSpPr>
            <p:cNvPr id="32" name="직사각형 31"/>
            <p:cNvSpPr/>
            <p:nvPr/>
          </p:nvSpPr>
          <p:spPr>
            <a:xfrm>
              <a:off x="1719708" y="2426395"/>
              <a:ext cx="2016224" cy="369331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>
                <a:latin typeface="나눔바른고딕"/>
                <a:ea typeface="나눔바른고딕"/>
              </a:endParaRPr>
            </a:p>
          </p:txBody>
        </p:sp>
        <p:sp>
          <p:nvSpPr>
            <p:cNvPr id="33" name="직사각형 32"/>
            <p:cNvSpPr/>
            <p:nvPr/>
          </p:nvSpPr>
          <p:spPr>
            <a:xfrm>
              <a:off x="1719708" y="2994702"/>
              <a:ext cx="2016224" cy="369331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>
                <a:latin typeface="나눔바른고딕"/>
                <a:ea typeface="나눔바른고딕"/>
              </a:endParaRP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1605587" y="4319945"/>
              <a:ext cx="1480646" cy="46780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 sz="1300">
                  <a:latin typeface="나눔바른고딕"/>
                  <a:ea typeface="나눔바른고딕"/>
                </a:rPr>
                <a:t>로그인</a:t>
              </a:r>
              <a:endParaRPr lang="en-US" altLang="ko-KR" sz="1300">
                <a:latin typeface="나눔바른고딕"/>
                <a:ea typeface="나눔바른고딕"/>
              </a:endParaRP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430545" y="3472781"/>
              <a:ext cx="1480645" cy="3939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 sz="1000">
                  <a:latin typeface="나눔바른고딕"/>
                  <a:ea typeface="나눔바른고딕"/>
                </a:rPr>
                <a:t>아이디 찾기</a:t>
              </a:r>
              <a:endParaRPr lang="en-US" altLang="ko-KR" sz="1000">
                <a:latin typeface="나눔바른고딕"/>
                <a:ea typeface="나눔바른고딕"/>
              </a:endParaRP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1504600" y="3478116"/>
              <a:ext cx="1703942" cy="39394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 sz="1000">
                  <a:latin typeface="나눔바른고딕"/>
                  <a:ea typeface="나눔바른고딕"/>
                </a:rPr>
                <a:t>비밀번호 찾기</a:t>
              </a:r>
              <a:endParaRPr lang="en-US" altLang="ko-KR" sz="1000">
                <a:latin typeface="나눔바른고딕"/>
                <a:ea typeface="나눔바른고딕"/>
              </a:endParaRPr>
            </a:p>
          </p:txBody>
        </p:sp>
      </p:grpSp>
      <p:sp>
        <p:nvSpPr>
          <p:cNvPr id="51" name="TextBox 50"/>
          <p:cNvSpPr txBox="1"/>
          <p:nvPr/>
        </p:nvSpPr>
        <p:spPr>
          <a:xfrm>
            <a:off x="4380736" y="1772976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>
                <a:solidFill>
                  <a:srgbClr val="FF0000"/>
                </a:solidFill>
                <a:latin typeface="나눔바른고딕"/>
                <a:ea typeface="나눔바른고딕"/>
              </a:rPr>
              <a:t>③</a:t>
            </a:r>
            <a:endParaRPr lang="ko-KR" altLang="en-US" sz="2000"/>
          </a:p>
        </p:txBody>
      </p:sp>
      <p:sp>
        <p:nvSpPr>
          <p:cNvPr id="52" name="TextBox 51"/>
          <p:cNvSpPr txBox="1"/>
          <p:nvPr/>
        </p:nvSpPr>
        <p:spPr>
          <a:xfrm>
            <a:off x="226525" y="4294309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>
                <a:solidFill>
                  <a:srgbClr val="FF0000"/>
                </a:solidFill>
                <a:latin typeface="나눔바른고딕"/>
                <a:ea typeface="나눔바른고딕"/>
              </a:rPr>
              <a:t>②</a:t>
            </a:r>
            <a:endParaRPr lang="ko-KR" altLang="en-US" sz="2000"/>
          </a:p>
        </p:txBody>
      </p:sp>
      <p:sp>
        <p:nvSpPr>
          <p:cNvPr id="53" name="TextBox 52"/>
          <p:cNvSpPr txBox="1"/>
          <p:nvPr/>
        </p:nvSpPr>
        <p:spPr>
          <a:xfrm>
            <a:off x="236390" y="1766099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>
                <a:solidFill>
                  <a:srgbClr val="FF0000"/>
                </a:solidFill>
                <a:latin typeface="나눔바른고딕"/>
                <a:ea typeface="나눔바른고딕"/>
              </a:rPr>
              <a:t>①</a:t>
            </a:r>
            <a:endParaRPr lang="ko-KR" altLang="en-US" sz="2000"/>
          </a:p>
        </p:txBody>
      </p:sp>
      <p:grpSp>
        <p:nvGrpSpPr>
          <p:cNvPr id="24" name="그룹 23"/>
          <p:cNvGrpSpPr/>
          <p:nvPr/>
        </p:nvGrpSpPr>
        <p:grpSpPr>
          <a:xfrm>
            <a:off x="4665312" y="1877323"/>
            <a:ext cx="2348932" cy="3511556"/>
            <a:chOff x="2764683" y="548754"/>
            <a:chExt cx="2339129" cy="3554258"/>
          </a:xfrm>
        </p:grpSpPr>
        <p:sp>
          <p:nvSpPr>
            <p:cNvPr id="37" name="TextBox 36"/>
            <p:cNvSpPr txBox="1"/>
            <p:nvPr/>
          </p:nvSpPr>
          <p:spPr>
            <a:xfrm>
              <a:off x="2803176" y="982684"/>
              <a:ext cx="707614" cy="32643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아이디</a:t>
              </a:r>
              <a:endParaRPr lang="en-US" altLang="ko-KR">
                <a:latin typeface="나눔바른고딕"/>
                <a:ea typeface="나눔바른고딕"/>
              </a:endParaRPr>
            </a:p>
          </p:txBody>
        </p:sp>
        <p:sp>
          <p:nvSpPr>
            <p:cNvPr id="39" name="직사각형 38"/>
            <p:cNvSpPr/>
            <p:nvPr/>
          </p:nvSpPr>
          <p:spPr>
            <a:xfrm>
              <a:off x="2791671" y="548754"/>
              <a:ext cx="2312141" cy="3554258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>
                <a:latin typeface="나눔바른고딕"/>
                <a:ea typeface="나눔바른고딕"/>
              </a:endParaRP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3287302" y="608274"/>
              <a:ext cx="1320880" cy="32643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회원가입</a:t>
              </a:r>
            </a:p>
          </p:txBody>
        </p:sp>
        <p:sp>
          <p:nvSpPr>
            <p:cNvPr id="41" name="직사각형 40"/>
            <p:cNvSpPr/>
            <p:nvPr/>
          </p:nvSpPr>
          <p:spPr>
            <a:xfrm>
              <a:off x="3510790" y="994679"/>
              <a:ext cx="1320880" cy="28515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>
                <a:latin typeface="나눔바른고딕"/>
                <a:ea typeface="나눔바른고딕"/>
              </a:endParaRPr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3469530" y="3774002"/>
              <a:ext cx="956421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 sz="1300">
                  <a:latin typeface="나눔바른고딕"/>
                  <a:ea typeface="나눔바른고딕"/>
                </a:rPr>
                <a:t>가입하기</a:t>
              </a:r>
              <a:endParaRPr lang="en-US" altLang="ko-KR" sz="1300">
                <a:latin typeface="나눔바른고딕"/>
                <a:ea typeface="나눔바른고딕"/>
              </a:endParaRP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2769808" y="1315438"/>
              <a:ext cx="80770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비밀번호</a:t>
              </a:r>
              <a:endParaRPr lang="en-US" altLang="ko-KR">
                <a:latin typeface="나눔바른고딕"/>
                <a:ea typeface="나눔바른고딕"/>
              </a:endParaRPr>
            </a:p>
          </p:txBody>
        </p:sp>
        <p:sp>
          <p:nvSpPr>
            <p:cNvPr id="61" name="직사각형 60"/>
            <p:cNvSpPr/>
            <p:nvPr/>
          </p:nvSpPr>
          <p:spPr>
            <a:xfrm>
              <a:off x="3510790" y="1327433"/>
              <a:ext cx="1320880" cy="28515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>
                <a:latin typeface="나눔바른고딕"/>
                <a:ea typeface="나눔바른고딕"/>
              </a:endParaRP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2803176" y="1648069"/>
              <a:ext cx="707614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이름</a:t>
              </a:r>
              <a:endParaRPr lang="en-US" altLang="ko-KR">
                <a:latin typeface="나눔바른고딕"/>
                <a:ea typeface="나눔바른고딕"/>
              </a:endParaRPr>
            </a:p>
          </p:txBody>
        </p:sp>
        <p:sp>
          <p:nvSpPr>
            <p:cNvPr id="63" name="직사각형 62"/>
            <p:cNvSpPr/>
            <p:nvPr/>
          </p:nvSpPr>
          <p:spPr>
            <a:xfrm>
              <a:off x="3510790" y="1660064"/>
              <a:ext cx="1320880" cy="28515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>
                <a:latin typeface="나눔바른고딕"/>
                <a:ea typeface="나눔바른고딕"/>
              </a:endParaRPr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2803176" y="1980298"/>
              <a:ext cx="774334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생년월일</a:t>
              </a:r>
              <a:endParaRPr lang="en-US" altLang="ko-KR">
                <a:latin typeface="나눔바른고딕"/>
                <a:ea typeface="나눔바른고딕"/>
              </a:endParaRPr>
            </a:p>
          </p:txBody>
        </p:sp>
        <p:sp>
          <p:nvSpPr>
            <p:cNvPr id="65" name="직사각형 64"/>
            <p:cNvSpPr/>
            <p:nvPr/>
          </p:nvSpPr>
          <p:spPr>
            <a:xfrm>
              <a:off x="3510790" y="1992293"/>
              <a:ext cx="1320880" cy="28515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>
                <a:latin typeface="나눔바른고딕"/>
                <a:ea typeface="나눔바른고딕"/>
              </a:endParaRPr>
            </a:p>
          </p:txBody>
        </p:sp>
        <p:sp>
          <p:nvSpPr>
            <p:cNvPr id="66" name="TextBox 65"/>
            <p:cNvSpPr txBox="1"/>
            <p:nvPr/>
          </p:nvSpPr>
          <p:spPr>
            <a:xfrm>
              <a:off x="2803176" y="2323728"/>
              <a:ext cx="707614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이메일</a:t>
              </a:r>
              <a:endParaRPr lang="en-US" altLang="ko-KR">
                <a:latin typeface="나눔바른고딕"/>
                <a:ea typeface="나눔바른고딕"/>
              </a:endParaRPr>
            </a:p>
          </p:txBody>
        </p:sp>
        <p:sp>
          <p:nvSpPr>
            <p:cNvPr id="67" name="직사각형 66"/>
            <p:cNvSpPr/>
            <p:nvPr/>
          </p:nvSpPr>
          <p:spPr>
            <a:xfrm>
              <a:off x="3510790" y="2335723"/>
              <a:ext cx="1320880" cy="28515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>
                <a:latin typeface="나눔바른고딕"/>
                <a:ea typeface="나눔바른고딕"/>
              </a:endParaRPr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2803176" y="2694930"/>
              <a:ext cx="707614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주소</a:t>
              </a:r>
              <a:endParaRPr lang="en-US" altLang="ko-KR">
                <a:latin typeface="나눔바른고딕"/>
                <a:ea typeface="나눔바른고딕"/>
              </a:endParaRPr>
            </a:p>
          </p:txBody>
        </p:sp>
        <p:sp>
          <p:nvSpPr>
            <p:cNvPr id="69" name="직사각형 68"/>
            <p:cNvSpPr/>
            <p:nvPr/>
          </p:nvSpPr>
          <p:spPr>
            <a:xfrm>
              <a:off x="3510790" y="2686779"/>
              <a:ext cx="1320880" cy="28515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>
                <a:latin typeface="나눔바른고딕"/>
                <a:ea typeface="나눔바른고딕"/>
              </a:endParaRPr>
            </a:p>
          </p:txBody>
        </p:sp>
        <p:sp>
          <p:nvSpPr>
            <p:cNvPr id="70" name="TextBox 69"/>
            <p:cNvSpPr txBox="1"/>
            <p:nvPr/>
          </p:nvSpPr>
          <p:spPr>
            <a:xfrm>
              <a:off x="2764683" y="3346824"/>
              <a:ext cx="774334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전화번호</a:t>
              </a:r>
              <a:endParaRPr lang="en-US" altLang="ko-KR">
                <a:latin typeface="나눔바른고딕"/>
                <a:ea typeface="나눔바른고딕"/>
              </a:endParaRPr>
            </a:p>
          </p:txBody>
        </p:sp>
        <p:sp>
          <p:nvSpPr>
            <p:cNvPr id="71" name="직사각형 70"/>
            <p:cNvSpPr/>
            <p:nvPr/>
          </p:nvSpPr>
          <p:spPr>
            <a:xfrm>
              <a:off x="3510790" y="3027273"/>
              <a:ext cx="1320880" cy="28515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>
                <a:latin typeface="나눔바른고딕"/>
                <a:ea typeface="나눔바른고딕"/>
              </a:endParaRPr>
            </a:p>
          </p:txBody>
        </p:sp>
        <p:sp>
          <p:nvSpPr>
            <p:cNvPr id="72" name="직사각형 71"/>
            <p:cNvSpPr/>
            <p:nvPr/>
          </p:nvSpPr>
          <p:spPr>
            <a:xfrm>
              <a:off x="3510790" y="3352336"/>
              <a:ext cx="1320880" cy="28515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>
                <a:latin typeface="나눔바른고딕"/>
                <a:ea typeface="나눔바른고딕"/>
              </a:endParaRPr>
            </a:p>
          </p:txBody>
        </p:sp>
      </p:grpSp>
      <p:grpSp>
        <p:nvGrpSpPr>
          <p:cNvPr id="26" name="그룹 25"/>
          <p:cNvGrpSpPr/>
          <p:nvPr/>
        </p:nvGrpSpPr>
        <p:grpSpPr>
          <a:xfrm>
            <a:off x="804750" y="3431528"/>
            <a:ext cx="264216" cy="1040902"/>
            <a:chOff x="938207" y="3607156"/>
            <a:chExt cx="250384" cy="964041"/>
          </a:xfrm>
        </p:grpSpPr>
        <p:sp>
          <p:nvSpPr>
            <p:cNvPr id="84" name="화살표: 위쪽 83"/>
            <p:cNvSpPr/>
            <p:nvPr/>
          </p:nvSpPr>
          <p:spPr>
            <a:xfrm>
              <a:off x="938207" y="3607156"/>
              <a:ext cx="250384" cy="314934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>
                <a:latin typeface="나눔바른고딕"/>
                <a:ea typeface="나눔바른고딕"/>
              </a:endParaRPr>
            </a:p>
          </p:txBody>
        </p:sp>
        <p:cxnSp>
          <p:nvCxnSpPr>
            <p:cNvPr id="85" name="직선 화살표 연결선 84"/>
            <p:cNvCxnSpPr/>
            <p:nvPr/>
          </p:nvCxnSpPr>
          <p:spPr>
            <a:xfrm>
              <a:off x="1063399" y="3923351"/>
              <a:ext cx="0" cy="64784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그룹 24"/>
          <p:cNvGrpSpPr/>
          <p:nvPr/>
        </p:nvGrpSpPr>
        <p:grpSpPr>
          <a:xfrm>
            <a:off x="361849" y="4446537"/>
            <a:ext cx="2224026" cy="1862352"/>
            <a:chOff x="588243" y="4595612"/>
            <a:chExt cx="2224026" cy="1862352"/>
          </a:xfrm>
        </p:grpSpPr>
        <p:sp>
          <p:nvSpPr>
            <p:cNvPr id="9" name="직사각형 8"/>
            <p:cNvSpPr/>
            <p:nvPr/>
          </p:nvSpPr>
          <p:spPr>
            <a:xfrm>
              <a:off x="588243" y="4770771"/>
              <a:ext cx="2224026" cy="168719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vert="horz" wrap="square" lIns="89999" tIns="46800" rIns="89999" bIns="46800" anchor="t" anchorCtr="0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latinLnBrk="0" hangingPunct="0">
                <a:lnSpc>
                  <a:spcPct val="100000"/>
                </a:lnSpc>
                <a:spcBef>
                  <a:spcPct val="25000"/>
                </a:spcBef>
                <a:spcAft>
                  <a:spcPct val="25000"/>
                </a:spcAft>
                <a:buClr>
                  <a:schemeClr val="bg1"/>
                </a:buClr>
                <a:buFont typeface="Wingdings"/>
                <a:buNone/>
                <a:defRPr/>
              </a:pPr>
              <a:endParaRPr kumimoji="0" lang="ko-KR" altLang="en-US" sz="1200" b="0" i="0" u="none" strike="noStrike" cap="none" normalizeH="0" baseline="0">
                <a:solidFill>
                  <a:schemeClr val="tx1"/>
                </a:solidFill>
                <a:effectLst/>
                <a:latin typeface="Arial"/>
                <a:ea typeface="굴림"/>
              </a:endParaRPr>
            </a:p>
          </p:txBody>
        </p:sp>
        <p:sp>
          <p:nvSpPr>
            <p:cNvPr id="88" name="TextBox 87"/>
            <p:cNvSpPr txBox="1"/>
            <p:nvPr/>
          </p:nvSpPr>
          <p:spPr>
            <a:xfrm>
              <a:off x="635645" y="5040626"/>
              <a:ext cx="707614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이름</a:t>
              </a:r>
              <a:endParaRPr lang="en-US" altLang="ko-KR">
                <a:latin typeface="나눔바른고딕"/>
                <a:ea typeface="나눔바른고딕"/>
              </a:endParaRPr>
            </a:p>
          </p:txBody>
        </p:sp>
        <p:sp>
          <p:nvSpPr>
            <p:cNvPr id="89" name="직사각형 88"/>
            <p:cNvSpPr/>
            <p:nvPr/>
          </p:nvSpPr>
          <p:spPr>
            <a:xfrm>
              <a:off x="1337703" y="5041848"/>
              <a:ext cx="1320880" cy="28515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>
                <a:latin typeface="나눔바른고딕"/>
                <a:ea typeface="나눔바른고딕"/>
              </a:endParaRPr>
            </a:p>
          </p:txBody>
        </p:sp>
        <p:sp>
          <p:nvSpPr>
            <p:cNvPr id="90" name="TextBox 89"/>
            <p:cNvSpPr txBox="1"/>
            <p:nvPr/>
          </p:nvSpPr>
          <p:spPr>
            <a:xfrm>
              <a:off x="649082" y="5442175"/>
              <a:ext cx="774334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생년월일</a:t>
              </a:r>
              <a:endParaRPr lang="en-US" altLang="ko-KR">
                <a:latin typeface="나눔바른고딕"/>
                <a:ea typeface="나눔바른고딕"/>
              </a:endParaRPr>
            </a:p>
          </p:txBody>
        </p:sp>
        <p:sp>
          <p:nvSpPr>
            <p:cNvPr id="91" name="직사각형 90"/>
            <p:cNvSpPr/>
            <p:nvPr/>
          </p:nvSpPr>
          <p:spPr>
            <a:xfrm>
              <a:off x="1353896" y="5415076"/>
              <a:ext cx="1320880" cy="28515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>
                <a:latin typeface="나눔바른고딕"/>
                <a:ea typeface="나눔바른고딕"/>
              </a:endParaRPr>
            </a:p>
          </p:txBody>
        </p:sp>
        <p:sp>
          <p:nvSpPr>
            <p:cNvPr id="92" name="TextBox 91"/>
            <p:cNvSpPr txBox="1"/>
            <p:nvPr/>
          </p:nvSpPr>
          <p:spPr>
            <a:xfrm>
              <a:off x="611106" y="5803433"/>
              <a:ext cx="774334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전화번호</a:t>
              </a:r>
              <a:endParaRPr lang="en-US" altLang="ko-KR">
                <a:latin typeface="나눔바른고딕"/>
                <a:ea typeface="나눔바른고딕"/>
              </a:endParaRPr>
            </a:p>
          </p:txBody>
        </p:sp>
        <p:sp>
          <p:nvSpPr>
            <p:cNvPr id="93" name="직사각형 92"/>
            <p:cNvSpPr/>
            <p:nvPr/>
          </p:nvSpPr>
          <p:spPr>
            <a:xfrm>
              <a:off x="1353896" y="5788304"/>
              <a:ext cx="1320880" cy="28515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>
                <a:latin typeface="나눔바른고딕"/>
                <a:ea typeface="나눔바른고딕"/>
              </a:endParaRPr>
            </a:p>
          </p:txBody>
        </p:sp>
        <p:sp>
          <p:nvSpPr>
            <p:cNvPr id="86" name="TextBox 85"/>
            <p:cNvSpPr txBox="1"/>
            <p:nvPr/>
          </p:nvSpPr>
          <p:spPr>
            <a:xfrm>
              <a:off x="891044" y="4595612"/>
              <a:ext cx="1618423" cy="276999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solidFill>
                    <a:schemeClr val="bg1"/>
                  </a:solidFill>
                  <a:latin typeface="나눔바른고딕"/>
                  <a:ea typeface="나눔바른고딕"/>
                </a:rPr>
                <a:t>아이디</a:t>
              </a:r>
              <a:r>
                <a:rPr lang="en-US" altLang="ko-KR">
                  <a:solidFill>
                    <a:schemeClr val="bg1"/>
                  </a:solidFill>
                  <a:latin typeface="나눔바른고딕"/>
                  <a:ea typeface="나눔바른고딕"/>
                </a:rPr>
                <a:t>/</a:t>
              </a:r>
              <a:r>
                <a:rPr lang="ko-KR" altLang="en-US">
                  <a:solidFill>
                    <a:schemeClr val="bg1"/>
                  </a:solidFill>
                  <a:latin typeface="나눔바른고딕"/>
                  <a:ea typeface="나눔바른고딕"/>
                </a:rPr>
                <a:t>비밀번호 찾기</a:t>
              </a:r>
            </a:p>
          </p:txBody>
        </p:sp>
        <p:sp>
          <p:nvSpPr>
            <p:cNvPr id="94" name="TextBox 93"/>
            <p:cNvSpPr txBox="1"/>
            <p:nvPr/>
          </p:nvSpPr>
          <p:spPr>
            <a:xfrm>
              <a:off x="1200104" y="6176717"/>
              <a:ext cx="874965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확인</a:t>
              </a:r>
            </a:p>
          </p:txBody>
        </p:sp>
      </p:grpSp>
      <p:grpSp>
        <p:nvGrpSpPr>
          <p:cNvPr id="27" name="그룹 26"/>
          <p:cNvGrpSpPr/>
          <p:nvPr/>
        </p:nvGrpSpPr>
        <p:grpSpPr>
          <a:xfrm>
            <a:off x="2806282" y="4694419"/>
            <a:ext cx="2255450" cy="1862352"/>
            <a:chOff x="3080314" y="4595612"/>
            <a:chExt cx="2255450" cy="1862352"/>
          </a:xfrm>
        </p:grpSpPr>
        <p:sp>
          <p:nvSpPr>
            <p:cNvPr id="98" name="직사각형 97"/>
            <p:cNvSpPr/>
            <p:nvPr/>
          </p:nvSpPr>
          <p:spPr>
            <a:xfrm>
              <a:off x="3080314" y="4770771"/>
              <a:ext cx="2224026" cy="1687193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vert="horz" wrap="square" lIns="89999" tIns="46800" rIns="89999" bIns="46800" anchor="t" anchorCtr="0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latinLnBrk="0" hangingPunct="0">
                <a:lnSpc>
                  <a:spcPct val="100000"/>
                </a:lnSpc>
                <a:spcBef>
                  <a:spcPct val="25000"/>
                </a:spcBef>
                <a:spcAft>
                  <a:spcPct val="25000"/>
                </a:spcAft>
                <a:buClr>
                  <a:schemeClr val="bg1"/>
                </a:buClr>
                <a:buFont typeface="Wingdings"/>
                <a:buNone/>
                <a:defRPr/>
              </a:pPr>
              <a:endParaRPr kumimoji="0" lang="ko-KR" altLang="en-US" sz="1200" b="0" i="0" u="none" strike="noStrike" cap="none" normalizeH="0" baseline="0">
                <a:solidFill>
                  <a:schemeClr val="tx1"/>
                </a:solidFill>
                <a:effectLst/>
                <a:latin typeface="Arial"/>
                <a:ea typeface="굴림"/>
              </a:endParaRPr>
            </a:p>
          </p:txBody>
        </p:sp>
        <p:sp>
          <p:nvSpPr>
            <p:cNvPr id="99" name="TextBox 98"/>
            <p:cNvSpPr txBox="1"/>
            <p:nvPr/>
          </p:nvSpPr>
          <p:spPr>
            <a:xfrm>
              <a:off x="3383115" y="4595612"/>
              <a:ext cx="1618423" cy="276999"/>
            </a:xfrm>
            <a:prstGeom prst="rect">
              <a:avLst/>
            </a:prstGeom>
            <a:solidFill>
              <a:schemeClr val="accent1">
                <a:lumMod val="50000"/>
              </a:schemeClr>
            </a:solidFill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solidFill>
                    <a:schemeClr val="bg1"/>
                  </a:solidFill>
                  <a:latin typeface="나눔바른고딕"/>
                  <a:ea typeface="나눔바른고딕"/>
                </a:rPr>
                <a:t>회원가입 완료</a:t>
              </a:r>
            </a:p>
          </p:txBody>
        </p:sp>
        <p:sp>
          <p:nvSpPr>
            <p:cNvPr id="100" name="TextBox 99"/>
            <p:cNvSpPr txBox="1"/>
            <p:nvPr/>
          </p:nvSpPr>
          <p:spPr>
            <a:xfrm>
              <a:off x="3325609" y="6149692"/>
              <a:ext cx="874965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로그인</a:t>
              </a:r>
            </a:p>
          </p:txBody>
        </p:sp>
        <p:sp>
          <p:nvSpPr>
            <p:cNvPr id="101" name="TextBox 100"/>
            <p:cNvSpPr txBox="1"/>
            <p:nvPr/>
          </p:nvSpPr>
          <p:spPr>
            <a:xfrm>
              <a:off x="4075543" y="6149691"/>
              <a:ext cx="1040989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메인으로 이동</a:t>
              </a:r>
            </a:p>
          </p:txBody>
        </p:sp>
        <p:sp>
          <p:nvSpPr>
            <p:cNvPr id="102" name="TextBox 101"/>
            <p:cNvSpPr txBox="1"/>
            <p:nvPr/>
          </p:nvSpPr>
          <p:spPr>
            <a:xfrm>
              <a:off x="3155687" y="4953302"/>
              <a:ext cx="2180077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 sz="1300">
                  <a:latin typeface="나눔바른고딕"/>
                  <a:ea typeface="나눔바른고딕"/>
                </a:rPr>
                <a:t>회원가입이 완료 되었습니다</a:t>
              </a:r>
              <a:r>
                <a:rPr lang="en-US" altLang="ko-KR" sz="1300">
                  <a:latin typeface="나눔바른고딕"/>
                  <a:ea typeface="나눔바른고딕"/>
                </a:rPr>
                <a:t>.</a:t>
              </a:r>
              <a:endParaRPr lang="ko-KR" altLang="en-US" sz="1300">
                <a:latin typeface="나눔바른고딕"/>
                <a:ea typeface="나눔바른고딕"/>
              </a:endParaRPr>
            </a:p>
          </p:txBody>
        </p:sp>
        <p:sp>
          <p:nvSpPr>
            <p:cNvPr id="107" name="TextBox 106"/>
            <p:cNvSpPr txBox="1"/>
            <p:nvPr/>
          </p:nvSpPr>
          <p:spPr>
            <a:xfrm>
              <a:off x="3187111" y="5297866"/>
              <a:ext cx="613761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아이디</a:t>
              </a:r>
            </a:p>
          </p:txBody>
        </p:sp>
        <p:sp>
          <p:nvSpPr>
            <p:cNvPr id="108" name="TextBox 107"/>
            <p:cNvSpPr txBox="1"/>
            <p:nvPr/>
          </p:nvSpPr>
          <p:spPr>
            <a:xfrm>
              <a:off x="3187111" y="5626896"/>
              <a:ext cx="613761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이름</a:t>
              </a:r>
            </a:p>
          </p:txBody>
        </p:sp>
        <p:sp>
          <p:nvSpPr>
            <p:cNvPr id="110" name="직사각형 109"/>
            <p:cNvSpPr/>
            <p:nvPr/>
          </p:nvSpPr>
          <p:spPr>
            <a:xfrm>
              <a:off x="3751827" y="5274239"/>
              <a:ext cx="1173230" cy="272027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sp>
          <p:nvSpPr>
            <p:cNvPr id="111" name="직사각형 110"/>
            <p:cNvSpPr/>
            <p:nvPr/>
          </p:nvSpPr>
          <p:spPr>
            <a:xfrm>
              <a:off x="3751827" y="5618770"/>
              <a:ext cx="1173230" cy="272027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</p:grpSp>
      <p:sp>
        <p:nvSpPr>
          <p:cNvPr id="120" name="화살표: 오른쪽 119"/>
          <p:cNvSpPr/>
          <p:nvPr/>
        </p:nvSpPr>
        <p:spPr>
          <a:xfrm>
            <a:off x="4338178" y="2989458"/>
            <a:ext cx="360012" cy="257732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accent1">
              <a:lumMod val="60000"/>
              <a:lumOff val="40000"/>
            </a:schemeClr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non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endParaRPr kumimoji="0" lang="ko-KR" altLang="en-US" sz="12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cxnSp>
        <p:nvCxnSpPr>
          <p:cNvPr id="122" name="연결선: 꺾임 121"/>
          <p:cNvCxnSpPr>
            <a:stCxn id="120" idx="1"/>
          </p:cNvCxnSpPr>
          <p:nvPr/>
        </p:nvCxnSpPr>
        <p:spPr>
          <a:xfrm rot="10800000" flipV="1">
            <a:off x="3778192" y="3118324"/>
            <a:ext cx="559986" cy="1576096"/>
          </a:xfrm>
          <a:prstGeom prst="bentConnector2">
            <a:avLst/>
          </a:prstGeom>
          <a:solidFill>
            <a:schemeClr val="accent1"/>
          </a:solidFill>
          <a:ln w="9525" cap="flat" cmpd="sng" algn="ctr">
            <a:solidFill>
              <a:schemeClr val="accent5">
                <a:lumMod val="75000"/>
              </a:schemeClr>
            </a:solidFill>
            <a:prstDash val="solid"/>
            <a:round/>
            <a:tailEnd type="triangle"/>
          </a:ln>
          <a:effectLst/>
        </p:spPr>
      </p:cxnSp>
      <p:sp>
        <p:nvSpPr>
          <p:cNvPr id="74" name="Rectangle 94"/>
          <p:cNvSpPr txBox="1">
            <a:spLocks noChangeArrowheads="1"/>
          </p:cNvSpPr>
          <p:nvPr/>
        </p:nvSpPr>
        <p:spPr bwMode="auto"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1.1</a:t>
            </a:r>
            <a:r>
              <a:rPr kumimoji="0" lang="en-US" altLang="ko-KR" sz="1800" b="1" i="0" u="none" strike="noStrike" kern="0" cap="none" spc="0" normalizeH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ko-KR" altLang="en-US" sz="1800" b="1" i="0" u="none" strike="noStrike" kern="0" cap="none" spc="0" normalizeH="0" baseline="0" noProof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공통 화면</a:t>
            </a:r>
            <a:endParaRPr kumimoji="0" lang="ko-KR" altLang="en-US" sz="1800" b="1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4</a:t>
            </a:fld>
            <a:r>
              <a:rPr lang="en-US" altLang="ko-KR"/>
              <a:t> -</a:t>
            </a:r>
            <a:endParaRPr lang="ko-KR" altLang="ko-KR"/>
          </a:p>
        </p:txBody>
      </p:sp>
      <p:graphicFrame>
        <p:nvGraphicFramePr>
          <p:cNvPr id="3" name="표 4"/>
          <p:cNvGraphicFramePr>
            <a:graphicFrameLocks noGrp="1"/>
          </p:cNvGraphicFramePr>
          <p:nvPr/>
        </p:nvGraphicFramePr>
        <p:xfrm>
          <a:off x="560511" y="1052738"/>
          <a:ext cx="8928859" cy="5429409"/>
        </p:xfrm>
        <a:graphic>
          <a:graphicData uri="http://schemas.openxmlformats.org/drawingml/2006/table">
            <a:tbl>
              <a:tblPr/>
              <a:tblGrid>
                <a:gridCol w="9964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24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193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10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684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210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87221"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alt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I/</a:t>
                      </a: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O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한글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영문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필수여부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I/O </a:t>
                      </a: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유형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초기값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회원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ID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memberid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Param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회원비밀번호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memberPw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Param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회원이름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memberName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Param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회원생일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memberBirth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Param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회원이메일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memberMail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Param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회원주소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memberAddr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Param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등록일자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regDate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Param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회원번호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tel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param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8"/>
                  </a:ext>
                </a:extLst>
              </a:tr>
            </a:tbl>
          </a:graphicData>
        </a:graphic>
      </p:graphicFrame>
      <p:sp>
        <p:nvSpPr>
          <p:cNvPr id="5" name="직사각형 6"/>
          <p:cNvSpPr/>
          <p:nvPr/>
        </p:nvSpPr>
        <p:spPr>
          <a:xfrm>
            <a:off x="425987" y="703729"/>
            <a:ext cx="138691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b="1">
                <a:latin typeface="맑은 고딕"/>
                <a:ea typeface="맑은 고딕"/>
              </a:rPr>
              <a:t>* </a:t>
            </a:r>
            <a:r>
              <a:rPr lang="ko-KR" altLang="ko-KR" b="1">
                <a:latin typeface="맑은 고딕"/>
                <a:ea typeface="맑은 고딕"/>
              </a:rPr>
              <a:t>화면입출력정보</a:t>
            </a:r>
          </a:p>
        </p:txBody>
      </p:sp>
      <p:sp>
        <p:nvSpPr>
          <p:cNvPr id="9" name="Rectangle 3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2pPr>
            <a:lvl3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3pPr>
            <a:lvl4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4pPr>
            <a:lvl5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sp>
        <p:nvSpPr>
          <p:cNvPr id="7" name="Rectangle 94"/>
          <p:cNvSpPr txBox="1">
            <a:spLocks noChangeArrowheads="1"/>
          </p:cNvSpPr>
          <p:nvPr/>
        </p:nvSpPr>
        <p:spPr bwMode="auto"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marL="0" marR="0" lvl="0" indent="0" algn="r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1.1</a:t>
            </a:r>
            <a:r>
              <a:rPr kumimoji="0" lang="en-US" altLang="ko-KR" sz="1800" b="1" i="0" u="none" strike="noStrike" kern="0" cap="none" spc="0" normalizeH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ko-KR" altLang="en-US" sz="1800" b="1" i="0" u="none" strike="noStrike" kern="0" cap="none" spc="0" normalizeH="0" baseline="0" noProof="0" dirty="0" smtClean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공통 화면</a:t>
            </a:r>
            <a:endParaRPr kumimoji="0" lang="ko-KR" altLang="en-US" sz="1800" b="1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xfrm>
            <a:off x="3872880" y="6671742"/>
            <a:ext cx="2063750" cy="213642"/>
          </a:xfrm>
        </p:spPr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5</a:t>
            </a:fld>
            <a:r>
              <a:rPr lang="en-US" altLang="ko-KR"/>
              <a:t> -</a:t>
            </a:r>
            <a:endParaRPr lang="ko-KR" altLang="ko-KR"/>
          </a:p>
        </p:txBody>
      </p:sp>
      <p:sp>
        <p:nvSpPr>
          <p:cNvPr id="3" name="Rectangle 94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sp>
        <p:nvSpPr>
          <p:cNvPr id="4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1.2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ko-KR" altLang="en-US" sz="1800" b="1" i="0" u="none" strike="noStrike" kern="0" cap="none" spc="0" normalizeH="0" baseline="0" dirty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일반 회원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graphicFrame>
        <p:nvGraphicFramePr>
          <p:cNvPr id="5" name="Group 3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3819806"/>
              </p:ext>
            </p:extLst>
          </p:nvPr>
        </p:nvGraphicFramePr>
        <p:xfrm>
          <a:off x="315913" y="747145"/>
          <a:ext cx="9272587" cy="5876622"/>
        </p:xfrm>
        <a:graphic>
          <a:graphicData uri="http://schemas.openxmlformats.org/drawingml/2006/table">
            <a:tbl>
              <a:tblPr/>
              <a:tblGrid>
                <a:gridCol w="96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718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6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36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752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7772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Level1</a:t>
                      </a:r>
                      <a:endParaRPr kumimoji="0" lang="en-US" altLang="ko-KR" sz="1000" b="1" i="0" u="none" strike="noStrike" cap="none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주류 유통 관리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Level2</a:t>
                      </a:r>
                      <a:endParaRPr kumimoji="0" lang="en-US" altLang="ko-KR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0" fontAlgn="auto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일반 회원 화면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5151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</a:t>
                      </a:r>
                      <a:r>
                        <a:rPr kumimoji="0" lang="en-US" altLang="ko-KR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ID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4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Wingdings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UI_PD4_013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일반 회원 마이 </a:t>
                      </a: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페이지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4756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화면개요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일반 회원의 마이페이지 화면이다</a:t>
                      </a:r>
                      <a:r>
                        <a:rPr kumimoji="0" lang="en-US" altLang="ko-KR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  <a:endParaRPr kumimoji="0" lang="ko-KR" altLang="en-US" sz="1000" b="0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811">
                <a:tc rowSpan="2"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en-US" altLang="ko-KR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en-US" altLang="ko-KR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설명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31132">
                <a:tc gridSpan="4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marL="266700" marR="0" lvl="0" indent="-2667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일반 회원과 관리자를 구분할 수 있다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주문 내역 목록으로 이동하고 상품을 누르면 상품 상세보기로 넘어간다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 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또 배송조회와 취소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/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환불이 가능한 페이지로 이동할 수 있다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 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처리여부 확인 후에 이메일이 전송된다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회원 정보 수정 페이지로 넘어간다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작성 가능 리뷰와 작성한 리뷰를 볼 수 있는 페이지로 이동한다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 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작성 가능 리뷰를 누르면 리뷰를 등록할 수 있는 페이지로 넘어가고 작성한 리뷰를 누르면 리뷰 수정 페이지로 넘어간다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 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리뷰를 쓴 상품 사진을 누르면 상품 상세보기 페이지로 이동할 수 있다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결제 수단 등록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/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수정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/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삭제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 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페이지로 넘어간다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 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등록을 다 하고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(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등록 하지 않고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)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 나서는 이전 페이지로 돌아간다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FAQ, Q&amp;A, 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상담원 연결 페이지로 넘어간다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 Q&amp;A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의 경우 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Q&amp;A 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등록과 내 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Q&amp;A 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페이지로 이동한다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 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내 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Q&amp;A 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페이지에서는 수정과 삭제가 가능하다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 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1085870" y="3029444"/>
            <a:ext cx="8278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800" b="1">
                <a:latin typeface="나눔바른고딕"/>
                <a:ea typeface="나눔바른고딕"/>
              </a:rPr>
              <a:t>order</a:t>
            </a:r>
            <a:endParaRPr lang="ko-KR" altLang="en-US" sz="1800" b="1">
              <a:latin typeface="나눔바른고딕"/>
              <a:ea typeface="나눔바른고딕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262025" y="4188772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>
                <a:solidFill>
                  <a:srgbClr val="FF0000"/>
                </a:solidFill>
                <a:latin typeface="나눔바른고딕"/>
                <a:ea typeface="나눔바른고딕"/>
              </a:rPr>
              <a:t>④</a:t>
            </a:r>
            <a:endParaRPr lang="ko-KR" altLang="en-US" sz="2000"/>
          </a:p>
        </p:txBody>
      </p:sp>
      <p:sp>
        <p:nvSpPr>
          <p:cNvPr id="31" name="TextBox 30"/>
          <p:cNvSpPr txBox="1"/>
          <p:nvPr/>
        </p:nvSpPr>
        <p:spPr>
          <a:xfrm>
            <a:off x="242730" y="4870657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>
                <a:solidFill>
                  <a:srgbClr val="FF0000"/>
                </a:solidFill>
                <a:latin typeface="나눔바른고딕"/>
                <a:ea typeface="나눔바른고딕"/>
              </a:rPr>
              <a:t>⑤</a:t>
            </a:r>
            <a:endParaRPr lang="ko-KR" altLang="en-US" sz="2000"/>
          </a:p>
        </p:txBody>
      </p:sp>
      <p:sp>
        <p:nvSpPr>
          <p:cNvPr id="32" name="TextBox 31"/>
          <p:cNvSpPr txBox="1"/>
          <p:nvPr/>
        </p:nvSpPr>
        <p:spPr>
          <a:xfrm>
            <a:off x="256628" y="3616352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>
                <a:solidFill>
                  <a:srgbClr val="FF0000"/>
                </a:solidFill>
                <a:latin typeface="나눔바른고딕"/>
                <a:ea typeface="나눔바른고딕"/>
              </a:rPr>
              <a:t>③</a:t>
            </a:r>
            <a:endParaRPr lang="ko-KR" altLang="en-US" sz="2000"/>
          </a:p>
        </p:txBody>
      </p:sp>
      <p:sp>
        <p:nvSpPr>
          <p:cNvPr id="33" name="TextBox 32"/>
          <p:cNvSpPr txBox="1"/>
          <p:nvPr/>
        </p:nvSpPr>
        <p:spPr>
          <a:xfrm>
            <a:off x="247795" y="2903496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>
                <a:solidFill>
                  <a:srgbClr val="FF0000"/>
                </a:solidFill>
                <a:latin typeface="나눔바른고딕"/>
                <a:ea typeface="나눔바른고딕"/>
              </a:rPr>
              <a:t>②</a:t>
            </a:r>
            <a:endParaRPr lang="ko-KR" altLang="en-US" sz="2000"/>
          </a:p>
        </p:txBody>
      </p:sp>
      <p:sp>
        <p:nvSpPr>
          <p:cNvPr id="35" name="TextBox 34"/>
          <p:cNvSpPr txBox="1"/>
          <p:nvPr/>
        </p:nvSpPr>
        <p:spPr>
          <a:xfrm>
            <a:off x="231716" y="5546849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>
                <a:solidFill>
                  <a:srgbClr val="FF0000"/>
                </a:solidFill>
                <a:latin typeface="나눔바른고딕"/>
                <a:ea typeface="나눔바른고딕"/>
              </a:rPr>
              <a:t>⑥</a:t>
            </a:r>
            <a:endParaRPr lang="ko-KR" altLang="en-US" sz="2000"/>
          </a:p>
        </p:txBody>
      </p:sp>
      <p:sp>
        <p:nvSpPr>
          <p:cNvPr id="23" name="직사각형 22"/>
          <p:cNvSpPr/>
          <p:nvPr/>
        </p:nvSpPr>
        <p:spPr>
          <a:xfrm>
            <a:off x="416497" y="1916832"/>
            <a:ext cx="1080120" cy="2880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>
                <a:solidFill>
                  <a:schemeClr val="tx1"/>
                </a:solidFill>
                <a:latin typeface="나눔바른고딕"/>
                <a:ea typeface="나눔바른고딕"/>
              </a:rPr>
              <a:t>마이 페이지</a:t>
            </a:r>
          </a:p>
        </p:txBody>
      </p:sp>
      <p:sp>
        <p:nvSpPr>
          <p:cNvPr id="6" name="직사각형 5"/>
          <p:cNvSpPr/>
          <p:nvPr/>
        </p:nvSpPr>
        <p:spPr>
          <a:xfrm>
            <a:off x="393796" y="2282476"/>
            <a:ext cx="6624735" cy="576064"/>
          </a:xfrm>
          <a:prstGeom prst="rect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non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endParaRPr kumimoji="0" lang="ko-KR" altLang="en-US" sz="12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028366" y="2406556"/>
            <a:ext cx="2816087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500">
                <a:latin typeface="나눔바른고딕"/>
                <a:ea typeface="나눔바른고딕"/>
              </a:rPr>
              <a:t>ㅇㅇㅇ 님은 </a:t>
            </a:r>
            <a:r>
              <a:rPr lang="en-US" altLang="ko-KR" sz="1500">
                <a:latin typeface="나눔바른고딕"/>
                <a:ea typeface="나눔바른고딕"/>
              </a:rPr>
              <a:t>[</a:t>
            </a:r>
            <a:r>
              <a:rPr lang="ko-KR" altLang="en-US" sz="1500">
                <a:latin typeface="나눔바른고딕"/>
                <a:ea typeface="나눔바른고딕"/>
              </a:rPr>
              <a:t>일반회원</a:t>
            </a:r>
            <a:r>
              <a:rPr lang="en-US" altLang="ko-KR" sz="1500">
                <a:latin typeface="나눔바른고딕"/>
                <a:ea typeface="나눔바른고딕"/>
              </a:rPr>
              <a:t>] </a:t>
            </a:r>
            <a:r>
              <a:rPr lang="ko-KR" altLang="en-US" sz="1500">
                <a:latin typeface="나눔바른고딕"/>
                <a:ea typeface="나눔바른고딕"/>
              </a:rPr>
              <a:t>이십니다</a:t>
            </a:r>
            <a:r>
              <a:rPr lang="en-US" altLang="ko-KR" sz="1500">
                <a:latin typeface="나눔바른고딕"/>
                <a:ea typeface="나눔바른고딕"/>
              </a:rPr>
              <a:t>.</a:t>
            </a:r>
            <a:endParaRPr lang="ko-KR" altLang="en-US" sz="1500">
              <a:latin typeface="나눔바른고딕"/>
              <a:ea typeface="나눔바른고딕"/>
            </a:endParaRPr>
          </a:p>
        </p:txBody>
      </p:sp>
      <p:pic>
        <p:nvPicPr>
          <p:cNvPr id="8" name="그림 7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71732" y="2323359"/>
            <a:ext cx="489561" cy="489561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041439" y="2418187"/>
            <a:ext cx="780105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500">
                <a:latin typeface="나눔바른고딕"/>
                <a:ea typeface="나눔바른고딕"/>
              </a:rPr>
              <a:t>포인트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22836" y="2429638"/>
            <a:ext cx="78010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>
                <a:latin typeface="나눔바른고딕"/>
                <a:ea typeface="나눔바른고딕"/>
              </a:rPr>
              <a:t>---</a:t>
            </a:r>
            <a:r>
              <a:rPr lang="ko-KR" altLang="en-US">
                <a:latin typeface="나눔바른고딕"/>
                <a:ea typeface="나눔바른고딕"/>
              </a:rPr>
              <a:t>원</a:t>
            </a:r>
          </a:p>
        </p:txBody>
      </p:sp>
      <p:sp>
        <p:nvSpPr>
          <p:cNvPr id="26" name="직사각형 25"/>
          <p:cNvSpPr/>
          <p:nvPr/>
        </p:nvSpPr>
        <p:spPr>
          <a:xfrm>
            <a:off x="6402941" y="2439668"/>
            <a:ext cx="561381" cy="26696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>
                <a:solidFill>
                  <a:schemeClr val="tx1"/>
                </a:solidFill>
                <a:latin typeface="나눔바른고딕"/>
                <a:ea typeface="나눔바른고딕"/>
              </a:rPr>
              <a:t>조회</a:t>
            </a:r>
          </a:p>
        </p:txBody>
      </p:sp>
      <p:cxnSp>
        <p:nvCxnSpPr>
          <p:cNvPr id="10" name="직선 연결선 9"/>
          <p:cNvCxnSpPr/>
          <p:nvPr/>
        </p:nvCxnSpPr>
        <p:spPr>
          <a:xfrm>
            <a:off x="459868" y="2971969"/>
            <a:ext cx="6492590" cy="0"/>
          </a:xfrm>
          <a:prstGeom prst="line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37" name="TextBox 36"/>
          <p:cNvSpPr txBox="1"/>
          <p:nvPr/>
        </p:nvSpPr>
        <p:spPr>
          <a:xfrm>
            <a:off x="1757841" y="3075358"/>
            <a:ext cx="126531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주문</a:t>
            </a:r>
            <a:r>
              <a:rPr lang="en-US" altLang="ko-KR">
                <a:latin typeface="나눔바른고딕"/>
                <a:ea typeface="나눔바른고딕"/>
              </a:rPr>
              <a:t>/</a:t>
            </a:r>
            <a:r>
              <a:rPr lang="ko-KR" altLang="en-US">
                <a:latin typeface="나눔바른고딕"/>
                <a:ea typeface="나눔바른고딕"/>
              </a:rPr>
              <a:t>배송 조회</a:t>
            </a:r>
          </a:p>
        </p:txBody>
      </p:sp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609132" y="3046563"/>
            <a:ext cx="598441" cy="598441"/>
          </a:xfrm>
          <a:prstGeom prst="rect">
            <a:avLst/>
          </a:prstGeom>
        </p:spPr>
      </p:pic>
      <p:pic>
        <p:nvPicPr>
          <p:cNvPr id="14" name="그림 13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 flipH="1">
            <a:off x="566140" y="4953073"/>
            <a:ext cx="540549" cy="540549"/>
          </a:xfrm>
          <a:prstGeom prst="rect">
            <a:avLst/>
          </a:prstGeom>
        </p:spPr>
      </p:pic>
      <p:pic>
        <p:nvPicPr>
          <p:cNvPr id="20" name="그림 19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 flipH="1">
            <a:off x="599006" y="3674528"/>
            <a:ext cx="549647" cy="549647"/>
          </a:xfrm>
          <a:prstGeom prst="rect">
            <a:avLst/>
          </a:prstGeom>
        </p:spPr>
      </p:pic>
      <p:pic>
        <p:nvPicPr>
          <p:cNvPr id="38" name="그림 37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624726" y="4314629"/>
            <a:ext cx="534550" cy="534550"/>
          </a:xfrm>
          <a:prstGeom prst="rect">
            <a:avLst/>
          </a:prstGeom>
        </p:spPr>
      </p:pic>
      <p:cxnSp>
        <p:nvCxnSpPr>
          <p:cNvPr id="41" name="직선 연결선 40"/>
          <p:cNvCxnSpPr/>
          <p:nvPr/>
        </p:nvCxnSpPr>
        <p:spPr>
          <a:xfrm>
            <a:off x="439339" y="3687158"/>
            <a:ext cx="6492590" cy="0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42" name="TextBox 41"/>
          <p:cNvSpPr txBox="1"/>
          <p:nvPr/>
        </p:nvSpPr>
        <p:spPr>
          <a:xfrm>
            <a:off x="1099871" y="3712915"/>
            <a:ext cx="9215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800" b="1">
                <a:latin typeface="나눔바른고딕"/>
                <a:ea typeface="나눔바른고딕"/>
              </a:rPr>
              <a:t>profile</a:t>
            </a:r>
            <a:endParaRPr lang="ko-KR" altLang="en-US" sz="1800" b="1">
              <a:latin typeface="나눔바른고딕"/>
              <a:ea typeface="나눔바른고딕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1903266" y="3760006"/>
            <a:ext cx="92159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회원 정보</a:t>
            </a:r>
          </a:p>
        </p:txBody>
      </p:sp>
      <p:sp>
        <p:nvSpPr>
          <p:cNvPr id="44" name="순서도: 추출 43"/>
          <p:cNvSpPr/>
          <p:nvPr/>
        </p:nvSpPr>
        <p:spPr>
          <a:xfrm rot="5400000">
            <a:off x="6791118" y="3175591"/>
            <a:ext cx="179011" cy="141806"/>
          </a:xfrm>
          <a:prstGeom prst="flowChartExtract">
            <a:avLst/>
          </a:prstGeom>
          <a:solidFill>
            <a:schemeClr val="tx1"/>
          </a:solidFill>
          <a:ln w="317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squar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endParaRPr kumimoji="0" lang="ko-KR" altLang="en-US" sz="12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sp>
        <p:nvSpPr>
          <p:cNvPr id="45" name="순서도: 추출 44"/>
          <p:cNvSpPr/>
          <p:nvPr/>
        </p:nvSpPr>
        <p:spPr>
          <a:xfrm rot="5400000">
            <a:off x="6791118" y="3795348"/>
            <a:ext cx="179011" cy="141806"/>
          </a:xfrm>
          <a:prstGeom prst="flowChartExtract">
            <a:avLst/>
          </a:prstGeom>
          <a:solidFill>
            <a:schemeClr val="tx1"/>
          </a:solidFill>
          <a:ln w="317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squar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endParaRPr kumimoji="0" lang="ko-KR" altLang="en-US" sz="12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cxnSp>
        <p:nvCxnSpPr>
          <p:cNvPr id="46" name="직선 연결선 45"/>
          <p:cNvCxnSpPr/>
          <p:nvPr/>
        </p:nvCxnSpPr>
        <p:spPr>
          <a:xfrm>
            <a:off x="459868" y="4230745"/>
            <a:ext cx="6492590" cy="0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47" name="순서도: 추출 46"/>
          <p:cNvSpPr/>
          <p:nvPr/>
        </p:nvSpPr>
        <p:spPr>
          <a:xfrm rot="5400000">
            <a:off x="6770706" y="4416127"/>
            <a:ext cx="179011" cy="141806"/>
          </a:xfrm>
          <a:prstGeom prst="flowChartExtract">
            <a:avLst/>
          </a:prstGeom>
          <a:solidFill>
            <a:schemeClr val="tx1"/>
          </a:solidFill>
          <a:ln w="317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squar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endParaRPr kumimoji="0" lang="ko-KR" altLang="en-US" sz="12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1123227" y="4326303"/>
            <a:ext cx="92159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800" b="1">
                <a:latin typeface="나눔바른고딕"/>
                <a:ea typeface="나눔바른고딕"/>
              </a:rPr>
              <a:t>board</a:t>
            </a:r>
            <a:endParaRPr lang="ko-KR" altLang="en-US" sz="1800" b="1">
              <a:latin typeface="나눔바른고딕"/>
              <a:ea typeface="나눔바른고딕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1877228" y="4334133"/>
            <a:ext cx="92159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리뷰 관리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89998" y="4974929"/>
            <a:ext cx="1116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800" b="1">
                <a:latin typeface="나눔바른고딕"/>
                <a:ea typeface="나눔바른고딕"/>
              </a:rPr>
              <a:t>payment</a:t>
            </a:r>
            <a:endParaRPr lang="ko-KR" altLang="en-US" sz="1800" b="1">
              <a:latin typeface="나눔바른고딕"/>
              <a:ea typeface="나눔바른고딕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2183593" y="5023540"/>
            <a:ext cx="111608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결제 수단 관리</a:t>
            </a:r>
          </a:p>
        </p:txBody>
      </p:sp>
      <p:cxnSp>
        <p:nvCxnSpPr>
          <p:cNvPr id="55" name="직선 연결선 54"/>
          <p:cNvCxnSpPr/>
          <p:nvPr/>
        </p:nvCxnSpPr>
        <p:spPr>
          <a:xfrm>
            <a:off x="471732" y="4918285"/>
            <a:ext cx="6492590" cy="0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chemeClr val="tx1"/>
            </a:solidFill>
            <a:prstDash val="solid"/>
            <a:round/>
          </a:ln>
          <a:effectLst/>
        </p:spPr>
      </p:cxnSp>
      <p:pic>
        <p:nvPicPr>
          <p:cNvPr id="57" name="그림 56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513555" y="5573436"/>
            <a:ext cx="645721" cy="645721"/>
          </a:xfrm>
          <a:prstGeom prst="rect">
            <a:avLst/>
          </a:prstGeom>
        </p:spPr>
      </p:pic>
      <p:cxnSp>
        <p:nvCxnSpPr>
          <p:cNvPr id="58" name="직선 연결선 57"/>
          <p:cNvCxnSpPr/>
          <p:nvPr/>
        </p:nvCxnSpPr>
        <p:spPr>
          <a:xfrm>
            <a:off x="449853" y="5589240"/>
            <a:ext cx="6492590" cy="0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59" name="TextBox 58"/>
          <p:cNvSpPr txBox="1"/>
          <p:nvPr/>
        </p:nvSpPr>
        <p:spPr>
          <a:xfrm>
            <a:off x="963315" y="5651846"/>
            <a:ext cx="187990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800" b="1">
                <a:latin typeface="나눔바른고딕"/>
                <a:ea typeface="나눔바른고딕"/>
              </a:rPr>
              <a:t>Service center</a:t>
            </a:r>
            <a:endParaRPr lang="ko-KR" altLang="en-US" sz="1800" b="1">
              <a:latin typeface="나눔바른고딕"/>
              <a:ea typeface="나눔바른고딕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2667725" y="5699698"/>
            <a:ext cx="85799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고객 센터</a:t>
            </a:r>
          </a:p>
        </p:txBody>
      </p:sp>
      <p:sp>
        <p:nvSpPr>
          <p:cNvPr id="62" name="순서도: 추출 61"/>
          <p:cNvSpPr/>
          <p:nvPr/>
        </p:nvSpPr>
        <p:spPr>
          <a:xfrm rot="5400000">
            <a:off x="6791118" y="5082518"/>
            <a:ext cx="179011" cy="141806"/>
          </a:xfrm>
          <a:prstGeom prst="flowChartExtract">
            <a:avLst/>
          </a:prstGeom>
          <a:solidFill>
            <a:schemeClr val="tx1"/>
          </a:solidFill>
          <a:ln w="317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squar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endParaRPr kumimoji="0" lang="ko-KR" altLang="en-US" sz="12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sp>
        <p:nvSpPr>
          <p:cNvPr id="63" name="순서도: 추출 62"/>
          <p:cNvSpPr/>
          <p:nvPr/>
        </p:nvSpPr>
        <p:spPr>
          <a:xfrm rot="5400000">
            <a:off x="6780754" y="5732621"/>
            <a:ext cx="179011" cy="141806"/>
          </a:xfrm>
          <a:prstGeom prst="flowChartExtract">
            <a:avLst/>
          </a:prstGeom>
          <a:solidFill>
            <a:schemeClr val="tx1"/>
          </a:solidFill>
          <a:ln w="317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squar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endParaRPr kumimoji="0" lang="ko-KR" altLang="en-US" sz="12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295882" y="2197382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>
                <a:solidFill>
                  <a:srgbClr val="FF0000"/>
                </a:solidFill>
                <a:latin typeface="나눔바른고딕"/>
                <a:ea typeface="나눔바른고딕"/>
              </a:rPr>
              <a:t>①</a:t>
            </a:r>
            <a:endParaRPr lang="ko-KR" altLang="en-US" sz="200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6</a:t>
            </a:fld>
            <a:r>
              <a:rPr lang="en-US" altLang="ko-KR"/>
              <a:t> -</a:t>
            </a:r>
          </a:p>
        </p:txBody>
      </p:sp>
      <p:graphicFrame>
        <p:nvGraphicFramePr>
          <p:cNvPr id="3" name="표 4"/>
          <p:cNvGraphicFramePr>
            <a:graphicFrameLocks noGrp="1"/>
          </p:cNvGraphicFramePr>
          <p:nvPr/>
        </p:nvGraphicFramePr>
        <p:xfrm>
          <a:off x="560511" y="1052738"/>
          <a:ext cx="8928992" cy="5429409"/>
        </p:xfrm>
        <a:graphic>
          <a:graphicData uri="http://schemas.openxmlformats.org/drawingml/2006/table">
            <a:tbl>
              <a:tblPr/>
              <a:tblGrid>
                <a:gridCol w="9964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24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10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10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684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49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87221"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alt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I/</a:t>
                      </a: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O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한글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영문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필수여부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I/O </a:t>
                      </a: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유형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초기값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회원이름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member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Name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포인트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point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 dirty="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8"/>
                  </a:ext>
                </a:extLst>
              </a:tr>
            </a:tbl>
          </a:graphicData>
        </a:graphic>
      </p:graphicFrame>
      <p:sp>
        <p:nvSpPr>
          <p:cNvPr id="5" name="직사각형 6"/>
          <p:cNvSpPr/>
          <p:nvPr/>
        </p:nvSpPr>
        <p:spPr>
          <a:xfrm>
            <a:off x="425987" y="703729"/>
            <a:ext cx="138691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b="1">
                <a:latin typeface="맑은 고딕"/>
                <a:ea typeface="맑은 고딕"/>
              </a:rPr>
              <a:t>* </a:t>
            </a:r>
            <a:r>
              <a:rPr lang="ko-KR" altLang="ko-KR" b="1">
                <a:latin typeface="맑은 고딕"/>
                <a:ea typeface="맑은 고딕"/>
              </a:rPr>
              <a:t>화면입출력정보</a:t>
            </a:r>
          </a:p>
        </p:txBody>
      </p:sp>
      <p:sp>
        <p:nvSpPr>
          <p:cNvPr id="9" name="Rectangle 3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2pPr>
            <a:lvl3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3pPr>
            <a:lvl4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4pPr>
            <a:lvl5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sp>
        <p:nvSpPr>
          <p:cNvPr id="7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1.2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ko-KR" altLang="en-US" sz="1800" b="1" i="0" u="none" strike="noStrike" kern="0" cap="none" spc="0" normalizeH="0" baseline="0" dirty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일반 회원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xfrm>
            <a:off x="3872880" y="6671742"/>
            <a:ext cx="2063750" cy="213642"/>
          </a:xfrm>
        </p:spPr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7</a:t>
            </a:fld>
            <a:r>
              <a:rPr lang="en-US" altLang="ko-KR"/>
              <a:t> -</a:t>
            </a:r>
          </a:p>
        </p:txBody>
      </p:sp>
      <p:sp>
        <p:nvSpPr>
          <p:cNvPr id="3" name="Rectangle 94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graphicFrame>
        <p:nvGraphicFramePr>
          <p:cNvPr id="5" name="Group 3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90792189"/>
              </p:ext>
            </p:extLst>
          </p:nvPr>
        </p:nvGraphicFramePr>
        <p:xfrm>
          <a:off x="315913" y="747145"/>
          <a:ext cx="9272587" cy="5876622"/>
        </p:xfrm>
        <a:graphic>
          <a:graphicData uri="http://schemas.openxmlformats.org/drawingml/2006/table">
            <a:tbl>
              <a:tblPr/>
              <a:tblGrid>
                <a:gridCol w="96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718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6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36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752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7772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Level1</a:t>
                      </a:r>
                      <a:endParaRPr kumimoji="0" lang="en-US" altLang="ko-KR" sz="1000" b="1" i="0" u="none" strike="noStrike" cap="none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주류 유통 관리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Level2</a:t>
                      </a:r>
                      <a:endParaRPr kumimoji="0" lang="en-US" altLang="ko-KR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일반 회원 화면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5151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</a:t>
                      </a:r>
                      <a:r>
                        <a:rPr kumimoji="0" lang="en-US" altLang="ko-KR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ID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4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Wingdings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UI_PD4_014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일반회원 주문</a:t>
                      </a:r>
                      <a:r>
                        <a:rPr lang="en-US" altLang="ko-KR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/</a:t>
                      </a: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배송 조회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4756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화면개요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주문</a:t>
                      </a:r>
                      <a:r>
                        <a:rPr kumimoji="0" lang="en-US" altLang="ko-KR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/ </a:t>
                      </a:r>
                      <a:r>
                        <a:rPr kumimoji="0" lang="ko-KR" altLang="en-US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배송 조회 페이지이다</a:t>
                      </a:r>
                      <a:r>
                        <a:rPr kumimoji="0" lang="en-US" altLang="ko-KR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  <a:endParaRPr kumimoji="0" lang="ko-KR" altLang="en-US" sz="1000" b="0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811">
                <a:tc rowSpan="2"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설명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31132">
                <a:tc gridSpan="4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marL="266700" marR="0" lvl="0" indent="-2667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검색어와 카테고리로 주문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/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배송 정보를 조회할 수 있다</a:t>
                      </a:r>
                      <a:endParaRPr kumimoji="0" lang="en-US" altLang="ko-KR" sz="1000" b="1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검색을 누르면 정보가 일치하는 주문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/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배송 정보가 페이지에 나타난다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 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초기화를 누를 시 검색어와 카테고리를 선택했던 것이 선택 되어 있지 않은 상태로 돌아간다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주문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/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배송 정보 목록이 나온다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  <a:endParaRPr kumimoji="0" lang="en-US" altLang="ko-KR" sz="1000" b="1" i="0" u="none" strike="noStrike" cap="none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44642" y="3175804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③</a:t>
            </a:r>
            <a:endParaRPr lang="ko-KR" altLang="en-US" sz="2000" dirty="0"/>
          </a:p>
        </p:txBody>
      </p:sp>
      <p:sp>
        <p:nvSpPr>
          <p:cNvPr id="33" name="TextBox 32"/>
          <p:cNvSpPr txBox="1"/>
          <p:nvPr/>
        </p:nvSpPr>
        <p:spPr>
          <a:xfrm>
            <a:off x="2402418" y="2925869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②</a:t>
            </a:r>
            <a:endParaRPr lang="ko-KR" altLang="en-US" sz="2000" dirty="0"/>
          </a:p>
        </p:txBody>
      </p:sp>
      <p:sp>
        <p:nvSpPr>
          <p:cNvPr id="34" name="TextBox 33"/>
          <p:cNvSpPr txBox="1"/>
          <p:nvPr/>
        </p:nvSpPr>
        <p:spPr>
          <a:xfrm>
            <a:off x="200819" y="1940169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>
                <a:solidFill>
                  <a:srgbClr val="FF0000"/>
                </a:solidFill>
                <a:latin typeface="나눔바른고딕"/>
                <a:ea typeface="나눔바른고딕"/>
              </a:rPr>
              <a:t>①</a:t>
            </a:r>
            <a:endParaRPr lang="ko-KR" altLang="en-US" sz="2000"/>
          </a:p>
        </p:txBody>
      </p:sp>
      <p:cxnSp>
        <p:nvCxnSpPr>
          <p:cNvPr id="49" name="직선 연결선 48"/>
          <p:cNvCxnSpPr/>
          <p:nvPr/>
        </p:nvCxnSpPr>
        <p:spPr>
          <a:xfrm>
            <a:off x="357655" y="2015857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50" name="TextBox 49"/>
          <p:cNvSpPr txBox="1"/>
          <p:nvPr/>
        </p:nvSpPr>
        <p:spPr>
          <a:xfrm>
            <a:off x="275607" y="2036272"/>
            <a:ext cx="1737572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500">
                <a:latin typeface="나눔바른고딕"/>
                <a:ea typeface="나눔바른고딕"/>
              </a:rPr>
              <a:t>주문 </a:t>
            </a:r>
            <a:r>
              <a:rPr lang="en-US" altLang="ko-KR" sz="1500">
                <a:latin typeface="나눔바른고딕"/>
                <a:ea typeface="나눔바른고딕"/>
              </a:rPr>
              <a:t>/ </a:t>
            </a:r>
            <a:r>
              <a:rPr lang="ko-KR" altLang="en-US" sz="1500">
                <a:latin typeface="나눔바른고딕"/>
                <a:ea typeface="나눔바른고딕"/>
              </a:rPr>
              <a:t>배송 조회</a:t>
            </a:r>
          </a:p>
        </p:txBody>
      </p:sp>
      <p:sp>
        <p:nvSpPr>
          <p:cNvPr id="51" name="직사각형 50"/>
          <p:cNvSpPr/>
          <p:nvPr/>
        </p:nvSpPr>
        <p:spPr>
          <a:xfrm>
            <a:off x="406233" y="2366779"/>
            <a:ext cx="6691029" cy="585175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400">
              <a:solidFill>
                <a:schemeClr val="tx1"/>
              </a:solidFill>
              <a:latin typeface="나눔바른고딕"/>
              <a:ea typeface="나눔바른고딕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421533" y="2382367"/>
            <a:ext cx="64807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검색어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1532" y="2646131"/>
            <a:ext cx="77107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카테고리</a:t>
            </a:r>
          </a:p>
        </p:txBody>
      </p:sp>
      <p:sp>
        <p:nvSpPr>
          <p:cNvPr id="54" name="직사각형 53"/>
          <p:cNvSpPr/>
          <p:nvPr/>
        </p:nvSpPr>
        <p:spPr>
          <a:xfrm>
            <a:off x="1069605" y="2397822"/>
            <a:ext cx="1260465" cy="24907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l">
              <a:defRPr/>
            </a:pPr>
            <a:r>
              <a:rPr lang="ko-KR" altLang="en-US">
                <a:solidFill>
                  <a:schemeClr val="tx1"/>
                </a:solidFill>
                <a:latin typeface="나눔바른고딕"/>
                <a:ea typeface="나눔바른고딕"/>
              </a:rPr>
              <a:t>전체</a:t>
            </a:r>
          </a:p>
        </p:txBody>
      </p:sp>
      <p:sp>
        <p:nvSpPr>
          <p:cNvPr id="55" name="이등변 삼각형 54"/>
          <p:cNvSpPr/>
          <p:nvPr/>
        </p:nvSpPr>
        <p:spPr>
          <a:xfrm rot="10800000">
            <a:off x="2074791" y="2442712"/>
            <a:ext cx="201360" cy="125265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non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endParaRPr kumimoji="0" lang="ko-KR" altLang="en-US" sz="12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sp>
        <p:nvSpPr>
          <p:cNvPr id="56" name="직사각형 55"/>
          <p:cNvSpPr/>
          <p:nvPr/>
        </p:nvSpPr>
        <p:spPr>
          <a:xfrm>
            <a:off x="1092783" y="2660090"/>
            <a:ext cx="982008" cy="24907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>
              <a:defRPr/>
            </a:pPr>
            <a:r>
              <a:rPr lang="en-US" altLang="ko-KR">
                <a:solidFill>
                  <a:schemeClr val="tx1"/>
                </a:solidFill>
                <a:latin typeface="나눔바른고딕"/>
                <a:ea typeface="나눔바른고딕"/>
              </a:rPr>
              <a:t>1</a:t>
            </a:r>
            <a:r>
              <a:rPr lang="ko-KR" altLang="en-US">
                <a:solidFill>
                  <a:schemeClr val="tx1"/>
                </a:solidFill>
                <a:latin typeface="나눔바른고딕"/>
                <a:ea typeface="나눔바른고딕"/>
              </a:rPr>
              <a:t>차 분류</a:t>
            </a:r>
          </a:p>
        </p:txBody>
      </p:sp>
      <p:sp>
        <p:nvSpPr>
          <p:cNvPr id="57" name="직사각형 56"/>
          <p:cNvSpPr/>
          <p:nvPr/>
        </p:nvSpPr>
        <p:spPr>
          <a:xfrm>
            <a:off x="2149219" y="2646901"/>
            <a:ext cx="1030590" cy="26304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>
              <a:defRPr/>
            </a:pPr>
            <a:r>
              <a:rPr lang="en-US" altLang="ko-KR">
                <a:solidFill>
                  <a:schemeClr val="tx1"/>
                </a:solidFill>
                <a:latin typeface="나눔바른고딕"/>
                <a:ea typeface="나눔바른고딕"/>
              </a:rPr>
              <a:t>2</a:t>
            </a:r>
            <a:r>
              <a:rPr lang="ko-KR" altLang="en-US">
                <a:solidFill>
                  <a:schemeClr val="tx1"/>
                </a:solidFill>
                <a:latin typeface="나눔바른고딕"/>
                <a:ea typeface="나눔바른고딕"/>
              </a:rPr>
              <a:t>차 부류</a:t>
            </a:r>
          </a:p>
        </p:txBody>
      </p:sp>
      <p:sp>
        <p:nvSpPr>
          <p:cNvPr id="58" name="직사각형 57"/>
          <p:cNvSpPr/>
          <p:nvPr/>
        </p:nvSpPr>
        <p:spPr>
          <a:xfrm>
            <a:off x="2732419" y="3038183"/>
            <a:ext cx="692435" cy="34583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>
                <a:solidFill>
                  <a:schemeClr val="tx1"/>
                </a:solidFill>
                <a:latin typeface="나눔바른고딕"/>
                <a:ea typeface="나눔바른고딕"/>
              </a:rPr>
              <a:t>검색</a:t>
            </a:r>
          </a:p>
        </p:txBody>
      </p:sp>
      <p:sp>
        <p:nvSpPr>
          <p:cNvPr id="59" name="직사각형 58"/>
          <p:cNvSpPr/>
          <p:nvPr/>
        </p:nvSpPr>
        <p:spPr>
          <a:xfrm>
            <a:off x="3582692" y="3038183"/>
            <a:ext cx="692435" cy="34583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>
                <a:solidFill>
                  <a:schemeClr val="tx1"/>
                </a:solidFill>
                <a:latin typeface="나눔바른고딕"/>
                <a:ea typeface="나눔바른고딕"/>
              </a:rPr>
              <a:t>초기화</a:t>
            </a:r>
          </a:p>
        </p:txBody>
      </p:sp>
      <p:sp>
        <p:nvSpPr>
          <p:cNvPr id="60" name="직사각형 59"/>
          <p:cNvSpPr/>
          <p:nvPr/>
        </p:nvSpPr>
        <p:spPr>
          <a:xfrm>
            <a:off x="406233" y="3477819"/>
            <a:ext cx="6691029" cy="1234968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400">
              <a:solidFill>
                <a:schemeClr val="tx1"/>
              </a:solidFill>
              <a:latin typeface="나눔바른고딕"/>
              <a:ea typeface="나눔바른고딕"/>
            </a:endParaRPr>
          </a:p>
        </p:txBody>
      </p:sp>
      <p:cxnSp>
        <p:nvCxnSpPr>
          <p:cNvPr id="94" name="직선 연결선 93"/>
          <p:cNvCxnSpPr/>
          <p:nvPr/>
        </p:nvCxnSpPr>
        <p:spPr>
          <a:xfrm>
            <a:off x="406233" y="3730965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95" name="TextBox 94"/>
          <p:cNvSpPr txBox="1"/>
          <p:nvPr/>
        </p:nvSpPr>
        <p:spPr>
          <a:xfrm>
            <a:off x="423453" y="3466789"/>
            <a:ext cx="7691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주문일자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698437" y="3463700"/>
            <a:ext cx="75270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주문번호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316693" y="3464554"/>
            <a:ext cx="82153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주문상품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040912" y="3464872"/>
            <a:ext cx="7691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주문금액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963275" y="3466789"/>
            <a:ext cx="119257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주문처리상태</a:t>
            </a:r>
          </a:p>
        </p:txBody>
      </p:sp>
      <p:cxnSp>
        <p:nvCxnSpPr>
          <p:cNvPr id="114" name="직선 연결선 113"/>
          <p:cNvCxnSpPr/>
          <p:nvPr/>
        </p:nvCxnSpPr>
        <p:spPr>
          <a:xfrm>
            <a:off x="449370" y="4019231"/>
            <a:ext cx="6647892" cy="21261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cxnSp>
        <p:nvCxnSpPr>
          <p:cNvPr id="115" name="직선 연결선 114"/>
          <p:cNvCxnSpPr/>
          <p:nvPr/>
        </p:nvCxnSpPr>
        <p:spPr>
          <a:xfrm>
            <a:off x="421533" y="4383458"/>
            <a:ext cx="6675729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29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1.2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ko-KR" altLang="en-US" sz="1800" b="1" i="0" u="none" strike="noStrike" kern="0" cap="none" spc="0" normalizeH="0" baseline="0" dirty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일반 회원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8</a:t>
            </a:fld>
            <a:r>
              <a:rPr lang="en-US" altLang="ko-KR"/>
              <a:t> -</a:t>
            </a:r>
          </a:p>
        </p:txBody>
      </p:sp>
      <p:graphicFrame>
        <p:nvGraphicFramePr>
          <p:cNvPr id="3" name="표 4"/>
          <p:cNvGraphicFramePr>
            <a:graphicFrameLocks noGrp="1"/>
          </p:cNvGraphicFramePr>
          <p:nvPr/>
        </p:nvGraphicFramePr>
        <p:xfrm>
          <a:off x="560511" y="1052738"/>
          <a:ext cx="8928992" cy="5429409"/>
        </p:xfrm>
        <a:graphic>
          <a:graphicData uri="http://schemas.openxmlformats.org/drawingml/2006/table">
            <a:tbl>
              <a:tblPr/>
              <a:tblGrid>
                <a:gridCol w="9964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24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10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10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684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49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87221"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alt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I/</a:t>
                      </a: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O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한글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영문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필수여부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I/O </a:t>
                      </a: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유형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초기값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주문일자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orderDate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주문명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orderName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상품명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productName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금액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price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배송상태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orderState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 dirty="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8"/>
                  </a:ext>
                </a:extLst>
              </a:tr>
            </a:tbl>
          </a:graphicData>
        </a:graphic>
      </p:graphicFrame>
      <p:sp>
        <p:nvSpPr>
          <p:cNvPr id="5" name="직사각형 6"/>
          <p:cNvSpPr/>
          <p:nvPr/>
        </p:nvSpPr>
        <p:spPr>
          <a:xfrm>
            <a:off x="425987" y="703729"/>
            <a:ext cx="138691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b="1">
                <a:latin typeface="맑은 고딕"/>
                <a:ea typeface="맑은 고딕"/>
              </a:rPr>
              <a:t>* </a:t>
            </a:r>
            <a:r>
              <a:rPr lang="ko-KR" altLang="ko-KR" b="1">
                <a:latin typeface="맑은 고딕"/>
                <a:ea typeface="맑은 고딕"/>
              </a:rPr>
              <a:t>화면입출력정보</a:t>
            </a:r>
          </a:p>
        </p:txBody>
      </p:sp>
      <p:sp>
        <p:nvSpPr>
          <p:cNvPr id="9" name="Rectangle 3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2pPr>
            <a:lvl3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3pPr>
            <a:lvl4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4pPr>
            <a:lvl5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sp>
        <p:nvSpPr>
          <p:cNvPr id="7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1.2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ko-KR" altLang="en-US" sz="1800" b="1" i="0" u="none" strike="noStrike" kern="0" cap="none" spc="0" normalizeH="0" baseline="0" dirty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일반 회원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xfrm>
            <a:off x="3872880" y="6671742"/>
            <a:ext cx="2063750" cy="213642"/>
          </a:xfrm>
        </p:spPr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9</a:t>
            </a:fld>
            <a:r>
              <a:rPr lang="en-US" altLang="ko-KR"/>
              <a:t> -</a:t>
            </a:r>
          </a:p>
        </p:txBody>
      </p:sp>
      <p:sp>
        <p:nvSpPr>
          <p:cNvPr id="3" name="Rectangle 94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graphicFrame>
        <p:nvGraphicFramePr>
          <p:cNvPr id="5" name="Group 3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0628159"/>
              </p:ext>
            </p:extLst>
          </p:nvPr>
        </p:nvGraphicFramePr>
        <p:xfrm>
          <a:off x="315913" y="747145"/>
          <a:ext cx="9272587" cy="5876622"/>
        </p:xfrm>
        <a:graphic>
          <a:graphicData uri="http://schemas.openxmlformats.org/drawingml/2006/table">
            <a:tbl>
              <a:tblPr/>
              <a:tblGrid>
                <a:gridCol w="96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718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6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36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752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7772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Level1</a:t>
                      </a:r>
                      <a:endParaRPr kumimoji="0" lang="en-US" altLang="ko-KR" sz="1000" b="1" i="0" u="none" strike="noStrike" cap="none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주류 유통 관리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Level2</a:t>
                      </a:r>
                      <a:endParaRPr kumimoji="0" lang="en-US" altLang="ko-KR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일반 회원 화면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5151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</a:t>
                      </a:r>
                      <a:r>
                        <a:rPr kumimoji="0" lang="en-US" altLang="ko-KR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ID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4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Wingdings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UI_PD4_015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회원 </a:t>
                      </a:r>
                      <a:r>
                        <a:rPr lang="ko-KR" alt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정보 화면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4756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화면개요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일반 회원의 회원 정보 수정 페이지이다</a:t>
                      </a:r>
                      <a:r>
                        <a:rPr kumimoji="0" lang="en-US" altLang="ko-KR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  <a:endParaRPr kumimoji="0" lang="ko-KR" altLang="en-US" sz="1000" b="0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811">
                <a:tc rowSpan="2"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설명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31132">
                <a:tc gridSpan="4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marL="266700" marR="0" lvl="0" indent="-2667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아이디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, 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비밀번호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, 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비밀번호 확인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, 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이름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, 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주소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, 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유선전화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, 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휴대전화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, E-mail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을 입력한다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회원탈퇴 버튼을 누를 시 탈퇴 페이지로 이동한다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취소 버튼을 누를 시 이전 페이지로 돌아간다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회원정보수정 버튼을 누를 시 정보 수정이 완료된다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latin typeface="맑은 고딕"/>
                          <a:ea typeface="맑은 고딕"/>
                        </a:rPr>
                        <a:t>.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4923655" y="5111529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④</a:t>
            </a:r>
            <a:endParaRPr lang="ko-KR" altLang="en-US" sz="2000" dirty="0"/>
          </a:p>
        </p:txBody>
      </p:sp>
      <p:sp>
        <p:nvSpPr>
          <p:cNvPr id="32" name="TextBox 31"/>
          <p:cNvSpPr txBox="1"/>
          <p:nvPr/>
        </p:nvSpPr>
        <p:spPr>
          <a:xfrm>
            <a:off x="3124588" y="5086508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③</a:t>
            </a:r>
            <a:endParaRPr lang="ko-KR" altLang="en-US" sz="2000" dirty="0"/>
          </a:p>
        </p:txBody>
      </p:sp>
      <p:sp>
        <p:nvSpPr>
          <p:cNvPr id="33" name="TextBox 32"/>
          <p:cNvSpPr txBox="1"/>
          <p:nvPr/>
        </p:nvSpPr>
        <p:spPr>
          <a:xfrm>
            <a:off x="228836" y="5073909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②</a:t>
            </a:r>
            <a:endParaRPr lang="ko-KR" altLang="en-US" sz="2000" dirty="0"/>
          </a:p>
        </p:txBody>
      </p:sp>
      <p:sp>
        <p:nvSpPr>
          <p:cNvPr id="34" name="TextBox 33"/>
          <p:cNvSpPr txBox="1"/>
          <p:nvPr/>
        </p:nvSpPr>
        <p:spPr>
          <a:xfrm>
            <a:off x="236996" y="1978132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>
                <a:solidFill>
                  <a:srgbClr val="FF0000"/>
                </a:solidFill>
                <a:latin typeface="나눔바른고딕"/>
                <a:ea typeface="나눔바른고딕"/>
              </a:rPr>
              <a:t>①</a:t>
            </a:r>
            <a:endParaRPr lang="ko-KR" altLang="en-US" sz="2000"/>
          </a:p>
        </p:txBody>
      </p:sp>
      <p:grpSp>
        <p:nvGrpSpPr>
          <p:cNvPr id="6" name="그룹 5"/>
          <p:cNvGrpSpPr/>
          <p:nvPr/>
        </p:nvGrpSpPr>
        <p:grpSpPr>
          <a:xfrm>
            <a:off x="164447" y="2015857"/>
            <a:ext cx="6932815" cy="3657443"/>
            <a:chOff x="164447" y="2015857"/>
            <a:chExt cx="6932815" cy="3657443"/>
          </a:xfrm>
        </p:grpSpPr>
        <p:cxnSp>
          <p:nvCxnSpPr>
            <p:cNvPr id="49" name="직선 연결선 48"/>
            <p:cNvCxnSpPr/>
            <p:nvPr/>
          </p:nvCxnSpPr>
          <p:spPr>
            <a:xfrm>
              <a:off x="357655" y="2015857"/>
              <a:ext cx="6739607" cy="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</a:ln>
            <a:effectLst/>
          </p:spPr>
        </p:cxnSp>
        <p:sp>
          <p:nvSpPr>
            <p:cNvPr id="50" name="TextBox 49"/>
            <p:cNvSpPr txBox="1"/>
            <p:nvPr/>
          </p:nvSpPr>
          <p:spPr>
            <a:xfrm>
              <a:off x="164447" y="2020715"/>
              <a:ext cx="1545248" cy="32316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 sz="1500">
                  <a:latin typeface="나눔바른고딕"/>
                  <a:ea typeface="나눔바른고딕"/>
                </a:rPr>
                <a:t>회원 정보</a:t>
              </a:r>
            </a:p>
          </p:txBody>
        </p:sp>
        <p:sp>
          <p:nvSpPr>
            <p:cNvPr id="39" name="직사각형 38"/>
            <p:cNvSpPr/>
            <p:nvPr/>
          </p:nvSpPr>
          <p:spPr>
            <a:xfrm>
              <a:off x="344950" y="2372967"/>
              <a:ext cx="6458672" cy="2776181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cxnSp>
          <p:nvCxnSpPr>
            <p:cNvPr id="40" name="직선 연결선 39"/>
            <p:cNvCxnSpPr/>
            <p:nvPr/>
          </p:nvCxnSpPr>
          <p:spPr>
            <a:xfrm>
              <a:off x="351467" y="3459454"/>
              <a:ext cx="6458672" cy="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</a:ln>
            <a:effectLst/>
          </p:spPr>
        </p:cxnSp>
        <p:sp>
          <p:nvSpPr>
            <p:cNvPr id="41" name="TextBox 40"/>
            <p:cNvSpPr txBox="1"/>
            <p:nvPr/>
          </p:nvSpPr>
          <p:spPr>
            <a:xfrm>
              <a:off x="183222" y="2375633"/>
              <a:ext cx="826161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아이디</a:t>
              </a:r>
            </a:p>
          </p:txBody>
        </p:sp>
        <p:sp>
          <p:nvSpPr>
            <p:cNvPr id="42" name="직사각형 41"/>
            <p:cNvSpPr/>
            <p:nvPr/>
          </p:nvSpPr>
          <p:spPr>
            <a:xfrm>
              <a:off x="970975" y="2375632"/>
              <a:ext cx="826162" cy="260967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sp>
          <p:nvSpPr>
            <p:cNvPr id="43" name="TextBox 42"/>
            <p:cNvSpPr txBox="1"/>
            <p:nvPr/>
          </p:nvSpPr>
          <p:spPr>
            <a:xfrm>
              <a:off x="214712" y="3738305"/>
              <a:ext cx="826161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주소</a:t>
              </a:r>
            </a:p>
          </p:txBody>
        </p:sp>
        <p:sp>
          <p:nvSpPr>
            <p:cNvPr id="44" name="직사각형 43"/>
            <p:cNvSpPr/>
            <p:nvPr/>
          </p:nvSpPr>
          <p:spPr>
            <a:xfrm>
              <a:off x="970796" y="3463848"/>
              <a:ext cx="1152128" cy="23758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sp>
          <p:nvSpPr>
            <p:cNvPr id="45" name="직사각형 44"/>
            <p:cNvSpPr/>
            <p:nvPr/>
          </p:nvSpPr>
          <p:spPr>
            <a:xfrm>
              <a:off x="977491" y="3728249"/>
              <a:ext cx="1628911" cy="276999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sp>
          <p:nvSpPr>
            <p:cNvPr id="46" name="직사각형 45"/>
            <p:cNvSpPr/>
            <p:nvPr/>
          </p:nvSpPr>
          <p:spPr>
            <a:xfrm>
              <a:off x="977491" y="4022822"/>
              <a:ext cx="1628911" cy="283703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sp>
          <p:nvSpPr>
            <p:cNvPr id="47" name="TextBox 46"/>
            <p:cNvSpPr txBox="1"/>
            <p:nvPr/>
          </p:nvSpPr>
          <p:spPr>
            <a:xfrm>
              <a:off x="228836" y="4306526"/>
              <a:ext cx="826161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유선전화</a:t>
              </a:r>
            </a:p>
          </p:txBody>
        </p:sp>
        <p:sp>
          <p:nvSpPr>
            <p:cNvPr id="48" name="직사각형 47"/>
            <p:cNvSpPr/>
            <p:nvPr/>
          </p:nvSpPr>
          <p:spPr>
            <a:xfrm>
              <a:off x="977492" y="4306525"/>
              <a:ext cx="504056" cy="285428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sp>
          <p:nvSpPr>
            <p:cNvPr id="61" name="사각형: 둥근 모서리 60"/>
            <p:cNvSpPr/>
            <p:nvPr/>
          </p:nvSpPr>
          <p:spPr>
            <a:xfrm>
              <a:off x="2526631" y="3454318"/>
              <a:ext cx="899131" cy="274828"/>
            </a:xfrm>
            <a:prstGeom prst="roundRect">
              <a:avLst>
                <a:gd name="adj" fmla="val 16667"/>
              </a:avLst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</a:ln>
            <a:effectLst/>
          </p:spPr>
          <p:txBody>
            <a:bodyPr vert="horz" wrap="square" lIns="89999" tIns="46800" rIns="89999" bIns="46800" anchor="t" anchorCtr="0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latinLnBrk="0" hangingPunct="0">
                <a:lnSpc>
                  <a:spcPct val="100000"/>
                </a:lnSpc>
                <a:spcBef>
                  <a:spcPct val="25000"/>
                </a:spcBef>
                <a:spcAft>
                  <a:spcPct val="25000"/>
                </a:spcAft>
                <a:buClr>
                  <a:schemeClr val="bg1"/>
                </a:buClr>
                <a:buFont typeface="Wingdings"/>
                <a:buNone/>
                <a:defRPr/>
              </a:pPr>
              <a:r>
                <a:rPr kumimoji="0" lang="ko-KR" altLang="en-US" sz="1000" b="0" i="0" u="none" strike="noStrike" cap="none" normalizeH="0" baseline="0">
                  <a:solidFill>
                    <a:schemeClr val="tx1"/>
                  </a:solidFill>
                  <a:effectLst/>
                  <a:latin typeface="Arial"/>
                  <a:ea typeface="굴림"/>
                </a:rPr>
                <a:t>우편번호</a:t>
              </a:r>
              <a:endParaRPr kumimoji="0" lang="ko-KR" altLang="en-US" sz="1000" b="0" i="0" u="none" strike="noStrike" cap="none" normalizeH="0" baseline="0">
                <a:solidFill>
                  <a:schemeClr val="tx1"/>
                </a:solidFill>
                <a:latin typeface="Arial"/>
                <a:ea typeface="굴림"/>
              </a:endParaRP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2542667" y="3738305"/>
              <a:ext cx="86705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기본주소</a:t>
              </a:r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2581498" y="4001248"/>
              <a:ext cx="86705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나머지주소</a:t>
              </a:r>
            </a:p>
          </p:txBody>
        </p:sp>
        <p:cxnSp>
          <p:nvCxnSpPr>
            <p:cNvPr id="64" name="직선 연결선 63"/>
            <p:cNvCxnSpPr/>
            <p:nvPr/>
          </p:nvCxnSpPr>
          <p:spPr>
            <a:xfrm>
              <a:off x="351467" y="4310311"/>
              <a:ext cx="6458672" cy="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</a:ln>
            <a:effectLst/>
          </p:spPr>
        </p:cxnSp>
        <p:cxnSp>
          <p:nvCxnSpPr>
            <p:cNvPr id="65" name="직선 연결선 64"/>
            <p:cNvCxnSpPr/>
            <p:nvPr/>
          </p:nvCxnSpPr>
          <p:spPr>
            <a:xfrm>
              <a:off x="351467" y="4583525"/>
              <a:ext cx="6458672" cy="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</a:ln>
            <a:effectLst/>
          </p:spPr>
        </p:cxnSp>
        <p:sp>
          <p:nvSpPr>
            <p:cNvPr id="66" name="TextBox 65"/>
            <p:cNvSpPr txBox="1"/>
            <p:nvPr/>
          </p:nvSpPr>
          <p:spPr>
            <a:xfrm>
              <a:off x="228836" y="4580002"/>
              <a:ext cx="826161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휴대전화</a:t>
              </a:r>
            </a:p>
          </p:txBody>
        </p:sp>
        <p:sp>
          <p:nvSpPr>
            <p:cNvPr id="67" name="직사각형 66"/>
            <p:cNvSpPr/>
            <p:nvPr/>
          </p:nvSpPr>
          <p:spPr>
            <a:xfrm>
              <a:off x="1692542" y="4324099"/>
              <a:ext cx="504056" cy="260341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sp>
          <p:nvSpPr>
            <p:cNvPr id="68" name="TextBox 67"/>
            <p:cNvSpPr txBox="1"/>
            <p:nvPr/>
          </p:nvSpPr>
          <p:spPr>
            <a:xfrm>
              <a:off x="228836" y="4865446"/>
              <a:ext cx="826161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en-US" altLang="ko-KR">
                  <a:latin typeface="나눔바른고딕"/>
                  <a:ea typeface="나눔바른고딕"/>
                </a:rPr>
                <a:t>E-mail</a:t>
              </a:r>
              <a:endParaRPr lang="ko-KR" altLang="en-US">
                <a:latin typeface="나눔바른고딕"/>
                <a:ea typeface="나눔바른고딕"/>
              </a:endParaRPr>
            </a:p>
          </p:txBody>
        </p:sp>
        <p:sp>
          <p:nvSpPr>
            <p:cNvPr id="69" name="직사각형 68"/>
            <p:cNvSpPr/>
            <p:nvPr/>
          </p:nvSpPr>
          <p:spPr>
            <a:xfrm>
              <a:off x="977492" y="4865446"/>
              <a:ext cx="1145432" cy="283702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cxnSp>
          <p:nvCxnSpPr>
            <p:cNvPr id="70" name="직선 연결선 69"/>
            <p:cNvCxnSpPr/>
            <p:nvPr/>
          </p:nvCxnSpPr>
          <p:spPr>
            <a:xfrm>
              <a:off x="351467" y="4865446"/>
              <a:ext cx="6458672" cy="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</a:ln>
            <a:effectLst/>
          </p:spPr>
        </p:cxnSp>
        <p:sp>
          <p:nvSpPr>
            <p:cNvPr id="71" name="TextBox 70"/>
            <p:cNvSpPr txBox="1"/>
            <p:nvPr/>
          </p:nvSpPr>
          <p:spPr>
            <a:xfrm>
              <a:off x="2022501" y="4857001"/>
              <a:ext cx="504056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en-US" altLang="ko-KR">
                  <a:latin typeface="나눔바른고딕"/>
                  <a:ea typeface="나눔바른고딕"/>
                </a:rPr>
                <a:t>@</a:t>
              </a:r>
              <a:endParaRPr lang="ko-KR" altLang="en-US">
                <a:latin typeface="나눔바른고딕"/>
                <a:ea typeface="나눔바른고딕"/>
              </a:endParaRPr>
            </a:p>
          </p:txBody>
        </p:sp>
        <p:sp>
          <p:nvSpPr>
            <p:cNvPr id="72" name="직사각형 71"/>
            <p:cNvSpPr/>
            <p:nvPr/>
          </p:nvSpPr>
          <p:spPr>
            <a:xfrm>
              <a:off x="2403480" y="4865446"/>
              <a:ext cx="1145432" cy="283702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sp>
          <p:nvSpPr>
            <p:cNvPr id="73" name="사각형: 둥근 모서리 72"/>
            <p:cNvSpPr/>
            <p:nvPr/>
          </p:nvSpPr>
          <p:spPr>
            <a:xfrm>
              <a:off x="3671296" y="4883216"/>
              <a:ext cx="978603" cy="240068"/>
            </a:xfrm>
            <a:prstGeom prst="roundRect">
              <a:avLst>
                <a:gd name="adj" fmla="val 16667"/>
              </a:avLst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</a:ln>
            <a:effectLst/>
          </p:spPr>
          <p:txBody>
            <a:bodyPr vert="horz" wrap="square" lIns="89999" tIns="46800" rIns="89999" bIns="46800" anchor="t" anchorCtr="0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latinLnBrk="0" hangingPunct="0">
                <a:lnSpc>
                  <a:spcPct val="100000"/>
                </a:lnSpc>
                <a:spcBef>
                  <a:spcPct val="25000"/>
                </a:spcBef>
                <a:spcAft>
                  <a:spcPct val="25000"/>
                </a:spcAft>
                <a:buClr>
                  <a:schemeClr val="bg1"/>
                </a:buClr>
                <a:buFont typeface="Wingdings"/>
                <a:buNone/>
                <a:defRPr/>
              </a:pPr>
              <a:endParaRPr kumimoji="0" lang="ko-KR" altLang="en-US" sz="1200" b="0" i="0" u="none" strike="noStrike" cap="none" normalizeH="0" baseline="0">
                <a:solidFill>
                  <a:schemeClr val="tx1"/>
                </a:solidFill>
                <a:effectLst/>
                <a:latin typeface="Arial"/>
                <a:ea typeface="굴림"/>
              </a:endParaRPr>
            </a:p>
          </p:txBody>
        </p:sp>
        <p:sp>
          <p:nvSpPr>
            <p:cNvPr id="74" name="순서도: 병합 73"/>
            <p:cNvSpPr/>
            <p:nvPr/>
          </p:nvSpPr>
          <p:spPr>
            <a:xfrm>
              <a:off x="4471593" y="4957900"/>
              <a:ext cx="144016" cy="108234"/>
            </a:xfrm>
            <a:prstGeom prst="flowChartMerg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</a:ln>
            <a:effectLst/>
          </p:spPr>
          <p:txBody>
            <a:bodyPr vert="horz" wrap="none" lIns="89999" tIns="46800" rIns="89999" bIns="46800" anchor="t" anchorCtr="0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latinLnBrk="0" hangingPunct="0">
                <a:lnSpc>
                  <a:spcPct val="100000"/>
                </a:lnSpc>
                <a:spcBef>
                  <a:spcPct val="25000"/>
                </a:spcBef>
                <a:spcAft>
                  <a:spcPct val="25000"/>
                </a:spcAft>
                <a:buClr>
                  <a:schemeClr val="bg1"/>
                </a:buClr>
                <a:buFont typeface="Wingdings"/>
                <a:buNone/>
                <a:defRPr/>
              </a:pPr>
              <a:endParaRPr kumimoji="0" lang="ko-KR" altLang="en-US" sz="1200" b="0" i="0" u="none" strike="noStrike" cap="none" normalizeH="0" baseline="0">
                <a:solidFill>
                  <a:schemeClr val="tx1"/>
                </a:solidFill>
                <a:effectLst/>
                <a:latin typeface="Arial"/>
                <a:ea typeface="굴림"/>
              </a:endParaRPr>
            </a:p>
          </p:txBody>
        </p:sp>
        <p:sp>
          <p:nvSpPr>
            <p:cNvPr id="75" name="TextBox 74"/>
            <p:cNvSpPr txBox="1"/>
            <p:nvPr/>
          </p:nvSpPr>
          <p:spPr>
            <a:xfrm>
              <a:off x="2196598" y="3457067"/>
              <a:ext cx="217455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en-US" altLang="ko-KR">
                  <a:latin typeface="나눔바른고딕"/>
                  <a:ea typeface="나눔바른고딕"/>
                </a:rPr>
                <a:t>-</a:t>
              </a:r>
              <a:endParaRPr lang="ko-KR" altLang="en-US">
                <a:latin typeface="나눔바른고딕"/>
                <a:ea typeface="나눔바른고딕"/>
              </a:endParaRPr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1481791" y="4319894"/>
              <a:ext cx="217455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en-US" altLang="ko-KR">
                  <a:latin typeface="나눔바른고딕"/>
                  <a:ea typeface="나눔바른고딕"/>
                </a:rPr>
                <a:t>-</a:t>
              </a:r>
              <a:endParaRPr lang="ko-KR" altLang="en-US">
                <a:latin typeface="나눔바른고딕"/>
                <a:ea typeface="나눔바른고딕"/>
              </a:endParaRPr>
            </a:p>
          </p:txBody>
        </p:sp>
        <p:sp>
          <p:nvSpPr>
            <p:cNvPr id="77" name="TextBox 76"/>
            <p:cNvSpPr txBox="1"/>
            <p:nvPr/>
          </p:nvSpPr>
          <p:spPr>
            <a:xfrm>
              <a:off x="2210722" y="4319894"/>
              <a:ext cx="217455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en-US" altLang="ko-KR">
                  <a:latin typeface="나눔바른고딕"/>
                  <a:ea typeface="나눔바른고딕"/>
                </a:rPr>
                <a:t>-</a:t>
              </a:r>
              <a:endParaRPr lang="ko-KR" altLang="en-US">
                <a:latin typeface="나눔바른고딕"/>
                <a:ea typeface="나눔바른고딕"/>
              </a:endParaRPr>
            </a:p>
          </p:txBody>
        </p:sp>
        <p:sp>
          <p:nvSpPr>
            <p:cNvPr id="78" name="직사각형 77"/>
            <p:cNvSpPr/>
            <p:nvPr/>
          </p:nvSpPr>
          <p:spPr>
            <a:xfrm>
              <a:off x="2416752" y="4324099"/>
              <a:ext cx="504056" cy="260341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sp>
          <p:nvSpPr>
            <p:cNvPr id="79" name="직사각형 78"/>
            <p:cNvSpPr/>
            <p:nvPr/>
          </p:nvSpPr>
          <p:spPr>
            <a:xfrm>
              <a:off x="977492" y="4580092"/>
              <a:ext cx="504056" cy="285428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sp>
          <p:nvSpPr>
            <p:cNvPr id="80" name="직사각형 79"/>
            <p:cNvSpPr/>
            <p:nvPr/>
          </p:nvSpPr>
          <p:spPr>
            <a:xfrm>
              <a:off x="1692542" y="4597666"/>
              <a:ext cx="504056" cy="260341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sp>
          <p:nvSpPr>
            <p:cNvPr id="81" name="TextBox 80"/>
            <p:cNvSpPr txBox="1"/>
            <p:nvPr/>
          </p:nvSpPr>
          <p:spPr>
            <a:xfrm>
              <a:off x="1481791" y="4593461"/>
              <a:ext cx="217455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en-US" altLang="ko-KR">
                  <a:latin typeface="나눔바른고딕"/>
                  <a:ea typeface="나눔바른고딕"/>
                </a:rPr>
                <a:t>-</a:t>
              </a:r>
              <a:endParaRPr lang="ko-KR" altLang="en-US">
                <a:latin typeface="나눔바른고딕"/>
                <a:ea typeface="나눔바른고딕"/>
              </a:endParaRPr>
            </a:p>
          </p:txBody>
        </p:sp>
        <p:sp>
          <p:nvSpPr>
            <p:cNvPr id="82" name="TextBox 81"/>
            <p:cNvSpPr txBox="1"/>
            <p:nvPr/>
          </p:nvSpPr>
          <p:spPr>
            <a:xfrm>
              <a:off x="2210722" y="4593461"/>
              <a:ext cx="217455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en-US" altLang="ko-KR">
                  <a:latin typeface="나눔바른고딕"/>
                  <a:ea typeface="나눔바른고딕"/>
                </a:rPr>
                <a:t>-</a:t>
              </a:r>
              <a:endParaRPr lang="ko-KR" altLang="en-US">
                <a:latin typeface="나눔바른고딕"/>
                <a:ea typeface="나눔바른고딕"/>
              </a:endParaRPr>
            </a:p>
          </p:txBody>
        </p:sp>
        <p:sp>
          <p:nvSpPr>
            <p:cNvPr id="83" name="직사각형 82"/>
            <p:cNvSpPr/>
            <p:nvPr/>
          </p:nvSpPr>
          <p:spPr>
            <a:xfrm>
              <a:off x="2416752" y="4597666"/>
              <a:ext cx="504056" cy="260341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cxnSp>
          <p:nvCxnSpPr>
            <p:cNvPr id="84" name="직선 연결선 83"/>
            <p:cNvCxnSpPr/>
            <p:nvPr/>
          </p:nvCxnSpPr>
          <p:spPr>
            <a:xfrm>
              <a:off x="344950" y="2652632"/>
              <a:ext cx="6458672" cy="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</a:ln>
            <a:effectLst/>
          </p:spPr>
        </p:cxnSp>
        <p:sp>
          <p:nvSpPr>
            <p:cNvPr id="85" name="TextBox 84"/>
            <p:cNvSpPr txBox="1"/>
            <p:nvPr/>
          </p:nvSpPr>
          <p:spPr>
            <a:xfrm>
              <a:off x="222319" y="2661356"/>
              <a:ext cx="826161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비밀번호</a:t>
              </a:r>
            </a:p>
          </p:txBody>
        </p:sp>
        <p:sp>
          <p:nvSpPr>
            <p:cNvPr id="86" name="직사각형 85"/>
            <p:cNvSpPr/>
            <p:nvPr/>
          </p:nvSpPr>
          <p:spPr>
            <a:xfrm>
              <a:off x="970975" y="2661355"/>
              <a:ext cx="1198658" cy="265955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cxnSp>
          <p:nvCxnSpPr>
            <p:cNvPr id="87" name="직선 연결선 86"/>
            <p:cNvCxnSpPr/>
            <p:nvPr/>
          </p:nvCxnSpPr>
          <p:spPr>
            <a:xfrm>
              <a:off x="344950" y="2938355"/>
              <a:ext cx="6458672" cy="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</a:ln>
            <a:effectLst/>
          </p:spPr>
        </p:cxnSp>
        <p:sp>
          <p:nvSpPr>
            <p:cNvPr id="88" name="TextBox 87"/>
            <p:cNvSpPr txBox="1"/>
            <p:nvPr/>
          </p:nvSpPr>
          <p:spPr>
            <a:xfrm>
              <a:off x="260727" y="2934942"/>
              <a:ext cx="106633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비밀번호 확인</a:t>
              </a:r>
            </a:p>
          </p:txBody>
        </p:sp>
        <p:cxnSp>
          <p:nvCxnSpPr>
            <p:cNvPr id="89" name="직선 연결선 88"/>
            <p:cNvCxnSpPr/>
            <p:nvPr/>
          </p:nvCxnSpPr>
          <p:spPr>
            <a:xfrm>
              <a:off x="344950" y="3199807"/>
              <a:ext cx="6458672" cy="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</a:ln>
            <a:effectLst/>
          </p:spPr>
        </p:cxnSp>
        <p:sp>
          <p:nvSpPr>
            <p:cNvPr id="92" name="TextBox 91"/>
            <p:cNvSpPr txBox="1"/>
            <p:nvPr/>
          </p:nvSpPr>
          <p:spPr>
            <a:xfrm>
              <a:off x="246603" y="3185869"/>
              <a:ext cx="587817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이름</a:t>
              </a:r>
            </a:p>
          </p:txBody>
        </p:sp>
        <p:sp>
          <p:nvSpPr>
            <p:cNvPr id="93" name="직사각형 92"/>
            <p:cNvSpPr/>
            <p:nvPr/>
          </p:nvSpPr>
          <p:spPr>
            <a:xfrm>
              <a:off x="728600" y="3197781"/>
              <a:ext cx="1124019" cy="264865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sp>
          <p:nvSpPr>
            <p:cNvPr id="100" name="직사각형 99"/>
            <p:cNvSpPr/>
            <p:nvPr/>
          </p:nvSpPr>
          <p:spPr>
            <a:xfrm>
              <a:off x="1229519" y="2936337"/>
              <a:ext cx="1198657" cy="254018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sp>
          <p:nvSpPr>
            <p:cNvPr id="101" name="직사각형 100"/>
            <p:cNvSpPr/>
            <p:nvPr/>
          </p:nvSpPr>
          <p:spPr>
            <a:xfrm>
              <a:off x="557207" y="5255297"/>
              <a:ext cx="1628911" cy="369332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ko-KR" altLang="en-US" sz="1400">
                  <a:solidFill>
                    <a:schemeClr val="tx1"/>
                  </a:solidFill>
                  <a:latin typeface="나눔바른고딕"/>
                  <a:ea typeface="나눔바른고딕"/>
                </a:rPr>
                <a:t>회원탈퇴</a:t>
              </a:r>
            </a:p>
          </p:txBody>
        </p:sp>
        <p:sp>
          <p:nvSpPr>
            <p:cNvPr id="102" name="직사각형 101"/>
            <p:cNvSpPr/>
            <p:nvPr/>
          </p:nvSpPr>
          <p:spPr>
            <a:xfrm>
              <a:off x="3409725" y="5303968"/>
              <a:ext cx="1628911" cy="369332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ko-KR" altLang="en-US" sz="1400">
                  <a:solidFill>
                    <a:schemeClr val="tx1"/>
                  </a:solidFill>
                  <a:latin typeface="나눔바른고딕"/>
                  <a:ea typeface="나눔바른고딕"/>
                </a:rPr>
                <a:t>취소</a:t>
              </a:r>
            </a:p>
          </p:txBody>
        </p:sp>
        <p:sp>
          <p:nvSpPr>
            <p:cNvPr id="103" name="직사각형 102"/>
            <p:cNvSpPr/>
            <p:nvPr/>
          </p:nvSpPr>
          <p:spPr>
            <a:xfrm>
              <a:off x="5181228" y="5289061"/>
              <a:ext cx="1628911" cy="369332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ko-KR" altLang="en-US" sz="1400">
                  <a:solidFill>
                    <a:schemeClr val="tx1"/>
                  </a:solidFill>
                  <a:latin typeface="나눔바른고딕"/>
                  <a:ea typeface="나눔바른고딕"/>
                </a:rPr>
                <a:t>회원정보수정</a:t>
              </a:r>
            </a:p>
          </p:txBody>
        </p:sp>
      </p:grpSp>
      <p:sp>
        <p:nvSpPr>
          <p:cNvPr id="59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1.2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ko-KR" altLang="en-US" sz="1800" b="1" i="0" u="none" strike="noStrike" kern="0" cap="none" spc="0" normalizeH="0" baseline="0" dirty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일반 회원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10</a:t>
            </a:fld>
            <a:r>
              <a:rPr lang="en-US" altLang="ko-KR"/>
              <a:t> -</a:t>
            </a:r>
          </a:p>
        </p:txBody>
      </p:sp>
      <p:graphicFrame>
        <p:nvGraphicFramePr>
          <p:cNvPr id="3" name="표 4"/>
          <p:cNvGraphicFramePr>
            <a:graphicFrameLocks noGrp="1"/>
          </p:cNvGraphicFramePr>
          <p:nvPr/>
        </p:nvGraphicFramePr>
        <p:xfrm>
          <a:off x="560511" y="1052738"/>
          <a:ext cx="8930573" cy="5597788"/>
        </p:xfrm>
        <a:graphic>
          <a:graphicData uri="http://schemas.openxmlformats.org/drawingml/2006/table">
            <a:tbl>
              <a:tblPr/>
              <a:tblGrid>
                <a:gridCol w="9964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24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10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10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684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210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87221"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alt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I/</a:t>
                      </a: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O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한글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영문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필수여부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I/O </a:t>
                      </a: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유형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초기값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회원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ID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memberid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Param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회원비밀번호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memberPw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Param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I/O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회원이름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memberName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Param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altLang="ko-KR" sz="1100" kern="100">
                          <a:latin typeface="맑은 고딕"/>
                          <a:ea typeface="맑은 고딕"/>
                          <a:cs typeface="Times New Roman"/>
                        </a:rPr>
                        <a:t>memberName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I/O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회원주소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memberAddr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Param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altLang="ko-KR" sz="1100" kern="100" dirty="0" err="1">
                          <a:latin typeface="맑은 고딕"/>
                          <a:ea typeface="맑은 고딕"/>
                          <a:cs typeface="Times New Roman"/>
                        </a:rPr>
                        <a:t>memberAddr</a:t>
                      </a:r>
                      <a:endParaRPr lang="en-US" altLang="ko-KR" sz="1100" kern="100" dirty="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I/O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전화번호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tel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Param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altLang="ko-KR" sz="1100" kern="100" dirty="0" err="1">
                          <a:latin typeface="맑은 고딕"/>
                          <a:ea typeface="맑은 고딕"/>
                          <a:cs typeface="Times New Roman"/>
                        </a:rPr>
                        <a:t>tel</a:t>
                      </a:r>
                      <a:endParaRPr lang="en-US" altLang="ko-KR" sz="1100" kern="100" dirty="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I/O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회원이메일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memberMail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Param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altLang="ko-KR" sz="1100" kern="100" dirty="0" err="1">
                          <a:latin typeface="맑은 고딕"/>
                          <a:ea typeface="맑은 고딕"/>
                          <a:cs typeface="Times New Roman"/>
                        </a:rPr>
                        <a:t>memberMail</a:t>
                      </a:r>
                      <a:endParaRPr lang="en-US" altLang="ko-KR" sz="1100" kern="100" dirty="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 dirty="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8"/>
                  </a:ext>
                </a:extLst>
              </a:tr>
            </a:tbl>
          </a:graphicData>
        </a:graphic>
      </p:graphicFrame>
      <p:sp>
        <p:nvSpPr>
          <p:cNvPr id="5" name="직사각형 6"/>
          <p:cNvSpPr/>
          <p:nvPr/>
        </p:nvSpPr>
        <p:spPr>
          <a:xfrm>
            <a:off x="425987" y="703729"/>
            <a:ext cx="138691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b="1">
                <a:latin typeface="맑은 고딕"/>
                <a:ea typeface="맑은 고딕"/>
              </a:rPr>
              <a:t>* </a:t>
            </a:r>
            <a:r>
              <a:rPr lang="ko-KR" altLang="ko-KR" b="1">
                <a:latin typeface="맑은 고딕"/>
                <a:ea typeface="맑은 고딕"/>
              </a:rPr>
              <a:t>화면입출력정보</a:t>
            </a:r>
          </a:p>
        </p:txBody>
      </p:sp>
      <p:sp>
        <p:nvSpPr>
          <p:cNvPr id="9" name="Rectangle 3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2pPr>
            <a:lvl3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3pPr>
            <a:lvl4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4pPr>
            <a:lvl5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sp>
        <p:nvSpPr>
          <p:cNvPr id="7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1.2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ko-KR" altLang="en-US" sz="1800" b="1" i="0" u="none" strike="noStrike" kern="0" cap="none" spc="0" normalizeH="0" baseline="0" dirty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일반 회원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xfrm>
            <a:off x="3872880" y="6671742"/>
            <a:ext cx="2063750" cy="213642"/>
          </a:xfrm>
        </p:spPr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11</a:t>
            </a:fld>
            <a:r>
              <a:rPr lang="en-US" altLang="ko-KR"/>
              <a:t> -</a:t>
            </a:r>
          </a:p>
        </p:txBody>
      </p:sp>
      <p:sp>
        <p:nvSpPr>
          <p:cNvPr id="3" name="Rectangle 94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graphicFrame>
        <p:nvGraphicFramePr>
          <p:cNvPr id="5" name="Group 3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1515582"/>
              </p:ext>
            </p:extLst>
          </p:nvPr>
        </p:nvGraphicFramePr>
        <p:xfrm>
          <a:off x="315913" y="747145"/>
          <a:ext cx="9272587" cy="5876622"/>
        </p:xfrm>
        <a:graphic>
          <a:graphicData uri="http://schemas.openxmlformats.org/drawingml/2006/table">
            <a:tbl>
              <a:tblPr/>
              <a:tblGrid>
                <a:gridCol w="96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718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6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36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752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7772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Level1</a:t>
                      </a:r>
                      <a:endParaRPr kumimoji="0" lang="en-US" altLang="ko-KR" sz="1000" b="1" i="0" u="none" strike="noStrike" cap="none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주류 유통 관리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Level2</a:t>
                      </a:r>
                      <a:endParaRPr kumimoji="0" lang="en-US" altLang="ko-KR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0" fontAlgn="auto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일반 회원 화면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5151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</a:t>
                      </a:r>
                      <a:r>
                        <a:rPr kumimoji="0" lang="en-US" altLang="ko-KR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ID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latinLnBrk="1" hangingPunct="1">
                        <a:lnSpc>
                          <a:spcPct val="104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Font typeface="Wingdings"/>
                        <a:buNone/>
                        <a:defRPr/>
                      </a:pPr>
                      <a:r>
                        <a:rPr kumimoji="1" lang="en-US" altLang="ko-KR" sz="10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UI_PD4_016</a:t>
                      </a:r>
                      <a:endParaRPr kumimoji="1" lang="en-US" altLang="ko-KR" sz="1000" b="0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리뷰 관리</a:t>
                      </a:r>
                      <a:endParaRPr lang="en-US" altLang="ko-KR" sz="1000" b="0" i="0" u="none" strike="noStrike" kern="120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4756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화면개요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작성 가능한 리뷰와 작성한 리뷰를 확인할 수 있는 페이지이다</a:t>
                      </a:r>
                      <a:r>
                        <a:rPr kumimoji="0" lang="en-US" altLang="ko-KR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  <a:endParaRPr kumimoji="0" lang="ko-KR" altLang="en-US" sz="1000" b="0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811">
                <a:tc rowSpan="2"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설명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31132">
                <a:tc gridSpan="4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marL="266700" marR="0" lvl="0" indent="-2667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리뷰 등록 버튼을 누를 시 작성 가능한 리뷰의 리뷰를 쓸 수 있다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작성한 리뷰의 리뷰를 수정할 수 있다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  <a:endParaRPr kumimoji="0" lang="en-US" altLang="ko-KR" sz="1000" b="1" i="0" u="none" strike="noStrike" cap="none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5761359" y="5863609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②</a:t>
            </a:r>
            <a:endParaRPr lang="ko-KR" altLang="en-US" sz="2000" dirty="0"/>
          </a:p>
        </p:txBody>
      </p:sp>
      <p:sp>
        <p:nvSpPr>
          <p:cNvPr id="34" name="TextBox 33"/>
          <p:cNvSpPr txBox="1"/>
          <p:nvPr/>
        </p:nvSpPr>
        <p:spPr>
          <a:xfrm>
            <a:off x="5734572" y="2171095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①</a:t>
            </a:r>
            <a:endParaRPr lang="ko-KR" altLang="en-US" sz="2000" dirty="0"/>
          </a:p>
        </p:txBody>
      </p:sp>
      <p:cxnSp>
        <p:nvCxnSpPr>
          <p:cNvPr id="49" name="직선 연결선 48"/>
          <p:cNvCxnSpPr/>
          <p:nvPr/>
        </p:nvCxnSpPr>
        <p:spPr>
          <a:xfrm>
            <a:off x="357655" y="1912987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50" name="TextBox 49"/>
          <p:cNvSpPr txBox="1"/>
          <p:nvPr/>
        </p:nvSpPr>
        <p:spPr>
          <a:xfrm>
            <a:off x="293212" y="1920289"/>
            <a:ext cx="1545248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500" dirty="0">
                <a:latin typeface="나눔바른고딕"/>
                <a:ea typeface="나눔바른고딕"/>
              </a:rPr>
              <a:t>작성 가능한 리뷰</a:t>
            </a:r>
          </a:p>
        </p:txBody>
      </p:sp>
      <p:cxnSp>
        <p:nvCxnSpPr>
          <p:cNvPr id="104" name="직선 연결선 103"/>
          <p:cNvCxnSpPr/>
          <p:nvPr/>
        </p:nvCxnSpPr>
        <p:spPr>
          <a:xfrm>
            <a:off x="351417" y="3284984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0200AD91-2574-797B-9F29-0B09839DB58D}"/>
              </a:ext>
            </a:extLst>
          </p:cNvPr>
          <p:cNvSpPr/>
          <p:nvPr/>
        </p:nvSpPr>
        <p:spPr>
          <a:xfrm>
            <a:off x="6039986" y="2289101"/>
            <a:ext cx="948107" cy="369325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 dirty="0">
                <a:solidFill>
                  <a:schemeClr val="tx1"/>
                </a:solidFill>
                <a:latin typeface="나눔바른고딕"/>
                <a:ea typeface="나눔바른고딕"/>
              </a:rPr>
              <a:t>리뷰 등록</a:t>
            </a:r>
          </a:p>
        </p:txBody>
      </p:sp>
      <p:pic>
        <p:nvPicPr>
          <p:cNvPr id="39" name="그림 38">
            <a:extLst>
              <a:ext uri="{FF2B5EF4-FFF2-40B4-BE49-F238E27FC236}">
                <a16:creationId xmlns:a16="http://schemas.microsoft.com/office/drawing/2014/main" id="{7E999C77-9352-D86F-6461-8D0ED53BD51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06780" y="2277379"/>
            <a:ext cx="463479" cy="484085"/>
          </a:xfrm>
          <a:prstGeom prst="rect">
            <a:avLst/>
          </a:prstGeom>
        </p:spPr>
      </p:pic>
      <p:cxnSp>
        <p:nvCxnSpPr>
          <p:cNvPr id="40" name="직선 연결선 39">
            <a:extLst>
              <a:ext uri="{FF2B5EF4-FFF2-40B4-BE49-F238E27FC236}">
                <a16:creationId xmlns:a16="http://schemas.microsoft.com/office/drawing/2014/main" id="{6A30922E-BAA3-53EA-73DF-EC0DABE48155}"/>
              </a:ext>
            </a:extLst>
          </p:cNvPr>
          <p:cNvCxnSpPr/>
          <p:nvPr/>
        </p:nvCxnSpPr>
        <p:spPr>
          <a:xfrm>
            <a:off x="357655" y="2220594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6D302551-E401-3CF9-848D-AE88FFAEC586}"/>
              </a:ext>
            </a:extLst>
          </p:cNvPr>
          <p:cNvSpPr txBox="1"/>
          <p:nvPr/>
        </p:nvSpPr>
        <p:spPr>
          <a:xfrm>
            <a:off x="867831" y="2311498"/>
            <a:ext cx="94810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400" dirty="0">
                <a:latin typeface="나눔바른고딕"/>
                <a:ea typeface="나눔바른고딕"/>
              </a:rPr>
              <a:t>상품명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F4F6065-F010-E3C0-77C7-CFA6B9846D47}"/>
              </a:ext>
            </a:extLst>
          </p:cNvPr>
          <p:cNvSpPr txBox="1"/>
          <p:nvPr/>
        </p:nvSpPr>
        <p:spPr>
          <a:xfrm>
            <a:off x="5900987" y="2658426"/>
            <a:ext cx="119003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dirty="0">
                <a:latin typeface="나눔바른고딕"/>
                <a:ea typeface="나눔바른고딕"/>
              </a:rPr>
              <a:t>포인트 </a:t>
            </a:r>
            <a:r>
              <a:rPr lang="en-US" altLang="ko-KR" dirty="0">
                <a:latin typeface="나눔바른고딕"/>
                <a:ea typeface="나눔바른고딕"/>
              </a:rPr>
              <a:t>000</a:t>
            </a:r>
            <a:r>
              <a:rPr lang="ko-KR" altLang="en-US" dirty="0">
                <a:latin typeface="나눔바른고딕"/>
                <a:ea typeface="나눔바른고딕"/>
              </a:rPr>
              <a:t>원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6ABC776-EC7A-E849-6107-7EF9433D3E35}"/>
              </a:ext>
            </a:extLst>
          </p:cNvPr>
          <p:cNvSpPr txBox="1"/>
          <p:nvPr/>
        </p:nvSpPr>
        <p:spPr>
          <a:xfrm>
            <a:off x="5621384" y="2863602"/>
            <a:ext cx="148995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dirty="0">
                <a:latin typeface="나눔바른고딕"/>
                <a:ea typeface="나눔바른고딕"/>
              </a:rPr>
              <a:t>작성기한 </a:t>
            </a:r>
            <a:r>
              <a:rPr lang="en-US" altLang="ko-KR" dirty="0">
                <a:latin typeface="나눔바른고딕"/>
                <a:ea typeface="나눔바른고딕"/>
              </a:rPr>
              <a:t>22.07.03</a:t>
            </a:r>
            <a:endParaRPr lang="ko-KR" altLang="en-US" dirty="0">
              <a:latin typeface="나눔바른고딕"/>
              <a:ea typeface="나눔바른고딕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F3B68CF-E0BF-F22C-9443-53EBFE47CBA5}"/>
              </a:ext>
            </a:extLst>
          </p:cNvPr>
          <p:cNvSpPr txBox="1"/>
          <p:nvPr/>
        </p:nvSpPr>
        <p:spPr>
          <a:xfrm>
            <a:off x="245039" y="4696964"/>
            <a:ext cx="1275412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500" dirty="0">
                <a:latin typeface="나눔바른고딕"/>
                <a:ea typeface="나눔바른고딕"/>
              </a:rPr>
              <a:t>작성한 리뷰</a:t>
            </a:r>
          </a:p>
        </p:txBody>
      </p:sp>
      <p:cxnSp>
        <p:nvCxnSpPr>
          <p:cNvPr id="45" name="직선 연결선 44">
            <a:extLst>
              <a:ext uri="{FF2B5EF4-FFF2-40B4-BE49-F238E27FC236}">
                <a16:creationId xmlns:a16="http://schemas.microsoft.com/office/drawing/2014/main" id="{E5B86A2A-62DB-AE1E-C3AB-E968CCE8DFF9}"/>
              </a:ext>
            </a:extLst>
          </p:cNvPr>
          <p:cNvCxnSpPr/>
          <p:nvPr/>
        </p:nvCxnSpPr>
        <p:spPr>
          <a:xfrm>
            <a:off x="366331" y="4696964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pic>
        <p:nvPicPr>
          <p:cNvPr id="46" name="그림 45">
            <a:extLst>
              <a:ext uri="{FF2B5EF4-FFF2-40B4-BE49-F238E27FC236}">
                <a16:creationId xmlns:a16="http://schemas.microsoft.com/office/drawing/2014/main" id="{2E3CBE42-C7D0-0793-95BD-A2F287DEDA1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21695" y="5138624"/>
            <a:ext cx="463479" cy="484085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AF630E09-C6B8-8EF1-75B4-B3A08B5BEFA0}"/>
              </a:ext>
            </a:extLst>
          </p:cNvPr>
          <p:cNvSpPr txBox="1"/>
          <p:nvPr/>
        </p:nvSpPr>
        <p:spPr>
          <a:xfrm>
            <a:off x="791451" y="5155770"/>
            <a:ext cx="94810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400" dirty="0">
                <a:latin typeface="나눔바른고딕"/>
                <a:ea typeface="나눔바른고딕"/>
              </a:rPr>
              <a:t>상품명</a:t>
            </a:r>
          </a:p>
        </p:txBody>
      </p:sp>
      <p:cxnSp>
        <p:nvCxnSpPr>
          <p:cNvPr id="48" name="직선 연결선 47">
            <a:extLst>
              <a:ext uri="{FF2B5EF4-FFF2-40B4-BE49-F238E27FC236}">
                <a16:creationId xmlns:a16="http://schemas.microsoft.com/office/drawing/2014/main" id="{33E00EC0-E65A-CA5E-4C57-A08E9EB30CB5}"/>
              </a:ext>
            </a:extLst>
          </p:cNvPr>
          <p:cNvCxnSpPr/>
          <p:nvPr/>
        </p:nvCxnSpPr>
        <p:spPr>
          <a:xfrm>
            <a:off x="366331" y="5724414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51" name="TextBox 50">
            <a:extLst>
              <a:ext uri="{FF2B5EF4-FFF2-40B4-BE49-F238E27FC236}">
                <a16:creationId xmlns:a16="http://schemas.microsoft.com/office/drawing/2014/main" id="{B9CBC51B-FFA8-23D9-ED5A-E26E5693CCAC}"/>
              </a:ext>
            </a:extLst>
          </p:cNvPr>
          <p:cNvSpPr txBox="1"/>
          <p:nvPr/>
        </p:nvSpPr>
        <p:spPr>
          <a:xfrm>
            <a:off x="308127" y="5777600"/>
            <a:ext cx="6823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dirty="0">
                <a:latin typeface="나눔바른고딕"/>
                <a:ea typeface="나눔바른고딕"/>
              </a:rPr>
              <a:t>내용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5C3B4A85-BD6D-EA55-A365-E6E1D3DB5F91}"/>
              </a:ext>
            </a:extLst>
          </p:cNvPr>
          <p:cNvSpPr/>
          <p:nvPr/>
        </p:nvSpPr>
        <p:spPr>
          <a:xfrm>
            <a:off x="6054901" y="6040956"/>
            <a:ext cx="948107" cy="369325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 dirty="0">
                <a:solidFill>
                  <a:schemeClr val="tx1"/>
                </a:solidFill>
                <a:latin typeface="나눔바른고딕"/>
                <a:ea typeface="나눔바른고딕"/>
              </a:rPr>
              <a:t>리뷰 수정</a:t>
            </a:r>
          </a:p>
        </p:txBody>
      </p:sp>
      <p:sp>
        <p:nvSpPr>
          <p:cNvPr id="24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1.2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ko-KR" altLang="en-US" sz="1800" b="1" i="0" u="none" strike="noStrike" kern="0" cap="none" spc="0" normalizeH="0" baseline="0" dirty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일반 회원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12</a:t>
            </a:fld>
            <a:r>
              <a:rPr lang="en-US" altLang="ko-KR"/>
              <a:t> -</a:t>
            </a:r>
          </a:p>
        </p:txBody>
      </p:sp>
      <p:graphicFrame>
        <p:nvGraphicFramePr>
          <p:cNvPr id="3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2123320"/>
              </p:ext>
            </p:extLst>
          </p:nvPr>
        </p:nvGraphicFramePr>
        <p:xfrm>
          <a:off x="560511" y="1052738"/>
          <a:ext cx="8928992" cy="5429409"/>
        </p:xfrm>
        <a:graphic>
          <a:graphicData uri="http://schemas.openxmlformats.org/drawingml/2006/table">
            <a:tbl>
              <a:tblPr/>
              <a:tblGrid>
                <a:gridCol w="9964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24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10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10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684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49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87221"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alt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I/</a:t>
                      </a: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O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한글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영문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필수여부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I/O </a:t>
                      </a: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유형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초기값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포인트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point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 dirty="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작성기한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revDate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상품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ID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productId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 dirty="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8"/>
                  </a:ext>
                </a:extLst>
              </a:tr>
            </a:tbl>
          </a:graphicData>
        </a:graphic>
      </p:graphicFrame>
      <p:sp>
        <p:nvSpPr>
          <p:cNvPr id="5" name="직사각형 6"/>
          <p:cNvSpPr/>
          <p:nvPr/>
        </p:nvSpPr>
        <p:spPr>
          <a:xfrm>
            <a:off x="425987" y="703729"/>
            <a:ext cx="138691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b="1">
                <a:latin typeface="맑은 고딕"/>
                <a:ea typeface="맑은 고딕"/>
              </a:rPr>
              <a:t>* </a:t>
            </a:r>
            <a:r>
              <a:rPr lang="ko-KR" altLang="ko-KR" b="1">
                <a:latin typeface="맑은 고딕"/>
                <a:ea typeface="맑은 고딕"/>
              </a:rPr>
              <a:t>화면입출력정보</a:t>
            </a:r>
          </a:p>
        </p:txBody>
      </p:sp>
      <p:sp>
        <p:nvSpPr>
          <p:cNvPr id="9" name="Rectangle 3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2pPr>
            <a:lvl3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3pPr>
            <a:lvl4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4pPr>
            <a:lvl5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sp>
        <p:nvSpPr>
          <p:cNvPr id="7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1.2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ko-KR" altLang="en-US" sz="1800" b="1" i="0" u="none" strike="noStrike" kern="0" cap="none" spc="0" normalizeH="0" baseline="0" dirty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일반 회원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4568997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xfrm>
            <a:off x="3872880" y="6671742"/>
            <a:ext cx="2063750" cy="213642"/>
          </a:xfrm>
        </p:spPr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13</a:t>
            </a:fld>
            <a:r>
              <a:rPr lang="en-US" altLang="ko-KR"/>
              <a:t> -</a:t>
            </a:r>
          </a:p>
        </p:txBody>
      </p:sp>
      <p:sp>
        <p:nvSpPr>
          <p:cNvPr id="3" name="Rectangle 94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graphicFrame>
        <p:nvGraphicFramePr>
          <p:cNvPr id="5" name="Group 3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7449257"/>
              </p:ext>
            </p:extLst>
          </p:nvPr>
        </p:nvGraphicFramePr>
        <p:xfrm>
          <a:off x="315913" y="747145"/>
          <a:ext cx="9272587" cy="5876622"/>
        </p:xfrm>
        <a:graphic>
          <a:graphicData uri="http://schemas.openxmlformats.org/drawingml/2006/table">
            <a:tbl>
              <a:tblPr/>
              <a:tblGrid>
                <a:gridCol w="96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718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6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36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752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7772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Level1</a:t>
                      </a:r>
                      <a:endParaRPr kumimoji="0" lang="en-US" altLang="ko-KR" sz="1000" b="1" i="0" u="none" strike="noStrike" cap="none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주류 유통 관리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Level2</a:t>
                      </a:r>
                      <a:endParaRPr kumimoji="0" lang="en-US" altLang="ko-KR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0" fontAlgn="auto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일반 회원 화면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5151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</a:t>
                      </a:r>
                      <a:r>
                        <a:rPr kumimoji="0" lang="en-US" altLang="ko-KR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ID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latinLnBrk="1" hangingPunct="1">
                        <a:lnSpc>
                          <a:spcPct val="104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Font typeface="Wingdings"/>
                        <a:buNone/>
                        <a:defRPr/>
                      </a:pPr>
                      <a:r>
                        <a:rPr kumimoji="1" lang="en-US" altLang="ko-KR" sz="10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UI_PD4_017</a:t>
                      </a:r>
                      <a:endParaRPr kumimoji="1" lang="en-US" altLang="ko-KR" sz="1000" b="0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리뷰 관리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4756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화면개요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리뷰 쓰기와 수정 할 수 있는 페이지이다</a:t>
                      </a:r>
                      <a:r>
                        <a:rPr kumimoji="0" lang="en-US" altLang="ko-KR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  <a:endParaRPr kumimoji="0" lang="ko-KR" altLang="en-US" sz="1000" b="0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811">
                <a:tc rowSpan="2"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설명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31132">
                <a:tc gridSpan="4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marL="266700" marR="0" lvl="0" indent="-2667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취소 버튼을 누를 시 이전 페이지로 이동한다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 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등록 버튼을 누르면 리뷰가 등록 되고 작성한 리뷰에 리뷰가 등록되어진다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28600" marR="0" lvl="0" indent="-228600" algn="l" defTabSz="914400" rtl="0" eaLnBrk="0" fontAlgn="auto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AutoNum type="arabicPeriod"/>
                        <a:tabLst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취소 버튼을 누를 시 이전 페이지로 이동한다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 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등록 버튼을 누르면 리뷰가 등록 되고 작성한 리뷰에 새로 작성한 내용으로 수정되어진다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endParaRPr kumimoji="0" lang="en-US" altLang="ko-KR" sz="1000" b="1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2590184" y="5429888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②</a:t>
            </a:r>
            <a:endParaRPr lang="ko-KR" altLang="en-US" sz="2000" dirty="0"/>
          </a:p>
        </p:txBody>
      </p:sp>
      <p:cxnSp>
        <p:nvCxnSpPr>
          <p:cNvPr id="49" name="직선 연결선 48"/>
          <p:cNvCxnSpPr/>
          <p:nvPr/>
        </p:nvCxnSpPr>
        <p:spPr>
          <a:xfrm>
            <a:off x="357655" y="1912987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4F3B68CF-E0BF-F22C-9443-53EBFE47CBA5}"/>
              </a:ext>
            </a:extLst>
          </p:cNvPr>
          <p:cNvSpPr txBox="1"/>
          <p:nvPr/>
        </p:nvSpPr>
        <p:spPr>
          <a:xfrm>
            <a:off x="116953" y="4307941"/>
            <a:ext cx="1275412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500" dirty="0">
                <a:latin typeface="나눔바른고딕"/>
                <a:ea typeface="나눔바른고딕"/>
              </a:rPr>
              <a:t>리뷰 수정</a:t>
            </a:r>
          </a:p>
        </p:txBody>
      </p:sp>
      <p:pic>
        <p:nvPicPr>
          <p:cNvPr id="46" name="그림 45">
            <a:extLst>
              <a:ext uri="{FF2B5EF4-FFF2-40B4-BE49-F238E27FC236}">
                <a16:creationId xmlns:a16="http://schemas.microsoft.com/office/drawing/2014/main" id="{2E3CBE42-C7D0-0793-95BD-A2F287DEDA1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368013" y="4628104"/>
            <a:ext cx="463479" cy="484085"/>
          </a:xfrm>
          <a:prstGeom prst="rect">
            <a:avLst/>
          </a:prstGeom>
        </p:spPr>
      </p:pic>
      <p:sp>
        <p:nvSpPr>
          <p:cNvPr id="47" name="TextBox 46">
            <a:extLst>
              <a:ext uri="{FF2B5EF4-FFF2-40B4-BE49-F238E27FC236}">
                <a16:creationId xmlns:a16="http://schemas.microsoft.com/office/drawing/2014/main" id="{AF630E09-C6B8-8EF1-75B4-B3A08B5BEFA0}"/>
              </a:ext>
            </a:extLst>
          </p:cNvPr>
          <p:cNvSpPr txBox="1"/>
          <p:nvPr/>
        </p:nvSpPr>
        <p:spPr>
          <a:xfrm>
            <a:off x="747617" y="4594224"/>
            <a:ext cx="94810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400" dirty="0">
                <a:latin typeface="나눔바른고딕"/>
                <a:ea typeface="나눔바른고딕"/>
              </a:rPr>
              <a:t>상품명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C3D96A7-7927-B642-E05C-A2780FF6B6DA}"/>
              </a:ext>
            </a:extLst>
          </p:cNvPr>
          <p:cNvSpPr txBox="1"/>
          <p:nvPr/>
        </p:nvSpPr>
        <p:spPr>
          <a:xfrm>
            <a:off x="269096" y="1921251"/>
            <a:ext cx="88189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400" dirty="0">
                <a:latin typeface="나눔바른고딕"/>
                <a:ea typeface="나눔바른고딕"/>
              </a:rPr>
              <a:t>리뷰 쓰기</a:t>
            </a:r>
          </a:p>
        </p:txBody>
      </p:sp>
      <p:pic>
        <p:nvPicPr>
          <p:cNvPr id="52" name="그림 51">
            <a:extLst>
              <a:ext uri="{FF2B5EF4-FFF2-40B4-BE49-F238E27FC236}">
                <a16:creationId xmlns:a16="http://schemas.microsoft.com/office/drawing/2014/main" id="{CADB61E3-7CD2-1B81-6E1B-EA69F7BECC3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21695" y="2292685"/>
            <a:ext cx="463479" cy="484085"/>
          </a:xfrm>
          <a:prstGeom prst="rect">
            <a:avLst/>
          </a:prstGeom>
        </p:spPr>
      </p:pic>
      <p:sp>
        <p:nvSpPr>
          <p:cNvPr id="53" name="TextBox 52">
            <a:extLst>
              <a:ext uri="{FF2B5EF4-FFF2-40B4-BE49-F238E27FC236}">
                <a16:creationId xmlns:a16="http://schemas.microsoft.com/office/drawing/2014/main" id="{E2559520-9BDD-9BD8-A2D6-4538C2265BE1}"/>
              </a:ext>
            </a:extLst>
          </p:cNvPr>
          <p:cNvSpPr txBox="1"/>
          <p:nvPr/>
        </p:nvSpPr>
        <p:spPr>
          <a:xfrm>
            <a:off x="732905" y="2247193"/>
            <a:ext cx="94810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400" dirty="0">
                <a:latin typeface="나눔바른고딕"/>
                <a:ea typeface="나눔바른고딕"/>
              </a:rPr>
              <a:t>상품명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8EA46BE-3D95-0DE0-121A-EED88C122FCF}"/>
              </a:ext>
            </a:extLst>
          </p:cNvPr>
          <p:cNvSpPr/>
          <p:nvPr/>
        </p:nvSpPr>
        <p:spPr>
          <a:xfrm>
            <a:off x="350075" y="2191525"/>
            <a:ext cx="6664169" cy="1734050"/>
          </a:xfrm>
          <a:prstGeom prst="rect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square" lIns="90000" tIns="46800" rIns="90000" bIns="4680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</a:pPr>
            <a:endParaRPr kumimoji="0" lang="ko-KR" altLang="en-US" sz="12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0A606F58-69EF-A653-51C8-A11E0EC79067}"/>
              </a:ext>
            </a:extLst>
          </p:cNvPr>
          <p:cNvSpPr/>
          <p:nvPr/>
        </p:nvSpPr>
        <p:spPr>
          <a:xfrm>
            <a:off x="920316" y="2539836"/>
            <a:ext cx="5725144" cy="719851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 dirty="0">
                <a:solidFill>
                  <a:schemeClr val="tx1"/>
                </a:solidFill>
                <a:latin typeface="나눔바른고딕"/>
                <a:ea typeface="나눔바른고딕"/>
              </a:rPr>
              <a:t>내용</a:t>
            </a: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9BE9D7DB-9D83-3D49-EA0C-B782E597B2A3}"/>
              </a:ext>
            </a:extLst>
          </p:cNvPr>
          <p:cNvSpPr/>
          <p:nvPr/>
        </p:nvSpPr>
        <p:spPr>
          <a:xfrm>
            <a:off x="2891756" y="3371716"/>
            <a:ext cx="835702" cy="28421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>
                <a:solidFill>
                  <a:schemeClr val="tx1"/>
                </a:solidFill>
                <a:latin typeface="나눔바른고딕"/>
                <a:ea typeface="나눔바른고딕"/>
              </a:rPr>
              <a:t>취소</a:t>
            </a:r>
            <a:endParaRPr lang="ko-KR" altLang="en-US" sz="1400" dirty="0">
              <a:solidFill>
                <a:schemeClr val="tx1"/>
              </a:solidFill>
              <a:latin typeface="나눔바른고딕"/>
              <a:ea typeface="나눔바른고딕"/>
            </a:endParaRP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01250A85-56A1-B881-23CB-36A7DD61F5B6}"/>
              </a:ext>
            </a:extLst>
          </p:cNvPr>
          <p:cNvSpPr/>
          <p:nvPr/>
        </p:nvSpPr>
        <p:spPr>
          <a:xfrm>
            <a:off x="3782888" y="3371599"/>
            <a:ext cx="835702" cy="28421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 dirty="0">
                <a:solidFill>
                  <a:schemeClr val="tx1"/>
                </a:solidFill>
                <a:latin typeface="나눔바른고딕"/>
                <a:ea typeface="나눔바른고딕"/>
              </a:rPr>
              <a:t>등록</a:t>
            </a: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8F202C44-30F4-6832-3C72-E15AF50B7506}"/>
              </a:ext>
            </a:extLst>
          </p:cNvPr>
          <p:cNvSpPr/>
          <p:nvPr/>
        </p:nvSpPr>
        <p:spPr>
          <a:xfrm>
            <a:off x="920316" y="4869331"/>
            <a:ext cx="5725144" cy="63608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 dirty="0">
                <a:solidFill>
                  <a:schemeClr val="tx1"/>
                </a:solidFill>
                <a:latin typeface="나눔바른고딕"/>
                <a:ea typeface="나눔바른고딕"/>
              </a:rPr>
              <a:t>미리 작성한 내용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4C0E895E-E9E4-2356-404B-5E086CDF1590}"/>
              </a:ext>
            </a:extLst>
          </p:cNvPr>
          <p:cNvSpPr/>
          <p:nvPr/>
        </p:nvSpPr>
        <p:spPr>
          <a:xfrm>
            <a:off x="2891756" y="5607472"/>
            <a:ext cx="835702" cy="28421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>
                <a:solidFill>
                  <a:schemeClr val="tx1"/>
                </a:solidFill>
                <a:latin typeface="나눔바른고딕"/>
                <a:ea typeface="나눔바른고딕"/>
              </a:rPr>
              <a:t>취소</a:t>
            </a:r>
            <a:endParaRPr lang="ko-KR" altLang="en-US" sz="1400" dirty="0">
              <a:solidFill>
                <a:schemeClr val="tx1"/>
              </a:solidFill>
              <a:latin typeface="나눔바른고딕"/>
              <a:ea typeface="나눔바른고딕"/>
            </a:endParaRP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44391961-7E11-6773-787C-D3B74BDFB234}"/>
              </a:ext>
            </a:extLst>
          </p:cNvPr>
          <p:cNvSpPr/>
          <p:nvPr/>
        </p:nvSpPr>
        <p:spPr>
          <a:xfrm>
            <a:off x="3782888" y="5607355"/>
            <a:ext cx="835702" cy="28421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 dirty="0">
                <a:solidFill>
                  <a:schemeClr val="tx1"/>
                </a:solidFill>
                <a:latin typeface="나눔바른고딕"/>
                <a:ea typeface="나눔바른고딕"/>
              </a:rPr>
              <a:t>등록</a:t>
            </a:r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CF446D6F-1966-2F47-7D11-0E93459E45FA}"/>
              </a:ext>
            </a:extLst>
          </p:cNvPr>
          <p:cNvSpPr/>
          <p:nvPr/>
        </p:nvSpPr>
        <p:spPr>
          <a:xfrm>
            <a:off x="350075" y="4306813"/>
            <a:ext cx="6664169" cy="1804042"/>
          </a:xfrm>
          <a:prstGeom prst="rect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square" lIns="90000" tIns="46800" rIns="90000" bIns="46800" numCol="1" rtlCol="0" anchor="t" anchorCtr="0" compatLnSpc="1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fontAlgn="base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</a:pPr>
            <a:endParaRPr kumimoji="0" lang="ko-KR" altLang="en-US" sz="12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712A45C-BC41-9569-E1A0-ED716458C18E}"/>
              </a:ext>
            </a:extLst>
          </p:cNvPr>
          <p:cNvSpPr txBox="1"/>
          <p:nvPr/>
        </p:nvSpPr>
        <p:spPr>
          <a:xfrm>
            <a:off x="2595997" y="3207888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①</a:t>
            </a:r>
            <a:endParaRPr lang="ko-KR" altLang="en-US" sz="2000" dirty="0"/>
          </a:p>
        </p:txBody>
      </p:sp>
      <p:sp>
        <p:nvSpPr>
          <p:cNvPr id="23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1.2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ko-KR" altLang="en-US" sz="1800" b="1" i="0" u="none" strike="noStrike" kern="0" cap="none" spc="0" normalizeH="0" baseline="0" dirty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일반 회원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4118480634"/>
      </p:ext>
    </p:extLst>
  </p:cSld>
  <p:clrMapOvr>
    <a:masterClrMapping/>
  </p:clrMapOvr>
  <p:transition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14</a:t>
            </a:fld>
            <a:r>
              <a:rPr lang="en-US" altLang="ko-KR"/>
              <a:t> -</a:t>
            </a:r>
          </a:p>
        </p:txBody>
      </p:sp>
      <p:graphicFrame>
        <p:nvGraphicFramePr>
          <p:cNvPr id="3" name="표 4"/>
          <p:cNvGraphicFramePr>
            <a:graphicFrameLocks noGrp="1"/>
          </p:cNvGraphicFramePr>
          <p:nvPr/>
        </p:nvGraphicFramePr>
        <p:xfrm>
          <a:off x="560511" y="1052738"/>
          <a:ext cx="8928992" cy="5429409"/>
        </p:xfrm>
        <a:graphic>
          <a:graphicData uri="http://schemas.openxmlformats.org/drawingml/2006/table">
            <a:tbl>
              <a:tblPr/>
              <a:tblGrid>
                <a:gridCol w="9964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24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10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10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684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49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87221"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alt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I/</a:t>
                      </a: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O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한글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영문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필수여부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I/O </a:t>
                      </a: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유형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초기값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상품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ID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productId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내용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content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회원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ID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memberId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등록일자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regDate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 dirty="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8"/>
                  </a:ext>
                </a:extLst>
              </a:tr>
            </a:tbl>
          </a:graphicData>
        </a:graphic>
      </p:graphicFrame>
      <p:sp>
        <p:nvSpPr>
          <p:cNvPr id="5" name="직사각형 6"/>
          <p:cNvSpPr/>
          <p:nvPr/>
        </p:nvSpPr>
        <p:spPr>
          <a:xfrm>
            <a:off x="425987" y="703729"/>
            <a:ext cx="138691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b="1">
                <a:latin typeface="맑은 고딕"/>
                <a:ea typeface="맑은 고딕"/>
              </a:rPr>
              <a:t>* </a:t>
            </a:r>
            <a:r>
              <a:rPr lang="ko-KR" altLang="ko-KR" b="1">
                <a:latin typeface="맑은 고딕"/>
                <a:ea typeface="맑은 고딕"/>
              </a:rPr>
              <a:t>화면입출력정보</a:t>
            </a:r>
          </a:p>
        </p:txBody>
      </p:sp>
      <p:sp>
        <p:nvSpPr>
          <p:cNvPr id="9" name="Rectangle 3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2pPr>
            <a:lvl3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3pPr>
            <a:lvl4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4pPr>
            <a:lvl5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sp>
        <p:nvSpPr>
          <p:cNvPr id="7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1.2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ko-KR" altLang="en-US" sz="1800" b="1" i="0" u="none" strike="noStrike" kern="0" cap="none" spc="0" normalizeH="0" baseline="0" dirty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일반 회원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xfrm>
            <a:off x="3872880" y="6671742"/>
            <a:ext cx="2063750" cy="213642"/>
          </a:xfrm>
        </p:spPr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15</a:t>
            </a:fld>
            <a:r>
              <a:rPr lang="en-US" altLang="ko-KR"/>
              <a:t> -</a:t>
            </a:r>
          </a:p>
        </p:txBody>
      </p:sp>
      <p:sp>
        <p:nvSpPr>
          <p:cNvPr id="3" name="Rectangle 94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graphicFrame>
        <p:nvGraphicFramePr>
          <p:cNvPr id="5" name="Group 3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713655"/>
              </p:ext>
            </p:extLst>
          </p:nvPr>
        </p:nvGraphicFramePr>
        <p:xfrm>
          <a:off x="315913" y="747145"/>
          <a:ext cx="9272587" cy="5876622"/>
        </p:xfrm>
        <a:graphic>
          <a:graphicData uri="http://schemas.openxmlformats.org/drawingml/2006/table">
            <a:tbl>
              <a:tblPr/>
              <a:tblGrid>
                <a:gridCol w="96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718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6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36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752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7772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Level1</a:t>
                      </a:r>
                      <a:endParaRPr kumimoji="0" lang="en-US" altLang="ko-KR" sz="1000" b="1" i="0" u="none" strike="noStrike" cap="none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주류 유통 관리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Level2</a:t>
                      </a:r>
                      <a:endParaRPr kumimoji="0" lang="en-US" altLang="ko-KR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0" fontAlgn="auto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일반 회원 화면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5151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</a:t>
                      </a:r>
                      <a:r>
                        <a:rPr kumimoji="0" lang="en-US" altLang="ko-KR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ID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latinLnBrk="1" hangingPunct="1">
                        <a:lnSpc>
                          <a:spcPct val="104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Font typeface="Wingdings"/>
                        <a:buNone/>
                        <a:defRPr/>
                      </a:pPr>
                      <a:r>
                        <a:rPr kumimoji="1" lang="en-US" altLang="ko-KR" sz="10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UI_PD4_018</a:t>
                      </a:r>
                      <a:endParaRPr kumimoji="1" lang="en-US" altLang="ko-KR" sz="1000" b="0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결제 수단 관리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4756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화면개요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카드와 송금 가능한 계좌를 볼 수 있는 페이지이다</a:t>
                      </a:r>
                      <a:r>
                        <a:rPr kumimoji="0" lang="en-US" altLang="ko-KR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  <a:endParaRPr kumimoji="0" lang="ko-KR" altLang="en-US" sz="1000" b="0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811">
                <a:tc rowSpan="2"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설명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31132">
                <a:tc gridSpan="4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marL="266700" marR="0" lvl="0" indent="-2667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결제 수단을 등록할 수 있다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등록된 결제 수단을 삭제할 수 있다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5814380" y="2856417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②</a:t>
            </a:r>
            <a:endParaRPr lang="ko-KR" altLang="en-US" sz="2000" dirty="0"/>
          </a:p>
        </p:txBody>
      </p:sp>
      <p:sp>
        <p:nvSpPr>
          <p:cNvPr id="34" name="TextBox 33"/>
          <p:cNvSpPr txBox="1"/>
          <p:nvPr/>
        </p:nvSpPr>
        <p:spPr>
          <a:xfrm>
            <a:off x="5823158" y="2161933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①</a:t>
            </a:r>
            <a:endParaRPr lang="ko-KR" altLang="en-US" sz="2000" dirty="0"/>
          </a:p>
        </p:txBody>
      </p:sp>
      <p:cxnSp>
        <p:nvCxnSpPr>
          <p:cNvPr id="49" name="직선 연결선 48"/>
          <p:cNvCxnSpPr/>
          <p:nvPr/>
        </p:nvCxnSpPr>
        <p:spPr>
          <a:xfrm>
            <a:off x="357655" y="1912987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50" name="TextBox 49"/>
          <p:cNvSpPr txBox="1"/>
          <p:nvPr/>
        </p:nvSpPr>
        <p:spPr>
          <a:xfrm>
            <a:off x="136380" y="1919773"/>
            <a:ext cx="1545248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500">
                <a:latin typeface="나눔바른고딕"/>
                <a:ea typeface="나눔바른고딕"/>
              </a:rPr>
              <a:t>결제 수단 관리</a:t>
            </a:r>
          </a:p>
        </p:txBody>
      </p:sp>
      <p:cxnSp>
        <p:nvCxnSpPr>
          <p:cNvPr id="90" name="직선 연결선 89"/>
          <p:cNvCxnSpPr/>
          <p:nvPr/>
        </p:nvCxnSpPr>
        <p:spPr>
          <a:xfrm>
            <a:off x="357655" y="2233757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91" name="TextBox 90"/>
          <p:cNvSpPr txBox="1"/>
          <p:nvPr/>
        </p:nvSpPr>
        <p:spPr>
          <a:xfrm>
            <a:off x="292508" y="2248796"/>
            <a:ext cx="956556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500" dirty="0">
                <a:latin typeface="나눔바른고딕"/>
                <a:ea typeface="나눔바른고딕"/>
              </a:rPr>
              <a:t>카드 관리</a:t>
            </a:r>
          </a:p>
        </p:txBody>
      </p:sp>
      <p:cxnSp>
        <p:nvCxnSpPr>
          <p:cNvPr id="104" name="직선 연결선 103"/>
          <p:cNvCxnSpPr/>
          <p:nvPr/>
        </p:nvCxnSpPr>
        <p:spPr>
          <a:xfrm>
            <a:off x="315913" y="3560885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cxnSp>
        <p:nvCxnSpPr>
          <p:cNvPr id="105" name="직선 연결선 104"/>
          <p:cNvCxnSpPr/>
          <p:nvPr/>
        </p:nvCxnSpPr>
        <p:spPr>
          <a:xfrm>
            <a:off x="357655" y="3256235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ysDot"/>
            <a:round/>
          </a:ln>
          <a:effectLst/>
        </p:spPr>
      </p:cxnSp>
      <p:sp>
        <p:nvSpPr>
          <p:cNvPr id="39" name="직사각형 38"/>
          <p:cNvSpPr/>
          <p:nvPr/>
        </p:nvSpPr>
        <p:spPr>
          <a:xfrm>
            <a:off x="315913" y="2566893"/>
            <a:ext cx="6781349" cy="36012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>
                <a:solidFill>
                  <a:schemeClr val="tx1"/>
                </a:solidFill>
                <a:latin typeface="나눔바른고딕"/>
                <a:ea typeface="나눔바른고딕"/>
              </a:rPr>
              <a:t>카드</a:t>
            </a:r>
            <a:r>
              <a:rPr lang="en-US" altLang="ko-KR" sz="1400">
                <a:solidFill>
                  <a:schemeClr val="tx1"/>
                </a:solidFill>
                <a:latin typeface="나눔바른고딕"/>
                <a:ea typeface="나눔바른고딕"/>
              </a:rPr>
              <a:t>/</a:t>
            </a:r>
            <a:r>
              <a:rPr lang="ko-KR" altLang="en-US" sz="1400">
                <a:solidFill>
                  <a:schemeClr val="tx1"/>
                </a:solidFill>
                <a:latin typeface="나눔바른고딕"/>
                <a:ea typeface="나눔바른고딕"/>
              </a:rPr>
              <a:t>카드번호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45088" y="2614389"/>
            <a:ext cx="12961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400">
                <a:latin typeface="나눔바른고딕"/>
                <a:ea typeface="나눔바른고딕"/>
              </a:rPr>
              <a:t>관리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2129" y="4508444"/>
            <a:ext cx="1886374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500" dirty="0">
                <a:latin typeface="나눔바른고딕"/>
                <a:ea typeface="나눔바른고딕"/>
              </a:rPr>
              <a:t>결제</a:t>
            </a:r>
            <a:r>
              <a:rPr lang="en-US" altLang="ko-KR" sz="1500" dirty="0">
                <a:latin typeface="나눔바른고딕"/>
                <a:ea typeface="나눔바른고딕"/>
              </a:rPr>
              <a:t>/</a:t>
            </a:r>
            <a:r>
              <a:rPr lang="ko-KR" altLang="en-US" sz="1500" dirty="0">
                <a:latin typeface="나눔바른고딕"/>
                <a:ea typeface="나눔바른고딕"/>
              </a:rPr>
              <a:t>송금 계좌 관리</a:t>
            </a:r>
          </a:p>
        </p:txBody>
      </p:sp>
      <p:cxnSp>
        <p:nvCxnSpPr>
          <p:cNvPr id="45" name="직선 연결선 44"/>
          <p:cNvCxnSpPr/>
          <p:nvPr/>
        </p:nvCxnSpPr>
        <p:spPr>
          <a:xfrm>
            <a:off x="357653" y="5767391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cxnSp>
        <p:nvCxnSpPr>
          <p:cNvPr id="46" name="직선 연결선 45"/>
          <p:cNvCxnSpPr/>
          <p:nvPr/>
        </p:nvCxnSpPr>
        <p:spPr>
          <a:xfrm>
            <a:off x="357654" y="5473757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ysDot"/>
            <a:round/>
          </a:ln>
          <a:effectLst/>
        </p:spPr>
      </p:cxnSp>
      <p:sp>
        <p:nvSpPr>
          <p:cNvPr id="48" name="직사각형 47"/>
          <p:cNvSpPr/>
          <p:nvPr/>
        </p:nvSpPr>
        <p:spPr>
          <a:xfrm>
            <a:off x="315913" y="4815150"/>
            <a:ext cx="6781349" cy="36012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>
                <a:solidFill>
                  <a:schemeClr val="tx1"/>
                </a:solidFill>
                <a:latin typeface="나눔바른고딕"/>
                <a:ea typeface="나눔바른고딕"/>
              </a:rPr>
              <a:t>은행</a:t>
            </a:r>
            <a:r>
              <a:rPr lang="en-US" altLang="ko-KR" sz="1400">
                <a:solidFill>
                  <a:schemeClr val="tx1"/>
                </a:solidFill>
                <a:latin typeface="나눔바른고딕"/>
                <a:ea typeface="나눔바른고딕"/>
              </a:rPr>
              <a:t>/</a:t>
            </a:r>
            <a:r>
              <a:rPr lang="ko-KR" altLang="en-US" sz="1400">
                <a:solidFill>
                  <a:schemeClr val="tx1"/>
                </a:solidFill>
                <a:latin typeface="나눔바른고딕"/>
                <a:ea typeface="나눔바른고딕"/>
              </a:rPr>
              <a:t>계좌번호</a:t>
            </a:r>
            <a:r>
              <a:rPr lang="en-US" altLang="ko-KR" sz="1400">
                <a:solidFill>
                  <a:schemeClr val="tx1"/>
                </a:solidFill>
                <a:latin typeface="나눔바른고딕"/>
                <a:ea typeface="나눔바른고딕"/>
              </a:rPr>
              <a:t>/</a:t>
            </a:r>
            <a:r>
              <a:rPr lang="ko-KR" altLang="en-US" sz="1400">
                <a:solidFill>
                  <a:schemeClr val="tx1"/>
                </a:solidFill>
                <a:latin typeface="나눔바른고딕"/>
                <a:ea typeface="나눔바른고딕"/>
              </a:rPr>
              <a:t>계좌명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745088" y="4862646"/>
            <a:ext cx="129614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400">
                <a:latin typeface="나눔바른고딕"/>
                <a:ea typeface="나눔바른고딕"/>
              </a:rPr>
              <a:t>관리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5AD36B23-7736-705A-47DA-A3C3C049DE3B}"/>
              </a:ext>
            </a:extLst>
          </p:cNvPr>
          <p:cNvSpPr/>
          <p:nvPr/>
        </p:nvSpPr>
        <p:spPr>
          <a:xfrm>
            <a:off x="6114982" y="2233007"/>
            <a:ext cx="582955" cy="323165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chemeClr val="tx1"/>
                </a:solidFill>
                <a:latin typeface="나눔바른고딕"/>
                <a:ea typeface="나눔바른고딕"/>
              </a:rPr>
              <a:t>등록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36DFA8F3-1E6C-57C6-1614-4F70B6535AB0}"/>
              </a:ext>
            </a:extLst>
          </p:cNvPr>
          <p:cNvSpPr/>
          <p:nvPr/>
        </p:nvSpPr>
        <p:spPr>
          <a:xfrm>
            <a:off x="6110152" y="2942383"/>
            <a:ext cx="566016" cy="29848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chemeClr val="tx1"/>
                </a:solidFill>
                <a:latin typeface="나눔바른고딕"/>
                <a:ea typeface="나눔바른고딕"/>
              </a:rPr>
              <a:t>삭제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292A06F4-8726-F492-B6E7-25C29B5D51B6}"/>
              </a:ext>
            </a:extLst>
          </p:cNvPr>
          <p:cNvSpPr/>
          <p:nvPr/>
        </p:nvSpPr>
        <p:spPr>
          <a:xfrm>
            <a:off x="6110152" y="3250971"/>
            <a:ext cx="566016" cy="29848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chemeClr val="tx1"/>
                </a:solidFill>
                <a:latin typeface="나눔바른고딕"/>
                <a:ea typeface="나눔바른고딕"/>
              </a:rPr>
              <a:t>삭제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BCB3907B-9917-0CC4-0A18-33EEC92C01FE}"/>
              </a:ext>
            </a:extLst>
          </p:cNvPr>
          <p:cNvSpPr/>
          <p:nvPr/>
        </p:nvSpPr>
        <p:spPr>
          <a:xfrm>
            <a:off x="6114982" y="4491985"/>
            <a:ext cx="582955" cy="323165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chemeClr val="tx1"/>
                </a:solidFill>
                <a:latin typeface="나눔바른고딕"/>
                <a:ea typeface="나눔바른고딕"/>
              </a:rPr>
              <a:t>등록</a:t>
            </a:r>
          </a:p>
        </p:txBody>
      </p:sp>
      <p:sp>
        <p:nvSpPr>
          <p:cNvPr id="54" name="직사각형 53">
            <a:extLst>
              <a:ext uri="{FF2B5EF4-FFF2-40B4-BE49-F238E27FC236}">
                <a16:creationId xmlns:a16="http://schemas.microsoft.com/office/drawing/2014/main" id="{03CE0678-5DE5-F33F-0558-38C6B7B1519E}"/>
              </a:ext>
            </a:extLst>
          </p:cNvPr>
          <p:cNvSpPr/>
          <p:nvPr/>
        </p:nvSpPr>
        <p:spPr>
          <a:xfrm>
            <a:off x="6110152" y="5175273"/>
            <a:ext cx="566016" cy="29848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chemeClr val="tx1"/>
                </a:solidFill>
                <a:latin typeface="나눔바른고딕"/>
                <a:ea typeface="나눔바른고딕"/>
              </a:rPr>
              <a:t>삭제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941A0D5C-287F-61F1-6F66-E1275357EEB1}"/>
              </a:ext>
            </a:extLst>
          </p:cNvPr>
          <p:cNvSpPr/>
          <p:nvPr/>
        </p:nvSpPr>
        <p:spPr>
          <a:xfrm>
            <a:off x="6110152" y="5468907"/>
            <a:ext cx="566016" cy="29848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dirty="0">
                <a:solidFill>
                  <a:schemeClr val="tx1"/>
                </a:solidFill>
                <a:latin typeface="나눔바른고딕"/>
                <a:ea typeface="나눔바른고딕"/>
              </a:rPr>
              <a:t>삭제</a:t>
            </a:r>
          </a:p>
        </p:txBody>
      </p:sp>
      <p:sp>
        <p:nvSpPr>
          <p:cNvPr id="27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1.2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ko-KR" altLang="en-US" sz="1800" b="1" i="0" u="none" strike="noStrike" kern="0" cap="none" spc="0" normalizeH="0" baseline="0" dirty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일반 회원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16</a:t>
            </a:fld>
            <a:r>
              <a:rPr lang="en-US" altLang="ko-KR"/>
              <a:t> -</a:t>
            </a:r>
          </a:p>
        </p:txBody>
      </p:sp>
      <p:graphicFrame>
        <p:nvGraphicFramePr>
          <p:cNvPr id="3" name="표 4"/>
          <p:cNvGraphicFramePr>
            <a:graphicFrameLocks noGrp="1"/>
          </p:cNvGraphicFramePr>
          <p:nvPr/>
        </p:nvGraphicFramePr>
        <p:xfrm>
          <a:off x="560511" y="1052738"/>
          <a:ext cx="8928992" cy="5429409"/>
        </p:xfrm>
        <a:graphic>
          <a:graphicData uri="http://schemas.openxmlformats.org/drawingml/2006/table">
            <a:tbl>
              <a:tblPr/>
              <a:tblGrid>
                <a:gridCol w="9964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24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10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10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684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49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87221"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alt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I/</a:t>
                      </a: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O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한글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영문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필수여부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I/O </a:t>
                      </a: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유형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초기값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8"/>
                  </a:ext>
                </a:extLst>
              </a:tr>
            </a:tbl>
          </a:graphicData>
        </a:graphic>
      </p:graphicFrame>
      <p:sp>
        <p:nvSpPr>
          <p:cNvPr id="5" name="직사각형 6"/>
          <p:cNvSpPr/>
          <p:nvPr/>
        </p:nvSpPr>
        <p:spPr>
          <a:xfrm>
            <a:off x="425987" y="703729"/>
            <a:ext cx="138691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b="1">
                <a:latin typeface="맑은 고딕"/>
                <a:ea typeface="맑은 고딕"/>
              </a:rPr>
              <a:t>* </a:t>
            </a:r>
            <a:r>
              <a:rPr lang="ko-KR" altLang="ko-KR" b="1">
                <a:latin typeface="맑은 고딕"/>
                <a:ea typeface="맑은 고딕"/>
              </a:rPr>
              <a:t>화면입출력정보</a:t>
            </a:r>
          </a:p>
        </p:txBody>
      </p:sp>
      <p:sp>
        <p:nvSpPr>
          <p:cNvPr id="9" name="Rectangle 3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2pPr>
            <a:lvl3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3pPr>
            <a:lvl4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4pPr>
            <a:lvl5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sp>
        <p:nvSpPr>
          <p:cNvPr id="7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1.2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ko-KR" altLang="en-US" sz="1800" b="1" i="0" u="none" strike="noStrike" kern="0" cap="none" spc="0" normalizeH="0" baseline="0" dirty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일반 회원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94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graphicFrame>
        <p:nvGraphicFramePr>
          <p:cNvPr id="5" name="Group 3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1167849"/>
              </p:ext>
            </p:extLst>
          </p:nvPr>
        </p:nvGraphicFramePr>
        <p:xfrm>
          <a:off x="315913" y="747145"/>
          <a:ext cx="9272587" cy="5876622"/>
        </p:xfrm>
        <a:graphic>
          <a:graphicData uri="http://schemas.openxmlformats.org/drawingml/2006/table">
            <a:tbl>
              <a:tblPr/>
              <a:tblGrid>
                <a:gridCol w="96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718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6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36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752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7772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Level1</a:t>
                      </a:r>
                      <a:endParaRPr kumimoji="0" lang="en-US" altLang="ko-KR" sz="1000" b="1" i="0" u="none" strike="noStrike" cap="none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주류 유통 관리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Level2</a:t>
                      </a:r>
                      <a:endParaRPr kumimoji="0" lang="en-US" altLang="ko-KR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0" fontAlgn="auto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일반 회원 화면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5151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</a:t>
                      </a:r>
                      <a:r>
                        <a:rPr kumimoji="0" lang="en-US" altLang="ko-KR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ID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latinLnBrk="1" hangingPunct="1">
                        <a:lnSpc>
                          <a:spcPct val="104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Font typeface="Wingdings"/>
                        <a:buNone/>
                        <a:defRPr/>
                      </a:pPr>
                      <a:r>
                        <a:rPr kumimoji="1" lang="en-US" altLang="ko-KR" sz="10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UI_PD4_019</a:t>
                      </a:r>
                      <a:endParaRPr kumimoji="1" lang="en-US" altLang="ko-KR" sz="1000" b="0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고객센터</a:t>
                      </a:r>
                      <a:endParaRPr lang="en-US" altLang="ko-KR" sz="1000" b="0" i="0" u="none" strike="noStrike" kern="120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4756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화면개요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고객센터 페이지이다</a:t>
                      </a:r>
                      <a:r>
                        <a:rPr kumimoji="0" lang="en-US" altLang="ko-KR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  <a:endParaRPr kumimoji="0" lang="ko-KR" altLang="en-US" sz="1000" b="0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811">
                <a:tc rowSpan="2"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설명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31132">
                <a:tc gridSpan="4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marL="266700" marR="0" lvl="0" indent="-2667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자주 묻는 질문을 볼 수 있다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모든 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Q&amp;A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들을 볼 수 있다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상담원 연결을 할 수 있다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  <a:endParaRPr kumimoji="0" lang="en-US" altLang="ko-KR" sz="1000" b="1" i="0" u="none" strike="noStrike" cap="none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2" name="TextBox 31"/>
          <p:cNvSpPr txBox="1"/>
          <p:nvPr/>
        </p:nvSpPr>
        <p:spPr>
          <a:xfrm>
            <a:off x="232657" y="5172951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③</a:t>
            </a:r>
            <a:endParaRPr lang="ko-KR" altLang="en-US" sz="2000" dirty="0"/>
          </a:p>
        </p:txBody>
      </p:sp>
      <p:sp>
        <p:nvSpPr>
          <p:cNvPr id="33" name="TextBox 32"/>
          <p:cNvSpPr txBox="1"/>
          <p:nvPr/>
        </p:nvSpPr>
        <p:spPr>
          <a:xfrm>
            <a:off x="225952" y="3545197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②</a:t>
            </a:r>
            <a:endParaRPr lang="ko-KR" altLang="en-US" sz="2000" dirty="0"/>
          </a:p>
        </p:txBody>
      </p:sp>
      <p:sp>
        <p:nvSpPr>
          <p:cNvPr id="34" name="TextBox 33"/>
          <p:cNvSpPr txBox="1"/>
          <p:nvPr/>
        </p:nvSpPr>
        <p:spPr>
          <a:xfrm>
            <a:off x="228360" y="2158835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①</a:t>
            </a:r>
            <a:endParaRPr lang="ko-KR" altLang="en-US" sz="2000" dirty="0"/>
          </a:p>
        </p:txBody>
      </p:sp>
      <p:cxnSp>
        <p:nvCxnSpPr>
          <p:cNvPr id="49" name="직선 연결선 48"/>
          <p:cNvCxnSpPr/>
          <p:nvPr/>
        </p:nvCxnSpPr>
        <p:spPr>
          <a:xfrm>
            <a:off x="357655" y="1912987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50" name="TextBox 49"/>
          <p:cNvSpPr txBox="1"/>
          <p:nvPr/>
        </p:nvSpPr>
        <p:spPr>
          <a:xfrm>
            <a:off x="102532" y="1919774"/>
            <a:ext cx="1296144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500">
                <a:latin typeface="나눔바른고딕"/>
                <a:ea typeface="나눔바른고딕"/>
              </a:rPr>
              <a:t>고객센터</a:t>
            </a:r>
          </a:p>
        </p:txBody>
      </p:sp>
      <p:cxnSp>
        <p:nvCxnSpPr>
          <p:cNvPr id="90" name="직선 연결선 89"/>
          <p:cNvCxnSpPr/>
          <p:nvPr/>
        </p:nvCxnSpPr>
        <p:spPr>
          <a:xfrm>
            <a:off x="357655" y="2233757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91" name="TextBox 90"/>
          <p:cNvSpPr txBox="1"/>
          <p:nvPr/>
        </p:nvSpPr>
        <p:spPr>
          <a:xfrm>
            <a:off x="399580" y="2230817"/>
            <a:ext cx="71744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>
                <a:latin typeface="나눔바른고딕"/>
                <a:ea typeface="나눔바른고딕"/>
              </a:rPr>
              <a:t>FAQ</a:t>
            </a:r>
            <a:endParaRPr lang="ko-KR" altLang="en-US">
              <a:latin typeface="나눔바른고딕"/>
              <a:ea typeface="나눔바른고딕"/>
            </a:endParaRPr>
          </a:p>
        </p:txBody>
      </p:sp>
      <p:cxnSp>
        <p:nvCxnSpPr>
          <p:cNvPr id="104" name="직선 연결선 103"/>
          <p:cNvCxnSpPr/>
          <p:nvPr/>
        </p:nvCxnSpPr>
        <p:spPr>
          <a:xfrm>
            <a:off x="301625" y="3284984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cxnSp>
        <p:nvCxnSpPr>
          <p:cNvPr id="37" name="직선 연결선 36"/>
          <p:cNvCxnSpPr/>
          <p:nvPr/>
        </p:nvCxnSpPr>
        <p:spPr>
          <a:xfrm>
            <a:off x="357655" y="2470673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38" name="TextBox 37"/>
          <p:cNvSpPr txBox="1"/>
          <p:nvPr/>
        </p:nvSpPr>
        <p:spPr>
          <a:xfrm>
            <a:off x="136380" y="2521696"/>
            <a:ext cx="12961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답변상태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72150" y="2521696"/>
            <a:ext cx="12961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제목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5008" y="2521696"/>
            <a:ext cx="12961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작성자</a:t>
            </a:r>
          </a:p>
        </p:txBody>
      </p:sp>
      <p:cxnSp>
        <p:nvCxnSpPr>
          <p:cNvPr id="43" name="직선 연결선 42"/>
          <p:cNvCxnSpPr/>
          <p:nvPr/>
        </p:nvCxnSpPr>
        <p:spPr>
          <a:xfrm>
            <a:off x="357655" y="2798695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53" name="TextBox 52"/>
          <p:cNvSpPr txBox="1"/>
          <p:nvPr/>
        </p:nvSpPr>
        <p:spPr>
          <a:xfrm>
            <a:off x="428010" y="3626377"/>
            <a:ext cx="618771" cy="279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dirty="0">
                <a:latin typeface="나눔바른고딕"/>
                <a:ea typeface="나눔바른고딕"/>
              </a:rPr>
              <a:t>Q&amp;A</a:t>
            </a:r>
            <a:endParaRPr lang="ko-KR" altLang="en-US" dirty="0">
              <a:latin typeface="나눔바른고딕"/>
              <a:ea typeface="나눔바른고딕"/>
            </a:endParaRPr>
          </a:p>
        </p:txBody>
      </p:sp>
      <p:cxnSp>
        <p:nvCxnSpPr>
          <p:cNvPr id="54" name="직선 연결선 53"/>
          <p:cNvCxnSpPr/>
          <p:nvPr/>
        </p:nvCxnSpPr>
        <p:spPr>
          <a:xfrm>
            <a:off x="319846" y="4751640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cxnSp>
        <p:nvCxnSpPr>
          <p:cNvPr id="57" name="직선 연결선 56"/>
          <p:cNvCxnSpPr/>
          <p:nvPr/>
        </p:nvCxnSpPr>
        <p:spPr>
          <a:xfrm>
            <a:off x="293212" y="3862033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58" name="TextBox 57"/>
          <p:cNvSpPr txBox="1"/>
          <p:nvPr/>
        </p:nvSpPr>
        <p:spPr>
          <a:xfrm>
            <a:off x="71937" y="3913056"/>
            <a:ext cx="12961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답변상태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407707" y="3913056"/>
            <a:ext cx="12961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제목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960565" y="3913056"/>
            <a:ext cx="12961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작성자</a:t>
            </a:r>
          </a:p>
        </p:txBody>
      </p:sp>
      <p:cxnSp>
        <p:nvCxnSpPr>
          <p:cNvPr id="61" name="직선 연결선 60"/>
          <p:cNvCxnSpPr/>
          <p:nvPr/>
        </p:nvCxnSpPr>
        <p:spPr>
          <a:xfrm>
            <a:off x="293212" y="4190055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62" name="TextBox 61"/>
          <p:cNvSpPr txBox="1"/>
          <p:nvPr/>
        </p:nvSpPr>
        <p:spPr>
          <a:xfrm>
            <a:off x="459265" y="5230352"/>
            <a:ext cx="94116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dirty="0">
                <a:latin typeface="나눔바른고딕"/>
                <a:ea typeface="나눔바른고딕"/>
              </a:rPr>
              <a:t>상담원 연결</a:t>
            </a:r>
          </a:p>
        </p:txBody>
      </p:sp>
      <p:cxnSp>
        <p:nvCxnSpPr>
          <p:cNvPr id="63" name="직선 연결선 62"/>
          <p:cNvCxnSpPr/>
          <p:nvPr/>
        </p:nvCxnSpPr>
        <p:spPr>
          <a:xfrm>
            <a:off x="335254" y="6393948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cxnSp>
        <p:nvCxnSpPr>
          <p:cNvPr id="64" name="직선 연결선 63"/>
          <p:cNvCxnSpPr/>
          <p:nvPr/>
        </p:nvCxnSpPr>
        <p:spPr>
          <a:xfrm>
            <a:off x="335254" y="5504341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39" name="TextBox 38">
            <a:extLst>
              <a:ext uri="{FF2B5EF4-FFF2-40B4-BE49-F238E27FC236}">
                <a16:creationId xmlns:a16="http://schemas.microsoft.com/office/drawing/2014/main" id="{33F47289-2141-3453-2567-BD21B3D253E1}"/>
              </a:ext>
            </a:extLst>
          </p:cNvPr>
          <p:cNvSpPr txBox="1"/>
          <p:nvPr/>
        </p:nvSpPr>
        <p:spPr>
          <a:xfrm>
            <a:off x="232657" y="5553056"/>
            <a:ext cx="256363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b="1" dirty="0">
                <a:latin typeface="나눔바른고딕"/>
                <a:ea typeface="나눔바른고딕"/>
              </a:rPr>
              <a:t>고객센터 주소 </a:t>
            </a:r>
            <a:r>
              <a:rPr lang="en-US" altLang="ko-KR" dirty="0">
                <a:latin typeface="나눔바른고딕"/>
                <a:ea typeface="나눔바른고딕"/>
              </a:rPr>
              <a:t>: </a:t>
            </a:r>
            <a:r>
              <a:rPr lang="ko-KR" altLang="en-US" dirty="0">
                <a:latin typeface="나눔바른고딕"/>
                <a:ea typeface="나눔바른고딕"/>
              </a:rPr>
              <a:t>서울특별시 강남구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25B366F-9C9D-B1CC-87B6-2F5F155799DF}"/>
              </a:ext>
            </a:extLst>
          </p:cNvPr>
          <p:cNvSpPr txBox="1"/>
          <p:nvPr/>
        </p:nvSpPr>
        <p:spPr>
          <a:xfrm>
            <a:off x="2381196" y="5553056"/>
            <a:ext cx="256363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b="1" dirty="0">
                <a:latin typeface="나눔바른고딕"/>
                <a:ea typeface="나눔바른고딕"/>
              </a:rPr>
              <a:t>전화 </a:t>
            </a:r>
            <a:r>
              <a:rPr lang="en-US" altLang="ko-KR" b="1" dirty="0">
                <a:latin typeface="나눔바른고딕"/>
                <a:ea typeface="나눔바른고딕"/>
              </a:rPr>
              <a:t>: </a:t>
            </a:r>
            <a:r>
              <a:rPr lang="en-US" altLang="ko-KR" dirty="0">
                <a:latin typeface="나눔바른고딕"/>
                <a:ea typeface="나눔바른고딕"/>
              </a:rPr>
              <a:t>1588-0000</a:t>
            </a:r>
            <a:endParaRPr lang="ko-KR" altLang="en-US" dirty="0">
              <a:latin typeface="나눔바른고딕"/>
              <a:ea typeface="나눔바른고딕"/>
            </a:endParaRPr>
          </a:p>
        </p:txBody>
      </p:sp>
      <p:sp>
        <p:nvSpPr>
          <p:cNvPr id="30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1.2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ko-KR" altLang="en-US" sz="1800" b="1" i="0" u="none" strike="noStrike" kern="0" cap="none" spc="0" normalizeH="0" baseline="0" dirty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일반 회원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18</a:t>
            </a:fld>
            <a:r>
              <a:rPr lang="en-US" altLang="ko-KR"/>
              <a:t> -</a:t>
            </a:r>
          </a:p>
        </p:txBody>
      </p:sp>
      <p:graphicFrame>
        <p:nvGraphicFramePr>
          <p:cNvPr id="3" name="표 4"/>
          <p:cNvGraphicFramePr>
            <a:graphicFrameLocks noGrp="1"/>
          </p:cNvGraphicFramePr>
          <p:nvPr/>
        </p:nvGraphicFramePr>
        <p:xfrm>
          <a:off x="560511" y="1052738"/>
          <a:ext cx="8928992" cy="5429409"/>
        </p:xfrm>
        <a:graphic>
          <a:graphicData uri="http://schemas.openxmlformats.org/drawingml/2006/table">
            <a:tbl>
              <a:tblPr/>
              <a:tblGrid>
                <a:gridCol w="9964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24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10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10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684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49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87221"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alt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I/</a:t>
                      </a: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O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한글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영문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필수여부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I/O </a:t>
                      </a: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유형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초기값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회원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ID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memberid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제목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title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8"/>
                  </a:ext>
                </a:extLst>
              </a:tr>
            </a:tbl>
          </a:graphicData>
        </a:graphic>
      </p:graphicFrame>
      <p:sp>
        <p:nvSpPr>
          <p:cNvPr id="5" name="직사각형 6"/>
          <p:cNvSpPr/>
          <p:nvPr/>
        </p:nvSpPr>
        <p:spPr>
          <a:xfrm>
            <a:off x="425987" y="703729"/>
            <a:ext cx="138691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b="1">
                <a:latin typeface="맑은 고딕"/>
                <a:ea typeface="맑은 고딕"/>
              </a:rPr>
              <a:t>* </a:t>
            </a:r>
            <a:r>
              <a:rPr lang="ko-KR" altLang="ko-KR" b="1">
                <a:latin typeface="맑은 고딕"/>
                <a:ea typeface="맑은 고딕"/>
              </a:rPr>
              <a:t>화면입출력정보</a:t>
            </a:r>
          </a:p>
        </p:txBody>
      </p:sp>
      <p:sp>
        <p:nvSpPr>
          <p:cNvPr id="9" name="Rectangle 3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2pPr>
            <a:lvl3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3pPr>
            <a:lvl4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4pPr>
            <a:lvl5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sp>
        <p:nvSpPr>
          <p:cNvPr id="8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1.2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ko-KR" altLang="en-US" sz="1800" b="1" i="0" u="none" strike="noStrike" kern="0" cap="none" spc="0" normalizeH="0" baseline="0" dirty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일반 회원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94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graphicFrame>
        <p:nvGraphicFramePr>
          <p:cNvPr id="5" name="Group 3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81311859"/>
              </p:ext>
            </p:extLst>
          </p:nvPr>
        </p:nvGraphicFramePr>
        <p:xfrm>
          <a:off x="315913" y="747145"/>
          <a:ext cx="9272587" cy="5876622"/>
        </p:xfrm>
        <a:graphic>
          <a:graphicData uri="http://schemas.openxmlformats.org/drawingml/2006/table">
            <a:tbl>
              <a:tblPr/>
              <a:tblGrid>
                <a:gridCol w="96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718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6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36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752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7772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Level1</a:t>
                      </a:r>
                      <a:endParaRPr kumimoji="0" lang="en-US" altLang="ko-KR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주류 유통 관리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Level2</a:t>
                      </a:r>
                      <a:endParaRPr kumimoji="0" lang="en-US" altLang="ko-KR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0" fontAlgn="auto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일반 회원 화면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5151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</a:t>
                      </a:r>
                      <a:r>
                        <a:rPr kumimoji="0" lang="en-US" altLang="ko-KR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ID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latinLnBrk="1" hangingPunct="1">
                        <a:lnSpc>
                          <a:spcPct val="104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Font typeface="Wingdings"/>
                        <a:buNone/>
                        <a:defRPr/>
                      </a:pPr>
                      <a:r>
                        <a:rPr kumimoji="1" lang="en-US" altLang="ko-KR" sz="10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UI_PD4_010</a:t>
                      </a:r>
                      <a:endParaRPr kumimoji="1" lang="en-US" altLang="ko-KR" sz="1000" b="0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000" b="0" i="0" u="none" strike="noStrike" kern="120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Q&amp;A</a:t>
                      </a:r>
                      <a:endParaRPr lang="en-US" altLang="ko-KR" sz="1000" b="0" i="0" u="none" strike="noStrike" kern="1200">
                        <a:solidFill>
                          <a:srgbClr val="000000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4756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화면개요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Q&amp;A</a:t>
                      </a:r>
                      <a:r>
                        <a:rPr kumimoji="0" lang="ko-KR" altLang="en-US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를 작성하고 나의 </a:t>
                      </a:r>
                      <a:r>
                        <a:rPr kumimoji="0" lang="en-US" altLang="ko-KR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Q&amp;A </a:t>
                      </a:r>
                      <a:r>
                        <a:rPr kumimoji="0" lang="ko-KR" altLang="en-US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상태를 확인할 수 있다</a:t>
                      </a:r>
                      <a:r>
                        <a:rPr kumimoji="0" lang="en-US" altLang="ko-KR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  <a:endParaRPr kumimoji="0" lang="ko-KR" altLang="en-US" sz="1000" b="0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811">
                <a:tc rowSpan="2"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설명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31132">
                <a:tc gridSpan="4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marL="266700" marR="0" lvl="0" indent="-2667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등록 버튼을 누르면 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Q&amp;A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가 등록 된다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수정 버튼을 누르면 수정 페이지로 이동하고 삭제 버튼을 누르면 내 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Q&amp;A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가 삭제된다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  <a:endParaRPr kumimoji="0" lang="en-US" altLang="ko-KR" sz="1000" b="1" i="0" u="none" strike="noStrike" cap="none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5348485" y="5809335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②</a:t>
            </a:r>
            <a:endParaRPr lang="ko-KR" altLang="en-US" sz="2000" dirty="0"/>
          </a:p>
        </p:txBody>
      </p:sp>
      <p:sp>
        <p:nvSpPr>
          <p:cNvPr id="34" name="TextBox 33"/>
          <p:cNvSpPr txBox="1"/>
          <p:nvPr/>
        </p:nvSpPr>
        <p:spPr>
          <a:xfrm>
            <a:off x="6053299" y="3845964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>
                <a:solidFill>
                  <a:srgbClr val="FF0000"/>
                </a:solidFill>
                <a:latin typeface="나눔바른고딕"/>
                <a:ea typeface="나눔바른고딕"/>
              </a:rPr>
              <a:t>①</a:t>
            </a:r>
            <a:endParaRPr lang="ko-KR" altLang="en-US" sz="2000"/>
          </a:p>
        </p:txBody>
      </p:sp>
      <p:sp>
        <p:nvSpPr>
          <p:cNvPr id="39" name="TextBox 38"/>
          <p:cNvSpPr txBox="1"/>
          <p:nvPr/>
        </p:nvSpPr>
        <p:spPr>
          <a:xfrm>
            <a:off x="412" y="1853792"/>
            <a:ext cx="12961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b="1">
                <a:latin typeface="나눔바른고딕"/>
                <a:ea typeface="나눔바른고딕"/>
              </a:rPr>
              <a:t>Q&amp;A</a:t>
            </a:r>
            <a:endParaRPr lang="ko-KR" altLang="en-US" b="1">
              <a:latin typeface="나눔바른고딕"/>
              <a:ea typeface="나눔바른고딕"/>
            </a:endParaRPr>
          </a:p>
        </p:txBody>
      </p:sp>
      <p:cxnSp>
        <p:nvCxnSpPr>
          <p:cNvPr id="42" name="직선 연결선 41"/>
          <p:cNvCxnSpPr/>
          <p:nvPr/>
        </p:nvCxnSpPr>
        <p:spPr>
          <a:xfrm>
            <a:off x="395145" y="3904256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cxnSp>
        <p:nvCxnSpPr>
          <p:cNvPr id="46" name="직선 연결선 45"/>
          <p:cNvCxnSpPr/>
          <p:nvPr/>
        </p:nvCxnSpPr>
        <p:spPr>
          <a:xfrm>
            <a:off x="395145" y="2081833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48" name="TextBox 47"/>
          <p:cNvSpPr txBox="1"/>
          <p:nvPr/>
        </p:nvSpPr>
        <p:spPr>
          <a:xfrm>
            <a:off x="412" y="2122812"/>
            <a:ext cx="12961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제목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2782" y="2434361"/>
            <a:ext cx="12961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작성자</a:t>
            </a:r>
          </a:p>
        </p:txBody>
      </p:sp>
      <p:cxnSp>
        <p:nvCxnSpPr>
          <p:cNvPr id="52" name="직선 연결선 51"/>
          <p:cNvCxnSpPr/>
          <p:nvPr/>
        </p:nvCxnSpPr>
        <p:spPr>
          <a:xfrm>
            <a:off x="395145" y="2409855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cxnSp>
        <p:nvCxnSpPr>
          <p:cNvPr id="62" name="직선 연결선 61"/>
          <p:cNvCxnSpPr/>
          <p:nvPr/>
        </p:nvCxnSpPr>
        <p:spPr>
          <a:xfrm>
            <a:off x="350748" y="5845449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cxnSp>
        <p:nvCxnSpPr>
          <p:cNvPr id="63" name="직선 연결선 62"/>
          <p:cNvCxnSpPr/>
          <p:nvPr/>
        </p:nvCxnSpPr>
        <p:spPr>
          <a:xfrm>
            <a:off x="350748" y="4845609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64" name="TextBox 63"/>
          <p:cNvSpPr txBox="1"/>
          <p:nvPr/>
        </p:nvSpPr>
        <p:spPr>
          <a:xfrm>
            <a:off x="129473" y="4896632"/>
            <a:ext cx="12961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답변상태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2465243" y="4896632"/>
            <a:ext cx="12961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제목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018101" y="4896632"/>
            <a:ext cx="12961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작성자</a:t>
            </a:r>
          </a:p>
        </p:txBody>
      </p:sp>
      <p:cxnSp>
        <p:nvCxnSpPr>
          <p:cNvPr id="67" name="직선 연결선 66"/>
          <p:cNvCxnSpPr/>
          <p:nvPr/>
        </p:nvCxnSpPr>
        <p:spPr>
          <a:xfrm>
            <a:off x="350748" y="5173631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68" name="직사각형 67"/>
          <p:cNvSpPr/>
          <p:nvPr/>
        </p:nvSpPr>
        <p:spPr>
          <a:xfrm>
            <a:off x="6391002" y="3962545"/>
            <a:ext cx="677153" cy="29381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>
                <a:solidFill>
                  <a:schemeClr val="tx1"/>
                </a:solidFill>
                <a:latin typeface="나눔바른고딕"/>
                <a:ea typeface="나눔바른고딕"/>
              </a:rPr>
              <a:t>등록</a:t>
            </a:r>
          </a:p>
        </p:txBody>
      </p:sp>
      <p:cxnSp>
        <p:nvCxnSpPr>
          <p:cNvPr id="69" name="직선 연결선 68"/>
          <p:cNvCxnSpPr/>
          <p:nvPr/>
        </p:nvCxnSpPr>
        <p:spPr>
          <a:xfrm>
            <a:off x="395145" y="2711360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70" name="직사각형 69"/>
          <p:cNvSpPr/>
          <p:nvPr/>
        </p:nvSpPr>
        <p:spPr>
          <a:xfrm>
            <a:off x="440256" y="2761963"/>
            <a:ext cx="6600976" cy="1084001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400">
              <a:solidFill>
                <a:schemeClr val="tx1"/>
              </a:solidFill>
              <a:latin typeface="나눔바른고딕"/>
              <a:ea typeface="나눔바른고딕"/>
            </a:endParaRPr>
          </a:p>
        </p:txBody>
      </p:sp>
      <p:sp>
        <p:nvSpPr>
          <p:cNvPr id="71" name="TextBox 70"/>
          <p:cNvSpPr txBox="1"/>
          <p:nvPr/>
        </p:nvSpPr>
        <p:spPr>
          <a:xfrm>
            <a:off x="-43985" y="4570183"/>
            <a:ext cx="12961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b="1">
                <a:latin typeface="나눔바른고딕"/>
                <a:ea typeface="나눔바른고딕"/>
              </a:rPr>
              <a:t>내 </a:t>
            </a:r>
            <a:r>
              <a:rPr lang="en-US" altLang="ko-KR" b="1">
                <a:latin typeface="나눔바른고딕"/>
                <a:ea typeface="나눔바른고딕"/>
              </a:rPr>
              <a:t>Q&amp;A</a:t>
            </a:r>
            <a:endParaRPr lang="ko-KR" altLang="en-US" b="1">
              <a:latin typeface="나눔바른고딕"/>
              <a:ea typeface="나눔바른고딕"/>
            </a:endParaRPr>
          </a:p>
        </p:txBody>
      </p:sp>
      <p:cxnSp>
        <p:nvCxnSpPr>
          <p:cNvPr id="72" name="직선 연결선 71"/>
          <p:cNvCxnSpPr/>
          <p:nvPr/>
        </p:nvCxnSpPr>
        <p:spPr>
          <a:xfrm>
            <a:off x="350748" y="4798224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73" name="직사각형 72"/>
          <p:cNvSpPr/>
          <p:nvPr/>
        </p:nvSpPr>
        <p:spPr>
          <a:xfrm>
            <a:off x="5666173" y="5924469"/>
            <a:ext cx="677153" cy="29381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>
                <a:solidFill>
                  <a:schemeClr val="tx1"/>
                </a:solidFill>
                <a:latin typeface="나눔바른고딕"/>
                <a:ea typeface="나눔바른고딕"/>
              </a:rPr>
              <a:t>수정</a:t>
            </a:r>
          </a:p>
        </p:txBody>
      </p:sp>
      <p:sp>
        <p:nvSpPr>
          <p:cNvPr id="74" name="직사각형 73"/>
          <p:cNvSpPr/>
          <p:nvPr/>
        </p:nvSpPr>
        <p:spPr>
          <a:xfrm>
            <a:off x="6391840" y="5921954"/>
            <a:ext cx="677153" cy="29381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>
                <a:solidFill>
                  <a:schemeClr val="tx1"/>
                </a:solidFill>
                <a:latin typeface="나눔바른고딕"/>
                <a:ea typeface="나눔바른고딕"/>
              </a:rPr>
              <a:t>삭제</a:t>
            </a:r>
          </a:p>
        </p:txBody>
      </p:sp>
      <p:sp>
        <p:nvSpPr>
          <p:cNvPr id="26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1.2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ko-KR" altLang="en-US" sz="1800" b="1" i="0" u="none" strike="noStrike" kern="0" cap="none" spc="0" normalizeH="0" baseline="0" dirty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일반 회원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20</a:t>
            </a:fld>
            <a:r>
              <a:rPr lang="en-US" altLang="ko-KR"/>
              <a:t> -</a:t>
            </a:r>
          </a:p>
        </p:txBody>
      </p:sp>
      <p:graphicFrame>
        <p:nvGraphicFramePr>
          <p:cNvPr id="3" name="표 4"/>
          <p:cNvGraphicFramePr>
            <a:graphicFrameLocks noGrp="1"/>
          </p:cNvGraphicFramePr>
          <p:nvPr/>
        </p:nvGraphicFramePr>
        <p:xfrm>
          <a:off x="560511" y="1052738"/>
          <a:ext cx="8928992" cy="5429409"/>
        </p:xfrm>
        <a:graphic>
          <a:graphicData uri="http://schemas.openxmlformats.org/drawingml/2006/table">
            <a:tbl>
              <a:tblPr/>
              <a:tblGrid>
                <a:gridCol w="9964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24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10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10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684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49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87221"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alt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I/</a:t>
                      </a: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O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한글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영문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필수여부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I/O </a:t>
                      </a: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유형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초기값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회원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ID</a:t>
                      </a: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memberid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제목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title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param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내용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content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Param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제목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title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8"/>
                  </a:ext>
                </a:extLst>
              </a:tr>
            </a:tbl>
          </a:graphicData>
        </a:graphic>
      </p:graphicFrame>
      <p:sp>
        <p:nvSpPr>
          <p:cNvPr id="5" name="직사각형 6"/>
          <p:cNvSpPr/>
          <p:nvPr/>
        </p:nvSpPr>
        <p:spPr>
          <a:xfrm>
            <a:off x="425987" y="703729"/>
            <a:ext cx="138691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b="1">
                <a:latin typeface="맑은 고딕"/>
                <a:ea typeface="맑은 고딕"/>
              </a:rPr>
              <a:t>* </a:t>
            </a:r>
            <a:r>
              <a:rPr lang="ko-KR" altLang="ko-KR" b="1">
                <a:latin typeface="맑은 고딕"/>
                <a:ea typeface="맑은 고딕"/>
              </a:rPr>
              <a:t>화면입출력정보</a:t>
            </a:r>
          </a:p>
        </p:txBody>
      </p:sp>
      <p:sp>
        <p:nvSpPr>
          <p:cNvPr id="9" name="Rectangle 3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2pPr>
            <a:lvl3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3pPr>
            <a:lvl4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4pPr>
            <a:lvl5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sp>
        <p:nvSpPr>
          <p:cNvPr id="8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1.2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ko-KR" altLang="en-US" sz="1800" b="1" i="0" u="none" strike="noStrike" kern="0" cap="none" spc="0" normalizeH="0" baseline="0" dirty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일반 회원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xfrm>
            <a:off x="3872880" y="6671742"/>
            <a:ext cx="2063750" cy="213642"/>
          </a:xfrm>
        </p:spPr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21</a:t>
            </a:fld>
            <a:r>
              <a:rPr lang="en-US" altLang="ko-KR"/>
              <a:t> -</a:t>
            </a:r>
          </a:p>
        </p:txBody>
      </p:sp>
      <p:sp>
        <p:nvSpPr>
          <p:cNvPr id="3" name="Rectangle 94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graphicFrame>
        <p:nvGraphicFramePr>
          <p:cNvPr id="5" name="Group 3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35031144"/>
              </p:ext>
            </p:extLst>
          </p:nvPr>
        </p:nvGraphicFramePr>
        <p:xfrm>
          <a:off x="315913" y="747145"/>
          <a:ext cx="9272587" cy="5876622"/>
        </p:xfrm>
        <a:graphic>
          <a:graphicData uri="http://schemas.openxmlformats.org/drawingml/2006/table">
            <a:tbl>
              <a:tblPr/>
              <a:tblGrid>
                <a:gridCol w="96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718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6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36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752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7772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Level1</a:t>
                      </a:r>
                      <a:endParaRPr kumimoji="0" lang="en-US" altLang="ko-KR" sz="1000" b="1" i="0" u="none" strike="noStrike" cap="none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주류 유통 관리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Level2</a:t>
                      </a:r>
                      <a:endParaRPr kumimoji="0" lang="en-US" altLang="ko-KR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0" fontAlgn="auto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일반 회원 화면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5151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</a:t>
                      </a:r>
                      <a:r>
                        <a:rPr kumimoji="0" lang="en-US" altLang="ko-KR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ID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latinLnBrk="1" hangingPunct="1">
                        <a:lnSpc>
                          <a:spcPct val="104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Font typeface="Wingdings"/>
                        <a:buNone/>
                        <a:defRPr/>
                      </a:pPr>
                      <a:r>
                        <a:rPr kumimoji="1" lang="en-US" altLang="ko-KR" sz="10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UI_PD4_011</a:t>
                      </a:r>
                      <a:endParaRPr kumimoji="1" lang="en-US" altLang="ko-KR" sz="1000" b="0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회원 구매</a:t>
                      </a:r>
                      <a:endParaRPr lang="en-US" altLang="ko-KR" sz="1000" b="0" i="0" u="none" strike="noStrike" kern="120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4756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화면개요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상품 상세보기 페이지이다</a:t>
                      </a:r>
                      <a:r>
                        <a:rPr kumimoji="0" lang="en-US" altLang="ko-KR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  <a:endParaRPr kumimoji="0" lang="ko-KR" altLang="en-US" sz="1000" b="0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811">
                <a:tc rowSpan="2"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설명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31132">
                <a:tc gridSpan="4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marL="266700" marR="0" lvl="0" indent="-2667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상품의 상세 정보를 확인할 수 있다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주문서 작성 페이지로 이동한다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장바구니 페이지로 이동한다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찜 목록 페이지로 이동한다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리뷰 관리 페이지로 이동한다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Q&amp;A 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페이지로 이동한다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0" name="TextBox 29"/>
          <p:cNvSpPr txBox="1"/>
          <p:nvPr/>
        </p:nvSpPr>
        <p:spPr>
          <a:xfrm>
            <a:off x="1387078" y="3480641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④</a:t>
            </a:r>
            <a:endParaRPr lang="ko-KR" altLang="en-US" sz="2000" dirty="0"/>
          </a:p>
        </p:txBody>
      </p:sp>
      <p:sp>
        <p:nvSpPr>
          <p:cNvPr id="31" name="TextBox 30"/>
          <p:cNvSpPr txBox="1"/>
          <p:nvPr/>
        </p:nvSpPr>
        <p:spPr>
          <a:xfrm>
            <a:off x="5029050" y="3508260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⑤</a:t>
            </a:r>
            <a:endParaRPr lang="ko-KR" altLang="en-US" sz="2000" dirty="0"/>
          </a:p>
        </p:txBody>
      </p:sp>
      <p:sp>
        <p:nvSpPr>
          <p:cNvPr id="32" name="TextBox 31"/>
          <p:cNvSpPr txBox="1"/>
          <p:nvPr/>
        </p:nvSpPr>
        <p:spPr>
          <a:xfrm>
            <a:off x="297066" y="3360236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>
                <a:solidFill>
                  <a:srgbClr val="FF0000"/>
                </a:solidFill>
                <a:latin typeface="나눔바른고딕"/>
                <a:ea typeface="나눔바른고딕"/>
              </a:rPr>
              <a:t>③</a:t>
            </a:r>
            <a:endParaRPr lang="ko-KR" altLang="en-US" sz="2000"/>
          </a:p>
        </p:txBody>
      </p:sp>
      <p:sp>
        <p:nvSpPr>
          <p:cNvPr id="33" name="TextBox 32"/>
          <p:cNvSpPr txBox="1"/>
          <p:nvPr/>
        </p:nvSpPr>
        <p:spPr>
          <a:xfrm>
            <a:off x="822122" y="3189740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②</a:t>
            </a:r>
            <a:endParaRPr lang="ko-KR" altLang="en-US" sz="2000" dirty="0"/>
          </a:p>
        </p:txBody>
      </p:sp>
      <p:sp>
        <p:nvSpPr>
          <p:cNvPr id="34" name="TextBox 33"/>
          <p:cNvSpPr txBox="1"/>
          <p:nvPr/>
        </p:nvSpPr>
        <p:spPr>
          <a:xfrm>
            <a:off x="245241" y="1864229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①</a:t>
            </a:r>
            <a:endParaRPr lang="ko-KR" altLang="en-US" sz="2000" dirty="0"/>
          </a:p>
        </p:txBody>
      </p:sp>
      <p:sp>
        <p:nvSpPr>
          <p:cNvPr id="35" name="TextBox 34"/>
          <p:cNvSpPr txBox="1"/>
          <p:nvPr/>
        </p:nvSpPr>
        <p:spPr>
          <a:xfrm>
            <a:off x="5029050" y="4288629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⑥</a:t>
            </a:r>
            <a:endParaRPr lang="ko-KR" altLang="en-US" sz="2000" dirty="0"/>
          </a:p>
        </p:txBody>
      </p:sp>
      <p:grpSp>
        <p:nvGrpSpPr>
          <p:cNvPr id="72" name="그룹 71"/>
          <p:cNvGrpSpPr/>
          <p:nvPr/>
        </p:nvGrpSpPr>
        <p:grpSpPr>
          <a:xfrm>
            <a:off x="347088" y="1916831"/>
            <a:ext cx="2859145" cy="2839021"/>
            <a:chOff x="2618869" y="1196752"/>
            <a:chExt cx="5297191" cy="4799032"/>
          </a:xfrm>
        </p:grpSpPr>
        <p:sp>
          <p:nvSpPr>
            <p:cNvPr id="73" name="직사각형 72"/>
            <p:cNvSpPr/>
            <p:nvPr/>
          </p:nvSpPr>
          <p:spPr>
            <a:xfrm>
              <a:off x="2618869" y="1196752"/>
              <a:ext cx="5297191" cy="479903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975">
                <a:latin typeface="나눔바른고딕"/>
                <a:ea typeface="나눔바른고딕"/>
              </a:endParaRPr>
            </a:p>
          </p:txBody>
        </p:sp>
        <p:pic>
          <p:nvPicPr>
            <p:cNvPr id="74" name="그림 73"/>
            <p:cNvPicPr>
              <a:picLocks noChangeAspect="1"/>
            </p:cNvPicPr>
            <p:nvPr/>
          </p:nvPicPr>
          <p:blipFill rotWithShape="1">
            <a:blip r:embed="rId2"/>
            <a:stretch>
              <a:fillRect/>
            </a:stretch>
          </p:blipFill>
          <p:spPr>
            <a:xfrm>
              <a:off x="2745832" y="1826695"/>
              <a:ext cx="1682402" cy="1603235"/>
            </a:xfrm>
            <a:prstGeom prst="rect">
              <a:avLst/>
            </a:prstGeom>
          </p:spPr>
        </p:pic>
        <p:sp>
          <p:nvSpPr>
            <p:cNvPr id="75" name="TextBox 74"/>
            <p:cNvSpPr txBox="1"/>
            <p:nvPr/>
          </p:nvSpPr>
          <p:spPr>
            <a:xfrm>
              <a:off x="4404984" y="1638784"/>
              <a:ext cx="1502390" cy="49424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 sz="1300" b="1">
                  <a:latin typeface="나눔바른고딕"/>
                  <a:ea typeface="나눔바른고딕"/>
                </a:rPr>
                <a:t>상품 이름</a:t>
              </a:r>
            </a:p>
          </p:txBody>
        </p:sp>
        <p:sp>
          <p:nvSpPr>
            <p:cNvPr id="76" name="TextBox 75"/>
            <p:cNvSpPr txBox="1"/>
            <p:nvPr/>
          </p:nvSpPr>
          <p:spPr>
            <a:xfrm>
              <a:off x="2688731" y="1281797"/>
              <a:ext cx="1682402" cy="54627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 sz="1500" b="1">
                  <a:latin typeface="나눔바른고딕"/>
                  <a:ea typeface="나눔바른고딕"/>
                </a:rPr>
                <a:t>상세보기</a:t>
              </a:r>
            </a:p>
          </p:txBody>
        </p:sp>
      </p:grpSp>
      <p:sp>
        <p:nvSpPr>
          <p:cNvPr id="77" name="TextBox 76"/>
          <p:cNvSpPr txBox="1"/>
          <p:nvPr/>
        </p:nvSpPr>
        <p:spPr>
          <a:xfrm>
            <a:off x="2648744" y="4039177"/>
            <a:ext cx="61679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스크롤</a:t>
            </a:r>
          </a:p>
        </p:txBody>
      </p:sp>
      <p:pic>
        <p:nvPicPr>
          <p:cNvPr id="78" name="그림 77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2725454" y="4285603"/>
            <a:ext cx="480779" cy="393394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1219038" y="2439907"/>
            <a:ext cx="81091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판매가</a:t>
            </a:r>
          </a:p>
        </p:txBody>
      </p:sp>
      <p:cxnSp>
        <p:nvCxnSpPr>
          <p:cNvPr id="8" name="직선 연결선 7"/>
          <p:cNvCxnSpPr/>
          <p:nvPr/>
        </p:nvCxnSpPr>
        <p:spPr>
          <a:xfrm>
            <a:off x="1357302" y="2462767"/>
            <a:ext cx="1368152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81" name="TextBox 80"/>
          <p:cNvSpPr txBox="1"/>
          <p:nvPr/>
        </p:nvSpPr>
        <p:spPr>
          <a:xfrm>
            <a:off x="1209693" y="2656789"/>
            <a:ext cx="81091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제조사</a:t>
            </a:r>
          </a:p>
        </p:txBody>
      </p:sp>
      <p:cxnSp>
        <p:nvCxnSpPr>
          <p:cNvPr id="82" name="직선 연결선 81"/>
          <p:cNvCxnSpPr/>
          <p:nvPr/>
        </p:nvCxnSpPr>
        <p:spPr>
          <a:xfrm>
            <a:off x="1357302" y="2680323"/>
            <a:ext cx="1368152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83" name="TextBox 82"/>
          <p:cNvSpPr txBox="1"/>
          <p:nvPr/>
        </p:nvSpPr>
        <p:spPr>
          <a:xfrm>
            <a:off x="1198911" y="2839559"/>
            <a:ext cx="81091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원산지</a:t>
            </a:r>
          </a:p>
        </p:txBody>
      </p:sp>
      <p:cxnSp>
        <p:nvCxnSpPr>
          <p:cNvPr id="84" name="직선 연결선 83"/>
          <p:cNvCxnSpPr/>
          <p:nvPr/>
        </p:nvCxnSpPr>
        <p:spPr>
          <a:xfrm>
            <a:off x="1357302" y="2880342"/>
            <a:ext cx="1368152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85" name="TextBox 84"/>
          <p:cNvSpPr txBox="1"/>
          <p:nvPr/>
        </p:nvSpPr>
        <p:spPr>
          <a:xfrm>
            <a:off x="1242376" y="3066534"/>
            <a:ext cx="55823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수량</a:t>
            </a:r>
          </a:p>
        </p:txBody>
      </p:sp>
      <p:cxnSp>
        <p:nvCxnSpPr>
          <p:cNvPr id="86" name="직선 연결선 85"/>
          <p:cNvCxnSpPr/>
          <p:nvPr/>
        </p:nvCxnSpPr>
        <p:spPr>
          <a:xfrm>
            <a:off x="1372032" y="3080676"/>
            <a:ext cx="1368152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87" name="직사각형 86"/>
          <p:cNvSpPr/>
          <p:nvPr/>
        </p:nvSpPr>
        <p:spPr>
          <a:xfrm>
            <a:off x="1092874" y="3351572"/>
            <a:ext cx="856682" cy="19812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00">
                <a:solidFill>
                  <a:schemeClr val="tx1"/>
                </a:solidFill>
                <a:latin typeface="나눔바른고딕"/>
                <a:ea typeface="나눔바른고딕"/>
              </a:rPr>
              <a:t>구매하기</a:t>
            </a:r>
          </a:p>
        </p:txBody>
      </p:sp>
      <p:sp>
        <p:nvSpPr>
          <p:cNvPr id="88" name="직사각형 87"/>
          <p:cNvSpPr/>
          <p:nvPr/>
        </p:nvSpPr>
        <p:spPr>
          <a:xfrm>
            <a:off x="521825" y="3589850"/>
            <a:ext cx="957138" cy="19812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00">
                <a:solidFill>
                  <a:schemeClr val="tx1"/>
                </a:solidFill>
                <a:latin typeface="나눔바른고딕"/>
                <a:ea typeface="나눔바른고딕"/>
              </a:rPr>
              <a:t>장바구니 담기</a:t>
            </a:r>
          </a:p>
        </p:txBody>
      </p:sp>
      <p:sp>
        <p:nvSpPr>
          <p:cNvPr id="89" name="직사각형 88"/>
          <p:cNvSpPr/>
          <p:nvPr/>
        </p:nvSpPr>
        <p:spPr>
          <a:xfrm>
            <a:off x="1521215" y="3589850"/>
            <a:ext cx="1040325" cy="19812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000">
                <a:solidFill>
                  <a:schemeClr val="tx1"/>
                </a:solidFill>
                <a:latin typeface="나눔바른고딕"/>
                <a:ea typeface="나눔바른고딕"/>
              </a:rPr>
              <a:t>찜 등록</a:t>
            </a:r>
          </a:p>
        </p:txBody>
      </p:sp>
      <p:grpSp>
        <p:nvGrpSpPr>
          <p:cNvPr id="61" name="그룹 60"/>
          <p:cNvGrpSpPr/>
          <p:nvPr/>
        </p:nvGrpSpPr>
        <p:grpSpPr>
          <a:xfrm>
            <a:off x="3377954" y="1916830"/>
            <a:ext cx="3554320" cy="2839021"/>
            <a:chOff x="236816" y="975779"/>
            <a:chExt cx="8136904" cy="5338484"/>
          </a:xfrm>
        </p:grpSpPr>
        <p:sp>
          <p:nvSpPr>
            <p:cNvPr id="62" name="직사각형 61"/>
            <p:cNvSpPr/>
            <p:nvPr/>
          </p:nvSpPr>
          <p:spPr>
            <a:xfrm>
              <a:off x="236816" y="975779"/>
              <a:ext cx="8136904" cy="5338484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000">
                <a:latin typeface="나눔바른고딕"/>
                <a:ea typeface="나눔바른고딕"/>
              </a:endParaRPr>
            </a:p>
          </p:txBody>
        </p:sp>
        <p:sp>
          <p:nvSpPr>
            <p:cNvPr id="63" name="직사각형 62"/>
            <p:cNvSpPr/>
            <p:nvPr/>
          </p:nvSpPr>
          <p:spPr>
            <a:xfrm>
              <a:off x="335359" y="1072802"/>
              <a:ext cx="2138000" cy="533974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ko-KR" altLang="en-US" sz="1000">
                  <a:solidFill>
                    <a:schemeClr val="tx1"/>
                  </a:solidFill>
                  <a:latin typeface="나눔바른고딕"/>
                  <a:ea typeface="나눔바른고딕"/>
                </a:rPr>
                <a:t>제품 상세설명</a:t>
              </a:r>
            </a:p>
          </p:txBody>
        </p:sp>
        <p:cxnSp>
          <p:nvCxnSpPr>
            <p:cNvPr id="64" name="직선 연결선 63"/>
            <p:cNvCxnSpPr/>
            <p:nvPr/>
          </p:nvCxnSpPr>
          <p:spPr>
            <a:xfrm>
              <a:off x="407368" y="2204864"/>
              <a:ext cx="7704856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직사각형 64"/>
            <p:cNvSpPr/>
            <p:nvPr/>
          </p:nvSpPr>
          <p:spPr>
            <a:xfrm>
              <a:off x="335357" y="2301887"/>
              <a:ext cx="2847818" cy="586174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ko-KR" altLang="en-US" sz="1000">
                  <a:solidFill>
                    <a:schemeClr val="tx1"/>
                  </a:solidFill>
                  <a:latin typeface="나눔바른고딕"/>
                  <a:ea typeface="나눔바른고딕"/>
                </a:rPr>
                <a:t>배송</a:t>
              </a:r>
              <a:r>
                <a:rPr lang="en-US" altLang="ko-KR" sz="1000">
                  <a:solidFill>
                    <a:schemeClr val="tx1"/>
                  </a:solidFill>
                  <a:latin typeface="나눔바른고딕"/>
                  <a:ea typeface="나눔바른고딕"/>
                </a:rPr>
                <a:t>/</a:t>
              </a:r>
              <a:r>
                <a:rPr lang="ko-KR" altLang="en-US" sz="1000">
                  <a:solidFill>
                    <a:schemeClr val="tx1"/>
                  </a:solidFill>
                  <a:latin typeface="나눔바른고딕"/>
                  <a:ea typeface="나눔바른고딕"/>
                </a:rPr>
                <a:t>교환</a:t>
              </a:r>
              <a:r>
                <a:rPr lang="en-US" altLang="ko-KR" sz="1000">
                  <a:solidFill>
                    <a:schemeClr val="tx1"/>
                  </a:solidFill>
                  <a:latin typeface="나눔바른고딕"/>
                  <a:ea typeface="나눔바른고딕"/>
                </a:rPr>
                <a:t>/</a:t>
              </a:r>
              <a:r>
                <a:rPr lang="ko-KR" altLang="en-US" sz="1000">
                  <a:solidFill>
                    <a:schemeClr val="tx1"/>
                  </a:solidFill>
                  <a:latin typeface="나눔바른고딕"/>
                  <a:ea typeface="나눔바른고딕"/>
                </a:rPr>
                <a:t>반품 정보</a:t>
              </a:r>
            </a:p>
          </p:txBody>
        </p:sp>
        <p:cxnSp>
          <p:nvCxnSpPr>
            <p:cNvPr id="66" name="직선 연결선 65"/>
            <p:cNvCxnSpPr/>
            <p:nvPr/>
          </p:nvCxnSpPr>
          <p:spPr>
            <a:xfrm>
              <a:off x="407368" y="3429000"/>
              <a:ext cx="7704856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7" name="직사각형 66"/>
            <p:cNvSpPr/>
            <p:nvPr/>
          </p:nvSpPr>
          <p:spPr>
            <a:xfrm>
              <a:off x="335360" y="3536251"/>
              <a:ext cx="1872208" cy="432048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ko-KR" altLang="en-US" sz="1000">
                  <a:solidFill>
                    <a:schemeClr val="tx1"/>
                  </a:solidFill>
                  <a:latin typeface="나눔바른고딕"/>
                  <a:ea typeface="나눔바른고딕"/>
                </a:rPr>
                <a:t>후기</a:t>
              </a:r>
            </a:p>
          </p:txBody>
        </p:sp>
        <p:cxnSp>
          <p:nvCxnSpPr>
            <p:cNvPr id="68" name="직선 연결선 67"/>
            <p:cNvCxnSpPr/>
            <p:nvPr/>
          </p:nvCxnSpPr>
          <p:spPr>
            <a:xfrm>
              <a:off x="407368" y="4778697"/>
              <a:ext cx="7704856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직사각형 68"/>
            <p:cNvSpPr/>
            <p:nvPr/>
          </p:nvSpPr>
          <p:spPr>
            <a:xfrm>
              <a:off x="335360" y="4885947"/>
              <a:ext cx="1872208" cy="432048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altLang="ko-KR" sz="1000">
                  <a:solidFill>
                    <a:schemeClr val="tx1"/>
                  </a:solidFill>
                  <a:latin typeface="나눔바른고딕"/>
                  <a:ea typeface="나눔바른고딕"/>
                </a:rPr>
                <a:t>Q&amp;A</a:t>
              </a:r>
              <a:endParaRPr lang="ko-KR" altLang="en-US" sz="10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sp>
          <p:nvSpPr>
            <p:cNvPr id="70" name="직사각형 69"/>
            <p:cNvSpPr/>
            <p:nvPr/>
          </p:nvSpPr>
          <p:spPr>
            <a:xfrm>
              <a:off x="4660104" y="4304565"/>
              <a:ext cx="1982991" cy="411566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ko-KR" altLang="en-US" sz="1000">
                  <a:solidFill>
                    <a:schemeClr val="tx1"/>
                  </a:solidFill>
                  <a:latin typeface="나눔바른고딕"/>
                  <a:ea typeface="나눔바른고딕"/>
                </a:rPr>
                <a:t>상품후기쓰기</a:t>
              </a:r>
            </a:p>
          </p:txBody>
        </p:sp>
        <p:sp>
          <p:nvSpPr>
            <p:cNvPr id="71" name="직사각형 70"/>
            <p:cNvSpPr/>
            <p:nvPr/>
          </p:nvSpPr>
          <p:spPr>
            <a:xfrm>
              <a:off x="6643098" y="4318467"/>
              <a:ext cx="1605669" cy="411566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ko-KR" altLang="en-US" sz="1000">
                  <a:solidFill>
                    <a:schemeClr val="tx1"/>
                  </a:solidFill>
                  <a:latin typeface="나눔바른고딕"/>
                  <a:ea typeface="나눔바른고딕"/>
                </a:rPr>
                <a:t>모두보기</a:t>
              </a:r>
            </a:p>
          </p:txBody>
        </p:sp>
        <p:sp>
          <p:nvSpPr>
            <p:cNvPr id="79" name="직사각형 78"/>
            <p:cNvSpPr/>
            <p:nvPr/>
          </p:nvSpPr>
          <p:spPr>
            <a:xfrm>
              <a:off x="4575643" y="5860046"/>
              <a:ext cx="1982991" cy="403563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ko-KR" altLang="en-US" sz="1000">
                  <a:solidFill>
                    <a:schemeClr val="tx1"/>
                  </a:solidFill>
                  <a:latin typeface="나눔바른고딕"/>
                  <a:ea typeface="나눔바른고딕"/>
                </a:rPr>
                <a:t>상품문의하기</a:t>
              </a:r>
            </a:p>
          </p:txBody>
        </p:sp>
        <p:sp>
          <p:nvSpPr>
            <p:cNvPr id="90" name="직사각형 89"/>
            <p:cNvSpPr/>
            <p:nvPr/>
          </p:nvSpPr>
          <p:spPr>
            <a:xfrm>
              <a:off x="6643098" y="5852043"/>
              <a:ext cx="1605667" cy="403416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ko-KR" altLang="en-US" sz="1000">
                  <a:solidFill>
                    <a:schemeClr val="tx1"/>
                  </a:solidFill>
                  <a:latin typeface="나눔바른고딕"/>
                  <a:ea typeface="나눔바른고딕"/>
                </a:rPr>
                <a:t>모두보기</a:t>
              </a:r>
            </a:p>
          </p:txBody>
        </p:sp>
        <p:sp>
          <p:nvSpPr>
            <p:cNvPr id="91" name="TextBox 90"/>
            <p:cNvSpPr txBox="1"/>
            <p:nvPr/>
          </p:nvSpPr>
          <p:spPr>
            <a:xfrm>
              <a:off x="7189478" y="1199561"/>
              <a:ext cx="922746" cy="1041736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 sz="1000">
                  <a:latin typeface="나눔바른고딕"/>
                  <a:ea typeface="나눔바른고딕"/>
                </a:rPr>
                <a:t>스크롤</a:t>
              </a:r>
            </a:p>
          </p:txBody>
        </p:sp>
        <p:pic>
          <p:nvPicPr>
            <p:cNvPr id="92" name="그림 91"/>
            <p:cNvPicPr>
              <a:picLocks noChangeAspect="1"/>
            </p:cNvPicPr>
            <p:nvPr/>
          </p:nvPicPr>
          <p:blipFill rotWithShape="1">
            <a:blip r:embed="rId4"/>
            <a:stretch>
              <a:fillRect/>
            </a:stretch>
          </p:blipFill>
          <p:spPr>
            <a:xfrm>
              <a:off x="7726372" y="1469451"/>
              <a:ext cx="583307" cy="583307"/>
            </a:xfrm>
            <a:prstGeom prst="rect">
              <a:avLst/>
            </a:prstGeom>
          </p:spPr>
        </p:pic>
      </p:grpSp>
      <p:sp>
        <p:nvSpPr>
          <p:cNvPr id="45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1.2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ko-KR" altLang="en-US" sz="1800" b="1" i="0" u="none" strike="noStrike" kern="0" cap="none" spc="0" normalizeH="0" baseline="0" dirty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일반 회원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22</a:t>
            </a:fld>
            <a:r>
              <a:rPr lang="en-US" altLang="ko-KR"/>
              <a:t> -</a:t>
            </a:r>
          </a:p>
        </p:txBody>
      </p:sp>
      <p:graphicFrame>
        <p:nvGraphicFramePr>
          <p:cNvPr id="3" name="표 4"/>
          <p:cNvGraphicFramePr>
            <a:graphicFrameLocks noGrp="1"/>
          </p:cNvGraphicFramePr>
          <p:nvPr/>
        </p:nvGraphicFramePr>
        <p:xfrm>
          <a:off x="560511" y="1052738"/>
          <a:ext cx="8928992" cy="5429409"/>
        </p:xfrm>
        <a:graphic>
          <a:graphicData uri="http://schemas.openxmlformats.org/drawingml/2006/table">
            <a:tbl>
              <a:tblPr/>
              <a:tblGrid>
                <a:gridCol w="9964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24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10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10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684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49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87221"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alt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I/</a:t>
                      </a: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O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한글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영문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필수여부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I/O </a:t>
                      </a: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유형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초기값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이미지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image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금액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price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상품회사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menu_company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재고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stock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수량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count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param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8"/>
                  </a:ext>
                </a:extLst>
              </a:tr>
            </a:tbl>
          </a:graphicData>
        </a:graphic>
      </p:graphicFrame>
      <p:sp>
        <p:nvSpPr>
          <p:cNvPr id="5" name="직사각형 6"/>
          <p:cNvSpPr/>
          <p:nvPr/>
        </p:nvSpPr>
        <p:spPr>
          <a:xfrm>
            <a:off x="425987" y="703729"/>
            <a:ext cx="138691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b="1">
                <a:latin typeface="맑은 고딕"/>
                <a:ea typeface="맑은 고딕"/>
              </a:rPr>
              <a:t>* </a:t>
            </a:r>
            <a:r>
              <a:rPr lang="ko-KR" altLang="ko-KR" b="1">
                <a:latin typeface="맑은 고딕"/>
                <a:ea typeface="맑은 고딕"/>
              </a:rPr>
              <a:t>화면입출력정보</a:t>
            </a:r>
          </a:p>
        </p:txBody>
      </p:sp>
      <p:sp>
        <p:nvSpPr>
          <p:cNvPr id="9" name="Rectangle 3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2pPr>
            <a:lvl3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3pPr>
            <a:lvl4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4pPr>
            <a:lvl5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sp>
        <p:nvSpPr>
          <p:cNvPr id="7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1.2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ko-KR" altLang="en-US" sz="1800" b="1" i="0" u="none" strike="noStrike" kern="0" cap="none" spc="0" normalizeH="0" baseline="0" dirty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일반 회원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xfrm>
            <a:off x="3872880" y="6671742"/>
            <a:ext cx="2063750" cy="213642"/>
          </a:xfrm>
        </p:spPr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23</a:t>
            </a:fld>
            <a:r>
              <a:rPr lang="en-US" altLang="ko-KR"/>
              <a:t> -</a:t>
            </a:r>
            <a:endParaRPr lang="ko-KR" altLang="ko-KR"/>
          </a:p>
        </p:txBody>
      </p:sp>
      <p:sp>
        <p:nvSpPr>
          <p:cNvPr id="3" name="Rectangle 94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graphicFrame>
        <p:nvGraphicFramePr>
          <p:cNvPr id="5" name="Group 3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4562404"/>
              </p:ext>
            </p:extLst>
          </p:nvPr>
        </p:nvGraphicFramePr>
        <p:xfrm>
          <a:off x="315913" y="747145"/>
          <a:ext cx="9272587" cy="5876622"/>
        </p:xfrm>
        <a:graphic>
          <a:graphicData uri="http://schemas.openxmlformats.org/drawingml/2006/table">
            <a:tbl>
              <a:tblPr/>
              <a:tblGrid>
                <a:gridCol w="96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718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6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36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752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7772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Level1</a:t>
                      </a:r>
                      <a:endParaRPr kumimoji="0" lang="en-US" altLang="ko-KR" sz="1000" b="1" i="0" u="none" strike="noStrike" cap="none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주류 유통 관리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Level2</a:t>
                      </a:r>
                      <a:endParaRPr kumimoji="0" lang="en-US" altLang="ko-KR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일반 회원 화면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5151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</a:t>
                      </a:r>
                      <a:r>
                        <a:rPr kumimoji="0" lang="en-US" altLang="ko-KR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ID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4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SzTx/>
                        <a:buFont typeface="Wingdings"/>
                        <a:buNone/>
                        <a:tabLst/>
                        <a:defRPr/>
                      </a:pPr>
                      <a:r>
                        <a:rPr kumimoji="1" lang="en-US" altLang="ko-KR" sz="10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UI_PD4_012</a:t>
                      </a:r>
                      <a:endParaRPr kumimoji="1" lang="en-US" altLang="ko-KR" sz="1000" b="0" i="0" u="none" strike="noStrike" cap="none" normalizeH="0" baseline="0" dirty="0" smtClean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 회원 구매 </a:t>
                      </a:r>
                      <a:r>
                        <a:rPr lang="en-US" altLang="ko-KR" sz="1000" b="0" i="0" u="none" strike="noStrike" kern="120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(</a:t>
                      </a:r>
                      <a:r>
                        <a:rPr lang="ko-KR" altLang="en-US" sz="1000" b="0" i="0" u="none" strike="noStrike" kern="120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찜 목록</a:t>
                      </a:r>
                      <a:r>
                        <a:rPr lang="en-US" altLang="ko-KR" sz="1000" b="0" i="0" u="none" strike="noStrike" kern="120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)</a:t>
                      </a:r>
                      <a:endParaRPr lang="en-US" altLang="ko-KR" sz="1000" b="0" i="0" u="none" strike="noStrike" kern="1200">
                        <a:solidFill>
                          <a:srgbClr val="000000"/>
                        </a:solidFill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4756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화면개요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0" i="0" u="none" strike="noStrike" cap="none" normalizeH="0" baseline="0" dirty="0" err="1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찜한</a:t>
                      </a:r>
                      <a:r>
                        <a:rPr kumimoji="0" lang="ko-KR" altLang="en-US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 상품을 볼 수 있는 페이지이다</a:t>
                      </a:r>
                      <a:r>
                        <a:rPr kumimoji="0" lang="en-US" altLang="ko-KR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 </a:t>
                      </a:r>
                      <a:r>
                        <a:rPr kumimoji="0" lang="ko-KR" altLang="en-US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삭제와 장바구니 담기가 가능하다</a:t>
                      </a:r>
                      <a:r>
                        <a:rPr kumimoji="0" lang="en-US" altLang="ko-KR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  <a:endParaRPr kumimoji="0" lang="ko-KR" altLang="en-US" sz="1000" b="0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811">
                <a:tc rowSpan="2"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설명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31132">
                <a:tc gridSpan="4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marL="266700" marR="0" lvl="0" indent="-2667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 err="1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찜한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 상품을 선택해서 삭제할 수 도 있고 장바구니 담기를 할 수 있다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 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장바구니 담기를 누르면 장바구니 페이지로 이동한다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34" name="TextBox 33"/>
          <p:cNvSpPr txBox="1"/>
          <p:nvPr/>
        </p:nvSpPr>
        <p:spPr>
          <a:xfrm>
            <a:off x="321454" y="1861862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①</a:t>
            </a:r>
            <a:endParaRPr lang="ko-KR" altLang="en-US" sz="2000" dirty="0"/>
          </a:p>
        </p:txBody>
      </p:sp>
      <p:sp>
        <p:nvSpPr>
          <p:cNvPr id="16" name="직사각형 15"/>
          <p:cNvSpPr/>
          <p:nvPr/>
        </p:nvSpPr>
        <p:spPr>
          <a:xfrm>
            <a:off x="416496" y="1916832"/>
            <a:ext cx="1628911" cy="3693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>
                <a:solidFill>
                  <a:schemeClr val="tx1"/>
                </a:solidFill>
                <a:latin typeface="나눔바른고딕"/>
                <a:ea typeface="나눔바른고딕"/>
              </a:rPr>
              <a:t>찜 목록</a:t>
            </a:r>
          </a:p>
        </p:txBody>
      </p:sp>
      <p:cxnSp>
        <p:nvCxnSpPr>
          <p:cNvPr id="7" name="직선 연결선 6"/>
          <p:cNvCxnSpPr/>
          <p:nvPr/>
        </p:nvCxnSpPr>
        <p:spPr>
          <a:xfrm>
            <a:off x="416496" y="2420888"/>
            <a:ext cx="648072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19" name="TextBox 18"/>
          <p:cNvSpPr txBox="1"/>
          <p:nvPr/>
        </p:nvSpPr>
        <p:spPr>
          <a:xfrm>
            <a:off x="857826" y="2518851"/>
            <a:ext cx="8640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이미지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71707" y="2512413"/>
            <a:ext cx="8640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상품명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88994" y="2518852"/>
            <a:ext cx="8640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옵션정보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94973" y="2507255"/>
            <a:ext cx="8640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판매가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34923" y="2518852"/>
            <a:ext cx="86409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주문</a:t>
            </a:r>
          </a:p>
        </p:txBody>
      </p:sp>
      <p:pic>
        <p:nvPicPr>
          <p:cNvPr id="24" name="그림 2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1084087" y="2900081"/>
            <a:ext cx="463479" cy="484085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771008" y="2990522"/>
            <a:ext cx="12961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서울</a:t>
            </a:r>
            <a:r>
              <a:rPr lang="en-US" altLang="ko-KR">
                <a:latin typeface="나눔바른고딕"/>
                <a:ea typeface="나눔바른고딕"/>
              </a:rPr>
              <a:t>)</a:t>
            </a:r>
            <a:r>
              <a:rPr lang="ko-KR" altLang="en-US">
                <a:latin typeface="나눔바른고딕"/>
                <a:ea typeface="나눔바른고딕"/>
              </a:rPr>
              <a:t>참이슬</a:t>
            </a:r>
          </a:p>
        </p:txBody>
      </p:sp>
      <p:cxnSp>
        <p:nvCxnSpPr>
          <p:cNvPr id="26" name="직선 연결선 25"/>
          <p:cNvCxnSpPr/>
          <p:nvPr/>
        </p:nvCxnSpPr>
        <p:spPr>
          <a:xfrm>
            <a:off x="416496" y="3685456"/>
            <a:ext cx="648072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37" name="TextBox 36"/>
          <p:cNvSpPr txBox="1"/>
          <p:nvPr/>
        </p:nvSpPr>
        <p:spPr>
          <a:xfrm>
            <a:off x="4853090" y="2957855"/>
            <a:ext cx="8512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>
                <a:latin typeface="나눔바른고딕"/>
                <a:ea typeface="나눔바른고딕"/>
              </a:rPr>
              <a:t>1,720</a:t>
            </a:r>
            <a:r>
              <a:rPr lang="ko-KR" altLang="en-US">
                <a:latin typeface="나눔바른고딕"/>
                <a:ea typeface="나눔바른고딕"/>
              </a:rPr>
              <a:t>원</a:t>
            </a:r>
          </a:p>
        </p:txBody>
      </p:sp>
      <p:sp>
        <p:nvSpPr>
          <p:cNvPr id="8" name="사각형: 둥근 모서리 7"/>
          <p:cNvSpPr/>
          <p:nvPr/>
        </p:nvSpPr>
        <p:spPr>
          <a:xfrm>
            <a:off x="6108000" y="2958641"/>
            <a:ext cx="517942" cy="308880"/>
          </a:xfrm>
          <a:prstGeom prst="roundRect">
            <a:avLst>
              <a:gd name="adj" fmla="val 16667"/>
            </a:avLst>
          </a:prstGeom>
          <a:noFill/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non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r>
              <a:rPr kumimoji="0" lang="ko-KR" altLang="en-US" sz="1200" b="0" i="0" u="none" strike="noStrike" cap="none" normalizeH="0" baseline="0">
                <a:solidFill>
                  <a:schemeClr val="tx1"/>
                </a:solidFill>
                <a:effectLst/>
                <a:latin typeface="Arial"/>
                <a:ea typeface="굴림"/>
              </a:rPr>
              <a:t>삭제</a:t>
            </a:r>
            <a:endParaRPr kumimoji="0" lang="ko-KR" altLang="en-US" sz="1200" b="0" i="0" u="none" strike="noStrike" cap="none" normalizeH="0" baseline="0">
              <a:solidFill>
                <a:schemeClr val="tx1"/>
              </a:solidFill>
              <a:latin typeface="Arial"/>
              <a:ea typeface="굴림"/>
            </a:endParaRPr>
          </a:p>
        </p:txBody>
      </p:sp>
      <p:sp>
        <p:nvSpPr>
          <p:cNvPr id="39" name="사각형: 둥근 모서리 38"/>
          <p:cNvSpPr/>
          <p:nvPr/>
        </p:nvSpPr>
        <p:spPr>
          <a:xfrm>
            <a:off x="5643096" y="3814378"/>
            <a:ext cx="1224210" cy="308880"/>
          </a:xfrm>
          <a:prstGeom prst="roundRect">
            <a:avLst>
              <a:gd name="adj" fmla="val 16667"/>
            </a:avLst>
          </a:prstGeom>
          <a:noFill/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squar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r>
              <a:rPr kumimoji="0" lang="ko-KR" altLang="en-US" sz="1200" b="0" i="0" u="none" strike="noStrike" cap="none" normalizeH="0" baseline="0">
                <a:solidFill>
                  <a:schemeClr val="tx1"/>
                </a:solidFill>
                <a:effectLst/>
                <a:latin typeface="Arial"/>
                <a:ea typeface="굴림"/>
              </a:rPr>
              <a:t>장바구니</a:t>
            </a:r>
            <a:r>
              <a:rPr lang="en-US" altLang="ko-KR"/>
              <a:t> </a:t>
            </a:r>
            <a:r>
              <a:rPr lang="ko-KR" altLang="en-US"/>
              <a:t>담기</a:t>
            </a:r>
            <a:endParaRPr kumimoji="0" lang="ko-KR" altLang="en-US" sz="12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315913" y="2502949"/>
            <a:ext cx="64421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선택</a:t>
            </a:r>
          </a:p>
        </p:txBody>
      </p:sp>
      <p:sp>
        <p:nvSpPr>
          <p:cNvPr id="41" name="사각형: 둥근 모서리 40"/>
          <p:cNvSpPr/>
          <p:nvPr/>
        </p:nvSpPr>
        <p:spPr>
          <a:xfrm>
            <a:off x="523512" y="2971249"/>
            <a:ext cx="229013" cy="276406"/>
          </a:xfrm>
          <a:prstGeom prst="roundRect">
            <a:avLst>
              <a:gd name="adj" fmla="val 16667"/>
            </a:avLst>
          </a:prstGeom>
          <a:noFill/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non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endParaRPr kumimoji="0" lang="ko-KR" altLang="en-US" sz="12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sp>
        <p:nvSpPr>
          <p:cNvPr id="27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1.2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ko-KR" altLang="en-US" sz="1800" b="1" i="0" u="none" strike="noStrike" kern="0" cap="none" spc="0" normalizeH="0" baseline="0" dirty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일반 회원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2794654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24</a:t>
            </a:fld>
            <a:r>
              <a:rPr lang="en-US" altLang="ko-KR"/>
              <a:t> -</a:t>
            </a:r>
            <a:endParaRPr lang="ko-KR" altLang="ko-KR"/>
          </a:p>
        </p:txBody>
      </p:sp>
      <p:graphicFrame>
        <p:nvGraphicFramePr>
          <p:cNvPr id="3" name="표 4"/>
          <p:cNvGraphicFramePr>
            <a:graphicFrameLocks noGrp="1"/>
          </p:cNvGraphicFramePr>
          <p:nvPr/>
        </p:nvGraphicFramePr>
        <p:xfrm>
          <a:off x="560511" y="1052738"/>
          <a:ext cx="8928992" cy="5429409"/>
        </p:xfrm>
        <a:graphic>
          <a:graphicData uri="http://schemas.openxmlformats.org/drawingml/2006/table">
            <a:tbl>
              <a:tblPr/>
              <a:tblGrid>
                <a:gridCol w="9964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24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10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10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684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49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87221"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alt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I/</a:t>
                      </a: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O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한글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영문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필수여부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I/O </a:t>
                      </a: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유형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초기값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장바구니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ID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cartid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상품명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productName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이미지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image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금액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price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8"/>
                  </a:ext>
                </a:extLst>
              </a:tr>
            </a:tbl>
          </a:graphicData>
        </a:graphic>
      </p:graphicFrame>
      <p:sp>
        <p:nvSpPr>
          <p:cNvPr id="5" name="직사각형 6"/>
          <p:cNvSpPr/>
          <p:nvPr/>
        </p:nvSpPr>
        <p:spPr>
          <a:xfrm>
            <a:off x="425987" y="703729"/>
            <a:ext cx="138691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b="1">
                <a:latin typeface="맑은 고딕"/>
                <a:ea typeface="맑은 고딕"/>
              </a:rPr>
              <a:t>* </a:t>
            </a:r>
            <a:r>
              <a:rPr lang="ko-KR" altLang="ko-KR" b="1">
                <a:latin typeface="맑은 고딕"/>
                <a:ea typeface="맑은 고딕"/>
              </a:rPr>
              <a:t>화면입출력정보</a:t>
            </a:r>
          </a:p>
        </p:txBody>
      </p:sp>
      <p:sp>
        <p:nvSpPr>
          <p:cNvPr id="9" name="Rectangle 3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2pPr>
            <a:lvl3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3pPr>
            <a:lvl4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4pPr>
            <a:lvl5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sp>
        <p:nvSpPr>
          <p:cNvPr id="7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1.2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ko-KR" altLang="en-US" sz="1800" b="1" i="0" u="none" strike="noStrike" kern="0" cap="none" spc="0" normalizeH="0" baseline="0" dirty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일반 회원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34087178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xfrm>
            <a:off x="3872880" y="6671742"/>
            <a:ext cx="2063750" cy="213642"/>
          </a:xfrm>
        </p:spPr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25</a:t>
            </a:fld>
            <a:r>
              <a:rPr lang="en-US" altLang="ko-KR"/>
              <a:t> -</a:t>
            </a:r>
          </a:p>
        </p:txBody>
      </p:sp>
      <p:sp>
        <p:nvSpPr>
          <p:cNvPr id="3" name="Rectangle 94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graphicFrame>
        <p:nvGraphicFramePr>
          <p:cNvPr id="5" name="Group 3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12096870"/>
              </p:ext>
            </p:extLst>
          </p:nvPr>
        </p:nvGraphicFramePr>
        <p:xfrm>
          <a:off x="315913" y="747145"/>
          <a:ext cx="9272587" cy="5876622"/>
        </p:xfrm>
        <a:graphic>
          <a:graphicData uri="http://schemas.openxmlformats.org/drawingml/2006/table">
            <a:tbl>
              <a:tblPr/>
              <a:tblGrid>
                <a:gridCol w="96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718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6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36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752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7772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Level1</a:t>
                      </a:r>
                      <a:endParaRPr kumimoji="0" lang="en-US" altLang="ko-KR" sz="1000" b="1" i="0" u="none" strike="noStrike" cap="none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주류 유통 관리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Level2</a:t>
                      </a:r>
                      <a:endParaRPr kumimoji="0" lang="en-US" altLang="ko-KR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0" fontAlgn="auto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일반 회원 화면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5151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</a:t>
                      </a:r>
                      <a:r>
                        <a:rPr kumimoji="0" lang="en-US" altLang="ko-KR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ID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latinLnBrk="1" hangingPunct="1">
                        <a:lnSpc>
                          <a:spcPct val="104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Font typeface="Wingdings"/>
                        <a:buNone/>
                        <a:defRPr/>
                      </a:pPr>
                      <a:r>
                        <a:rPr kumimoji="1" lang="en-US" altLang="ko-KR" sz="10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UI_PD4_013</a:t>
                      </a:r>
                      <a:endParaRPr kumimoji="1" lang="en-US" altLang="ko-KR" sz="1000" b="0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장바구니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4756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화면개요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장바구니 페이지이다</a:t>
                      </a:r>
                      <a:r>
                        <a:rPr kumimoji="0" lang="en-US" altLang="ko-KR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  <a:endParaRPr kumimoji="0" lang="ko-KR" altLang="en-US" sz="1000" b="0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811">
                <a:tc rowSpan="2"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설명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31132">
                <a:tc gridSpan="4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marL="266700" marR="0" lvl="0" indent="-2667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주문서 작성 페이지로 이동한다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선택 버튼 체크 후에 버튼을 누를 시 장바구니에서 선택한 상품이 삭제된다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장바구니에 있던 상품들이 모두 삭제된다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견적서 출력 페이지로 이동한다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찜 목록 페이지로 이동한다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8" name="TextBox 27"/>
          <p:cNvSpPr txBox="1"/>
          <p:nvPr/>
        </p:nvSpPr>
        <p:spPr>
          <a:xfrm>
            <a:off x="1525638" y="3059010"/>
            <a:ext cx="128654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300">
                <a:latin typeface="나눔바른고딕"/>
                <a:ea typeface="나눔바른고딕"/>
              </a:rPr>
              <a:t>서울</a:t>
            </a:r>
            <a:r>
              <a:rPr lang="en-US" altLang="ko-KR" sz="1300">
                <a:latin typeface="나눔바른고딕"/>
                <a:ea typeface="나눔바른고딕"/>
              </a:rPr>
              <a:t>)</a:t>
            </a:r>
            <a:r>
              <a:rPr lang="ko-KR" altLang="en-US" sz="1300">
                <a:latin typeface="나눔바른고딕"/>
                <a:ea typeface="나눔바른고딕"/>
              </a:rPr>
              <a:t>참이슬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45782" y="5826150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④</a:t>
            </a:r>
            <a:endParaRPr lang="ko-KR" altLang="en-US" sz="2000" dirty="0"/>
          </a:p>
        </p:txBody>
      </p:sp>
      <p:sp>
        <p:nvSpPr>
          <p:cNvPr id="31" name="TextBox 30"/>
          <p:cNvSpPr txBox="1"/>
          <p:nvPr/>
        </p:nvSpPr>
        <p:spPr>
          <a:xfrm>
            <a:off x="4442514" y="5865628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⑤</a:t>
            </a:r>
            <a:endParaRPr lang="ko-KR" altLang="en-US" sz="2000" dirty="0"/>
          </a:p>
        </p:txBody>
      </p:sp>
      <p:sp>
        <p:nvSpPr>
          <p:cNvPr id="32" name="TextBox 31"/>
          <p:cNvSpPr txBox="1"/>
          <p:nvPr/>
        </p:nvSpPr>
        <p:spPr>
          <a:xfrm>
            <a:off x="1653169" y="5826150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③</a:t>
            </a:r>
            <a:endParaRPr lang="ko-KR" altLang="en-US" sz="2000" dirty="0"/>
          </a:p>
        </p:txBody>
      </p:sp>
      <p:sp>
        <p:nvSpPr>
          <p:cNvPr id="33" name="TextBox 32"/>
          <p:cNvSpPr txBox="1"/>
          <p:nvPr/>
        </p:nvSpPr>
        <p:spPr>
          <a:xfrm>
            <a:off x="254782" y="5816328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②</a:t>
            </a:r>
            <a:endParaRPr lang="ko-KR" altLang="en-US" sz="2000" dirty="0"/>
          </a:p>
        </p:txBody>
      </p:sp>
      <p:sp>
        <p:nvSpPr>
          <p:cNvPr id="34" name="TextBox 33"/>
          <p:cNvSpPr txBox="1"/>
          <p:nvPr/>
        </p:nvSpPr>
        <p:spPr>
          <a:xfrm>
            <a:off x="5091336" y="3950065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>
                <a:solidFill>
                  <a:srgbClr val="FF0000"/>
                </a:solidFill>
                <a:latin typeface="나눔바른고딕"/>
                <a:ea typeface="나눔바른고딕"/>
              </a:rPr>
              <a:t>①</a:t>
            </a:r>
            <a:endParaRPr lang="ko-KR" altLang="en-US" sz="2000"/>
          </a:p>
        </p:txBody>
      </p:sp>
      <p:sp>
        <p:nvSpPr>
          <p:cNvPr id="23" name="직사각형 22"/>
          <p:cNvSpPr/>
          <p:nvPr/>
        </p:nvSpPr>
        <p:spPr>
          <a:xfrm>
            <a:off x="406645" y="1890564"/>
            <a:ext cx="936104" cy="2880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500">
                <a:solidFill>
                  <a:schemeClr val="tx1"/>
                </a:solidFill>
                <a:latin typeface="나눔바른고딕"/>
                <a:ea typeface="나눔바른고딕"/>
              </a:rPr>
              <a:t>장바구니</a:t>
            </a:r>
          </a:p>
        </p:txBody>
      </p:sp>
      <p:cxnSp>
        <p:nvCxnSpPr>
          <p:cNvPr id="7" name="직선 연결선 6"/>
          <p:cNvCxnSpPr/>
          <p:nvPr/>
        </p:nvCxnSpPr>
        <p:spPr>
          <a:xfrm>
            <a:off x="478653" y="2636912"/>
            <a:ext cx="6562579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8" name="순서도: 병합 7"/>
          <p:cNvSpPr/>
          <p:nvPr/>
        </p:nvSpPr>
        <p:spPr>
          <a:xfrm rot="16200000">
            <a:off x="469278" y="2286247"/>
            <a:ext cx="177545" cy="148942"/>
          </a:xfrm>
          <a:prstGeom prst="flowChartMerg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squar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endParaRPr kumimoji="0" lang="ko-KR" altLang="en-US" sz="12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609344" y="2232497"/>
            <a:ext cx="73340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장바구니</a:t>
            </a:r>
          </a:p>
        </p:txBody>
      </p:sp>
      <p:cxnSp>
        <p:nvCxnSpPr>
          <p:cNvPr id="10" name="직선 연결선 9"/>
          <p:cNvCxnSpPr/>
          <p:nvPr/>
        </p:nvCxnSpPr>
        <p:spPr>
          <a:xfrm>
            <a:off x="1342749" y="2271945"/>
            <a:ext cx="0" cy="237551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38" name="TextBox 37"/>
          <p:cNvSpPr txBox="1"/>
          <p:nvPr/>
        </p:nvSpPr>
        <p:spPr>
          <a:xfrm>
            <a:off x="1342749" y="2237619"/>
            <a:ext cx="10179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일반 상품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1458" y="2717320"/>
            <a:ext cx="64421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선택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42378" y="2725897"/>
            <a:ext cx="684056" cy="288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이미지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60187" y="2700218"/>
            <a:ext cx="936104" cy="288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상품명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62569" y="2725897"/>
            <a:ext cx="642731" cy="288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포인트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05446" y="2711802"/>
            <a:ext cx="7086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판매가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341587" y="2724166"/>
            <a:ext cx="519311" cy="284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수량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66221" y="2724166"/>
            <a:ext cx="936104" cy="288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배송구분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7506" y="2720575"/>
            <a:ext cx="773929" cy="2880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배송비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21968" y="2724166"/>
            <a:ext cx="773929" cy="2880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합계</a:t>
            </a:r>
          </a:p>
        </p:txBody>
      </p:sp>
      <p:sp>
        <p:nvSpPr>
          <p:cNvPr id="11" name="사각형: 둥근 모서리 10"/>
          <p:cNvSpPr/>
          <p:nvPr/>
        </p:nvSpPr>
        <p:spPr>
          <a:xfrm>
            <a:off x="532968" y="3013929"/>
            <a:ext cx="229013" cy="276406"/>
          </a:xfrm>
          <a:prstGeom prst="roundRect">
            <a:avLst>
              <a:gd name="adj" fmla="val 16667"/>
            </a:avLst>
          </a:prstGeom>
          <a:noFill/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non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endParaRPr kumimoji="0" lang="ko-KR" altLang="en-US" sz="12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pic>
        <p:nvPicPr>
          <p:cNvPr id="48" name="그림 47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936955" y="2985916"/>
            <a:ext cx="425510" cy="444428"/>
          </a:xfrm>
          <a:prstGeom prst="rect">
            <a:avLst/>
          </a:prstGeom>
        </p:spPr>
      </p:pic>
      <p:cxnSp>
        <p:nvCxnSpPr>
          <p:cNvPr id="49" name="직선 연결선 48"/>
          <p:cNvCxnSpPr/>
          <p:nvPr/>
        </p:nvCxnSpPr>
        <p:spPr>
          <a:xfrm>
            <a:off x="478653" y="3501008"/>
            <a:ext cx="6562579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50" name="TextBox 49"/>
          <p:cNvSpPr txBox="1"/>
          <p:nvPr/>
        </p:nvSpPr>
        <p:spPr>
          <a:xfrm>
            <a:off x="2826240" y="3036586"/>
            <a:ext cx="7477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>
                <a:latin typeface="나눔바른고딕"/>
                <a:ea typeface="나눔바른고딕"/>
              </a:rPr>
              <a:t>1,720</a:t>
            </a:r>
            <a:r>
              <a:rPr lang="ko-KR" altLang="en-US">
                <a:latin typeface="나눔바른고딕"/>
                <a:ea typeface="나눔바른고딕"/>
              </a:rPr>
              <a:t>원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31077" y="3026262"/>
            <a:ext cx="8281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기본배송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668617" y="3049228"/>
            <a:ext cx="77392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>
                <a:latin typeface="나눔바른고딕"/>
                <a:ea typeface="나눔바른고딕"/>
              </a:rPr>
              <a:t>3,500</a:t>
            </a:r>
            <a:r>
              <a:rPr lang="ko-KR" altLang="en-US">
                <a:latin typeface="나눔바른고딕"/>
                <a:ea typeface="나눔바른고딕"/>
              </a:rPr>
              <a:t>원</a:t>
            </a:r>
            <a:endParaRPr lang="en-US" altLang="ko-KR">
              <a:latin typeface="나눔바른고딕"/>
              <a:ea typeface="나눔바른고딕"/>
            </a:endParaRPr>
          </a:p>
        </p:txBody>
      </p:sp>
      <p:sp>
        <p:nvSpPr>
          <p:cNvPr id="53" name="TextBox 52"/>
          <p:cNvSpPr txBox="1"/>
          <p:nvPr/>
        </p:nvSpPr>
        <p:spPr>
          <a:xfrm>
            <a:off x="6210456" y="3049227"/>
            <a:ext cx="10179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>
                <a:latin typeface="나눔바른고딕"/>
                <a:ea typeface="나눔바른고딕"/>
              </a:rPr>
              <a:t>5,220</a:t>
            </a:r>
            <a:r>
              <a:rPr lang="ko-KR" altLang="en-US">
                <a:latin typeface="나눔바른고딕"/>
                <a:ea typeface="나눔바른고딕"/>
              </a:rPr>
              <a:t>원</a:t>
            </a:r>
            <a:endParaRPr lang="en-US" altLang="ko-KR">
              <a:latin typeface="나눔바른고딕"/>
              <a:ea typeface="나눔바른고딕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3615987" y="3035625"/>
            <a:ext cx="184164" cy="233014"/>
          </a:xfrm>
          <a:prstGeom prst="rect">
            <a:avLst/>
          </a:prstGeom>
          <a:solidFill>
            <a:schemeClr val="accent5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squar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r>
              <a:rPr kumimoji="0" lang="ko-KR" altLang="en-US" sz="900" b="0" i="0" u="none" strike="noStrike" cap="none" normalizeH="0" baseline="0">
                <a:solidFill>
                  <a:schemeClr val="tx1"/>
                </a:solidFill>
                <a:effectLst/>
                <a:latin typeface="Arial"/>
                <a:ea typeface="굴림"/>
              </a:rPr>
              <a:t>포</a:t>
            </a:r>
            <a:endParaRPr kumimoji="0" lang="ko-KR" altLang="en-US" sz="900" b="0" i="0" u="none" strike="noStrike" cap="none" normalizeH="0" baseline="0">
              <a:solidFill>
                <a:schemeClr val="tx1"/>
              </a:solidFill>
              <a:latin typeface="Arial"/>
              <a:ea typeface="굴림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3683729" y="3035625"/>
            <a:ext cx="6278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>
                <a:latin typeface="나눔바른고딕"/>
                <a:ea typeface="나눔바른고딕"/>
              </a:rPr>
              <a:t>20</a:t>
            </a:r>
            <a:r>
              <a:rPr lang="ko-KR" altLang="en-US">
                <a:latin typeface="나눔바른고딕"/>
                <a:ea typeface="나눔바른고딕"/>
              </a:rPr>
              <a:t>원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4288725" y="3048885"/>
            <a:ext cx="220535" cy="233014"/>
          </a:xfrm>
          <a:prstGeom prst="rect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squar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r>
              <a:rPr lang="en-US" altLang="ko-KR" sz="900"/>
              <a:t>1</a:t>
            </a:r>
            <a:endParaRPr kumimoji="0" lang="ko-KR" altLang="en-US" sz="9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sp>
        <p:nvSpPr>
          <p:cNvPr id="55" name="사각형: 둥근 모서리 54"/>
          <p:cNvSpPr/>
          <p:nvPr/>
        </p:nvSpPr>
        <p:spPr>
          <a:xfrm>
            <a:off x="4550538" y="3038003"/>
            <a:ext cx="502764" cy="257802"/>
          </a:xfrm>
          <a:prstGeom prst="roundRect">
            <a:avLst>
              <a:gd name="adj" fmla="val 16667"/>
            </a:avLst>
          </a:prstGeom>
          <a:noFill/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squar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r>
              <a:rPr kumimoji="0" lang="ko-KR" altLang="en-US" sz="900" b="0" i="0" u="none" strike="noStrike" cap="none" normalizeH="0" baseline="0">
                <a:solidFill>
                  <a:schemeClr val="tx1"/>
                </a:solidFill>
                <a:effectLst/>
                <a:latin typeface="Arial"/>
                <a:ea typeface="굴림"/>
              </a:rPr>
              <a:t>수정</a:t>
            </a:r>
            <a:endParaRPr kumimoji="0" lang="ko-KR" altLang="en-US" sz="900" b="0" i="0" u="none" strike="noStrike" cap="none" normalizeH="0" baseline="0">
              <a:solidFill>
                <a:schemeClr val="tx1"/>
              </a:solidFill>
              <a:latin typeface="Arial"/>
              <a:ea typeface="굴림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60620" y="3561230"/>
            <a:ext cx="1180012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300">
                <a:latin typeface="나눔바른고딕"/>
                <a:ea typeface="나눔바른고딕"/>
              </a:rPr>
              <a:t>[ </a:t>
            </a:r>
            <a:r>
              <a:rPr lang="ko-KR" altLang="en-US" sz="1300">
                <a:latin typeface="나눔바른고딕"/>
                <a:ea typeface="나눔바른고딕"/>
              </a:rPr>
              <a:t>기본 배송 </a:t>
            </a:r>
            <a:r>
              <a:rPr lang="en-US" altLang="ko-KR" sz="1300">
                <a:latin typeface="나눔바른고딕"/>
                <a:ea typeface="나눔바른고딕"/>
              </a:rPr>
              <a:t>]</a:t>
            </a:r>
            <a:endParaRPr lang="ko-KR" altLang="en-US" sz="1300">
              <a:latin typeface="나눔바른고딕"/>
              <a:ea typeface="나눔바른고딕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3218979" y="3561230"/>
            <a:ext cx="3876917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300">
                <a:latin typeface="나눔바른고딕"/>
                <a:ea typeface="나눔바른고딕"/>
              </a:rPr>
              <a:t>상품구매금액 </a:t>
            </a:r>
            <a:r>
              <a:rPr lang="en-US" altLang="ko-KR" sz="1300" b="1">
                <a:latin typeface="나눔바른고딕"/>
                <a:ea typeface="나눔바른고딕"/>
              </a:rPr>
              <a:t>1,720</a:t>
            </a:r>
            <a:r>
              <a:rPr lang="en-US" altLang="ko-KR" sz="1300">
                <a:latin typeface="나눔바른고딕"/>
                <a:ea typeface="나눔바른고딕"/>
              </a:rPr>
              <a:t> + </a:t>
            </a:r>
            <a:r>
              <a:rPr lang="ko-KR" altLang="en-US" sz="1300">
                <a:latin typeface="나눔바른고딕"/>
                <a:ea typeface="나눔바른고딕"/>
              </a:rPr>
              <a:t>배송비 </a:t>
            </a:r>
            <a:r>
              <a:rPr lang="en-US" altLang="ko-KR" sz="1300" b="1">
                <a:latin typeface="나눔바른고딕"/>
                <a:ea typeface="나눔바른고딕"/>
              </a:rPr>
              <a:t>3,500</a:t>
            </a:r>
            <a:r>
              <a:rPr lang="en-US" altLang="ko-KR" sz="1300">
                <a:latin typeface="나눔바른고딕"/>
                <a:ea typeface="나눔바른고딕"/>
              </a:rPr>
              <a:t> = </a:t>
            </a:r>
            <a:r>
              <a:rPr lang="ko-KR" altLang="en-US" sz="1300">
                <a:latin typeface="나눔바른고딕"/>
                <a:ea typeface="나눔바른고딕"/>
              </a:rPr>
              <a:t>합계 </a:t>
            </a:r>
            <a:r>
              <a:rPr lang="en-US" altLang="ko-KR" sz="1300">
                <a:latin typeface="나눔바른고딕"/>
                <a:ea typeface="나눔바른고딕"/>
              </a:rPr>
              <a:t>: </a:t>
            </a:r>
            <a:r>
              <a:rPr lang="en-US" altLang="ko-KR" sz="1300" b="1">
                <a:latin typeface="나눔바른고딕"/>
                <a:ea typeface="나눔바른고딕"/>
              </a:rPr>
              <a:t>5,220</a:t>
            </a:r>
            <a:r>
              <a:rPr lang="ko-KR" altLang="en-US" sz="1300" b="1">
                <a:latin typeface="나눔바른고딕"/>
                <a:ea typeface="나눔바른고딕"/>
              </a:rPr>
              <a:t>원</a:t>
            </a:r>
          </a:p>
        </p:txBody>
      </p:sp>
      <p:sp>
        <p:nvSpPr>
          <p:cNvPr id="58" name="직사각형 57"/>
          <p:cNvSpPr/>
          <p:nvPr/>
        </p:nvSpPr>
        <p:spPr>
          <a:xfrm>
            <a:off x="5385333" y="4133600"/>
            <a:ext cx="1628911" cy="3693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>
                <a:solidFill>
                  <a:schemeClr val="tx1"/>
                </a:solidFill>
                <a:latin typeface="나눔바른고딕"/>
                <a:ea typeface="나눔바른고딕"/>
              </a:rPr>
              <a:t>선택상품 주문하기</a:t>
            </a:r>
          </a:p>
        </p:txBody>
      </p:sp>
      <p:grpSp>
        <p:nvGrpSpPr>
          <p:cNvPr id="14" name="그룹 13"/>
          <p:cNvGrpSpPr/>
          <p:nvPr/>
        </p:nvGrpSpPr>
        <p:grpSpPr>
          <a:xfrm>
            <a:off x="493389" y="4751573"/>
            <a:ext cx="6504117" cy="1156137"/>
            <a:chOff x="460620" y="4954713"/>
            <a:chExt cx="6504117" cy="1156137"/>
          </a:xfrm>
        </p:grpSpPr>
        <p:sp>
          <p:nvSpPr>
            <p:cNvPr id="59" name="직사각형 58"/>
            <p:cNvSpPr/>
            <p:nvPr/>
          </p:nvSpPr>
          <p:spPr>
            <a:xfrm>
              <a:off x="483579" y="4954713"/>
              <a:ext cx="6389098" cy="1156137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460620" y="5092498"/>
              <a:ext cx="1364182" cy="79637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 sz="1500" b="1">
                  <a:latin typeface="나눔바른고딕"/>
                  <a:ea typeface="나눔바른고딕"/>
                </a:rPr>
                <a:t>합계</a:t>
              </a:r>
            </a:p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고객님의 총 주문 합계 금액 입니다</a:t>
              </a:r>
              <a:r>
                <a:rPr lang="en-US" altLang="ko-KR">
                  <a:latin typeface="나눔바른고딕"/>
                  <a:ea typeface="나눔바른고딕"/>
                </a:rPr>
                <a:t>.</a:t>
              </a:r>
              <a:endParaRPr lang="ko-KR" altLang="en-US">
                <a:latin typeface="나눔바른고딕"/>
                <a:ea typeface="나눔바른고딕"/>
              </a:endParaRPr>
            </a:p>
          </p:txBody>
        </p:sp>
        <p:sp>
          <p:nvSpPr>
            <p:cNvPr id="61" name="TextBox 60"/>
            <p:cNvSpPr txBox="1"/>
            <p:nvPr/>
          </p:nvSpPr>
          <p:spPr>
            <a:xfrm>
              <a:off x="4392582" y="5126512"/>
              <a:ext cx="1364182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상품 합계금액</a:t>
              </a:r>
            </a:p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배송비</a:t>
              </a:r>
            </a:p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총 주문합계 금액</a:t>
              </a:r>
            </a:p>
          </p:txBody>
        </p:sp>
        <p:sp>
          <p:nvSpPr>
            <p:cNvPr id="62" name="TextBox 61"/>
            <p:cNvSpPr txBox="1"/>
            <p:nvPr/>
          </p:nvSpPr>
          <p:spPr>
            <a:xfrm>
              <a:off x="5784725" y="5126512"/>
              <a:ext cx="1180012" cy="83099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en-US" altLang="ko-KR">
                  <a:latin typeface="나눔바른고딕"/>
                  <a:ea typeface="나눔바른고딕"/>
                </a:rPr>
                <a:t>1,720</a:t>
              </a:r>
              <a:r>
                <a:rPr lang="ko-KR" altLang="en-US">
                  <a:latin typeface="나눔바른고딕"/>
                  <a:ea typeface="나눔바른고딕"/>
                </a:rPr>
                <a:t>원</a:t>
              </a:r>
            </a:p>
            <a:p>
              <a:pPr lvl="0">
                <a:defRPr/>
              </a:pPr>
              <a:r>
                <a:rPr lang="en-US" altLang="ko-KR">
                  <a:latin typeface="나눔바른고딕"/>
                  <a:ea typeface="나눔바른고딕"/>
                </a:rPr>
                <a:t>3,500</a:t>
              </a:r>
              <a:r>
                <a:rPr lang="ko-KR" altLang="en-US">
                  <a:latin typeface="나눔바른고딕"/>
                  <a:ea typeface="나눔바른고딕"/>
                </a:rPr>
                <a:t>원</a:t>
              </a:r>
            </a:p>
            <a:p>
              <a:pPr lvl="0">
                <a:defRPr/>
              </a:pPr>
              <a:r>
                <a:rPr lang="en-US" altLang="ko-KR">
                  <a:latin typeface="나눔바른고딕"/>
                  <a:ea typeface="나눔바른고딕"/>
                </a:rPr>
                <a:t>5,220</a:t>
              </a:r>
              <a:r>
                <a:rPr lang="ko-KR" altLang="en-US">
                  <a:latin typeface="나눔바른고딕"/>
                  <a:ea typeface="나눔바른고딕"/>
                </a:rPr>
                <a:t>원</a:t>
              </a:r>
            </a:p>
          </p:txBody>
        </p:sp>
      </p:grpSp>
      <p:sp>
        <p:nvSpPr>
          <p:cNvPr id="66" name="직사각형 65"/>
          <p:cNvSpPr/>
          <p:nvPr/>
        </p:nvSpPr>
        <p:spPr>
          <a:xfrm>
            <a:off x="4622485" y="6002306"/>
            <a:ext cx="1268666" cy="35882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>
                <a:solidFill>
                  <a:schemeClr val="tx1"/>
                </a:solidFill>
                <a:latin typeface="나눔바른고딕"/>
                <a:ea typeface="나눔바른고딕"/>
              </a:rPr>
              <a:t>찜 상품 등록</a:t>
            </a:r>
          </a:p>
        </p:txBody>
      </p:sp>
      <p:sp>
        <p:nvSpPr>
          <p:cNvPr id="67" name="직사각형 66"/>
          <p:cNvSpPr/>
          <p:nvPr/>
        </p:nvSpPr>
        <p:spPr>
          <a:xfrm>
            <a:off x="3251734" y="6002306"/>
            <a:ext cx="1268666" cy="35882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>
                <a:solidFill>
                  <a:schemeClr val="tx1"/>
                </a:solidFill>
                <a:latin typeface="나눔바른고딕"/>
                <a:ea typeface="나눔바른고딕"/>
              </a:rPr>
              <a:t>견적서출력</a:t>
            </a:r>
          </a:p>
        </p:txBody>
      </p:sp>
      <p:sp>
        <p:nvSpPr>
          <p:cNvPr id="68" name="직사각형 67"/>
          <p:cNvSpPr/>
          <p:nvPr/>
        </p:nvSpPr>
        <p:spPr>
          <a:xfrm>
            <a:off x="1885792" y="6002306"/>
            <a:ext cx="1268666" cy="35882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>
                <a:solidFill>
                  <a:schemeClr val="tx1"/>
                </a:solidFill>
                <a:latin typeface="나눔바른고딕"/>
                <a:ea typeface="나눔바른고딕"/>
              </a:rPr>
              <a:t>장바구니비우기</a:t>
            </a:r>
          </a:p>
        </p:txBody>
      </p:sp>
      <p:sp>
        <p:nvSpPr>
          <p:cNvPr id="69" name="직사각형 68"/>
          <p:cNvSpPr/>
          <p:nvPr/>
        </p:nvSpPr>
        <p:spPr>
          <a:xfrm>
            <a:off x="519850" y="6002306"/>
            <a:ext cx="1268666" cy="35882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>
                <a:solidFill>
                  <a:schemeClr val="tx1"/>
                </a:solidFill>
                <a:latin typeface="나눔바른고딕"/>
                <a:ea typeface="나눔바른고딕"/>
              </a:rPr>
              <a:t>선택상품삭제</a:t>
            </a:r>
          </a:p>
        </p:txBody>
      </p:sp>
      <p:sp>
        <p:nvSpPr>
          <p:cNvPr id="63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1.2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ko-KR" altLang="en-US" sz="1800" b="1" i="0" u="none" strike="noStrike" kern="0" cap="none" spc="0" normalizeH="0" baseline="0" dirty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일반 회원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26</a:t>
            </a:fld>
            <a:r>
              <a:rPr lang="en-US" altLang="ko-KR"/>
              <a:t> -</a:t>
            </a:r>
          </a:p>
        </p:txBody>
      </p:sp>
      <p:graphicFrame>
        <p:nvGraphicFramePr>
          <p:cNvPr id="3" name="표 4"/>
          <p:cNvGraphicFramePr>
            <a:graphicFrameLocks noGrp="1"/>
          </p:cNvGraphicFramePr>
          <p:nvPr/>
        </p:nvGraphicFramePr>
        <p:xfrm>
          <a:off x="560511" y="1052738"/>
          <a:ext cx="8928992" cy="5429409"/>
        </p:xfrm>
        <a:graphic>
          <a:graphicData uri="http://schemas.openxmlformats.org/drawingml/2006/table">
            <a:tbl>
              <a:tblPr/>
              <a:tblGrid>
                <a:gridCol w="9964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24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10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10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684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49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87221"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alt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I/</a:t>
                      </a: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O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한글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영문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필수여부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I/O </a:t>
                      </a: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유형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초기값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이미지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image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금액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price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배송비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deliveryCost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I/O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상품수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count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Param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altLang="ko-KR" sz="1100" kern="100">
                          <a:latin typeface="맑은 고딕"/>
                          <a:ea typeface="맑은 고딕"/>
                          <a:cs typeface="Times New Roman"/>
                        </a:rPr>
                        <a:t>count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I/O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사용포인트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usePoint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Param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altLang="ko-KR" sz="1100" kern="100">
                          <a:latin typeface="맑은 고딕"/>
                          <a:ea typeface="맑은 고딕"/>
                          <a:cs typeface="Times New Roman"/>
                        </a:rPr>
                        <a:t>0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8"/>
                  </a:ext>
                </a:extLst>
              </a:tr>
            </a:tbl>
          </a:graphicData>
        </a:graphic>
      </p:graphicFrame>
      <p:sp>
        <p:nvSpPr>
          <p:cNvPr id="5" name="직사각형 6"/>
          <p:cNvSpPr/>
          <p:nvPr/>
        </p:nvSpPr>
        <p:spPr>
          <a:xfrm>
            <a:off x="425987" y="703729"/>
            <a:ext cx="138691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b="1">
                <a:latin typeface="맑은 고딕"/>
                <a:ea typeface="맑은 고딕"/>
              </a:rPr>
              <a:t>* </a:t>
            </a:r>
            <a:r>
              <a:rPr lang="ko-KR" altLang="ko-KR" b="1">
                <a:latin typeface="맑은 고딕"/>
                <a:ea typeface="맑은 고딕"/>
              </a:rPr>
              <a:t>화면입출력정보</a:t>
            </a:r>
          </a:p>
        </p:txBody>
      </p:sp>
      <p:sp>
        <p:nvSpPr>
          <p:cNvPr id="9" name="Rectangle 3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2pPr>
            <a:lvl3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3pPr>
            <a:lvl4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4pPr>
            <a:lvl5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sp>
        <p:nvSpPr>
          <p:cNvPr id="7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1.2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ko-KR" altLang="en-US" sz="1800" b="1" i="0" u="none" strike="noStrike" kern="0" cap="none" spc="0" normalizeH="0" baseline="0" dirty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일반 회원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xfrm>
            <a:off x="3872880" y="6671742"/>
            <a:ext cx="2063750" cy="213642"/>
          </a:xfrm>
        </p:spPr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27</a:t>
            </a:fld>
            <a:r>
              <a:rPr lang="en-US" altLang="ko-KR"/>
              <a:t> -</a:t>
            </a:r>
          </a:p>
        </p:txBody>
      </p:sp>
      <p:sp>
        <p:nvSpPr>
          <p:cNvPr id="3" name="Rectangle 94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graphicFrame>
        <p:nvGraphicFramePr>
          <p:cNvPr id="5" name="Group 3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2629"/>
              </p:ext>
            </p:extLst>
          </p:nvPr>
        </p:nvGraphicFramePr>
        <p:xfrm>
          <a:off x="315913" y="747145"/>
          <a:ext cx="9272587" cy="5876622"/>
        </p:xfrm>
        <a:graphic>
          <a:graphicData uri="http://schemas.openxmlformats.org/drawingml/2006/table">
            <a:tbl>
              <a:tblPr/>
              <a:tblGrid>
                <a:gridCol w="96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718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6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36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752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7772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Level1</a:t>
                      </a:r>
                      <a:endParaRPr kumimoji="0" lang="en-US" altLang="ko-KR" sz="1000" b="1" i="0" u="none" strike="noStrike" cap="none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주류 유통 관리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Level2</a:t>
                      </a:r>
                      <a:endParaRPr kumimoji="0" lang="en-US" altLang="ko-KR" sz="1000" b="1" i="0" u="none" strike="noStrike" cap="none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0" fontAlgn="auto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일반 회원 화면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5151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</a:t>
                      </a:r>
                      <a:r>
                        <a:rPr kumimoji="0" lang="en-US" altLang="ko-KR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ID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latinLnBrk="1" hangingPunct="1">
                        <a:lnSpc>
                          <a:spcPct val="104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Font typeface="Wingdings"/>
                        <a:buNone/>
                        <a:defRPr/>
                      </a:pPr>
                      <a:r>
                        <a:rPr kumimoji="1" lang="en-US" altLang="ko-KR" sz="10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UI_PD4_014</a:t>
                      </a:r>
                      <a:endParaRPr kumimoji="1" lang="en-US" altLang="ko-KR" sz="1000" b="0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주문서 작성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4756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화면개요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주문서 작성 페이지이다</a:t>
                      </a:r>
                      <a:r>
                        <a:rPr kumimoji="0" lang="en-US" altLang="ko-KR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  <a:endParaRPr kumimoji="0" lang="ko-KR" altLang="en-US" sz="1000" b="0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811">
                <a:tc rowSpan="2"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설명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31132">
                <a:tc gridSpan="4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marL="266700" marR="0" lvl="0" indent="-2667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-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4" name="직사각형 43"/>
          <p:cNvSpPr/>
          <p:nvPr/>
        </p:nvSpPr>
        <p:spPr>
          <a:xfrm>
            <a:off x="383254" y="1883536"/>
            <a:ext cx="1628911" cy="30777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>
                <a:solidFill>
                  <a:schemeClr val="tx1"/>
                </a:solidFill>
                <a:latin typeface="나눔바른고딕"/>
                <a:ea typeface="나눔바른고딕"/>
              </a:rPr>
              <a:t>주문서 작성</a:t>
            </a:r>
          </a:p>
        </p:txBody>
      </p:sp>
      <p:grpSp>
        <p:nvGrpSpPr>
          <p:cNvPr id="98" name="그룹 97"/>
          <p:cNvGrpSpPr/>
          <p:nvPr/>
        </p:nvGrpSpPr>
        <p:grpSpPr>
          <a:xfrm>
            <a:off x="288366" y="2207228"/>
            <a:ext cx="6595427" cy="2283839"/>
            <a:chOff x="301789" y="2382239"/>
            <a:chExt cx="6595427" cy="2283839"/>
          </a:xfrm>
        </p:grpSpPr>
        <p:sp>
          <p:nvSpPr>
            <p:cNvPr id="50" name="TextBox 49"/>
            <p:cNvSpPr txBox="1"/>
            <p:nvPr/>
          </p:nvSpPr>
          <p:spPr>
            <a:xfrm>
              <a:off x="348352" y="2382239"/>
              <a:ext cx="1076255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 sz="1400" b="1">
                  <a:latin typeface="나눔바른고딕"/>
                  <a:ea typeface="나눔바른고딕"/>
                </a:rPr>
                <a:t>주문자 정보</a:t>
              </a:r>
            </a:p>
          </p:txBody>
        </p:sp>
        <p:sp>
          <p:nvSpPr>
            <p:cNvPr id="52" name="직사각형 51"/>
            <p:cNvSpPr/>
            <p:nvPr/>
          </p:nvSpPr>
          <p:spPr>
            <a:xfrm>
              <a:off x="438544" y="2690015"/>
              <a:ext cx="6458672" cy="1976063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cxnSp>
          <p:nvCxnSpPr>
            <p:cNvPr id="54" name="직선 연결선 53"/>
            <p:cNvCxnSpPr/>
            <p:nvPr/>
          </p:nvCxnSpPr>
          <p:spPr>
            <a:xfrm>
              <a:off x="438544" y="2976384"/>
              <a:ext cx="6458672" cy="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</a:ln>
            <a:effectLst/>
          </p:spPr>
        </p:cxnSp>
        <p:sp>
          <p:nvSpPr>
            <p:cNvPr id="55" name="TextBox 54"/>
            <p:cNvSpPr txBox="1"/>
            <p:nvPr/>
          </p:nvSpPr>
          <p:spPr>
            <a:xfrm>
              <a:off x="315913" y="2692681"/>
              <a:ext cx="826161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성명</a:t>
              </a:r>
            </a:p>
          </p:txBody>
        </p:sp>
        <p:sp>
          <p:nvSpPr>
            <p:cNvPr id="56" name="직사각형 55"/>
            <p:cNvSpPr/>
            <p:nvPr/>
          </p:nvSpPr>
          <p:spPr>
            <a:xfrm>
              <a:off x="1064569" y="2692680"/>
              <a:ext cx="826162" cy="260967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sp>
          <p:nvSpPr>
            <p:cNvPr id="57" name="TextBox 56"/>
            <p:cNvSpPr txBox="1"/>
            <p:nvPr/>
          </p:nvSpPr>
          <p:spPr>
            <a:xfrm>
              <a:off x="301789" y="3255235"/>
              <a:ext cx="826161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주소</a:t>
              </a:r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1057873" y="2980778"/>
              <a:ext cx="1152128" cy="23758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sp>
          <p:nvSpPr>
            <p:cNvPr id="60" name="직사각형 59"/>
            <p:cNvSpPr/>
            <p:nvPr/>
          </p:nvSpPr>
          <p:spPr>
            <a:xfrm>
              <a:off x="1064568" y="3245179"/>
              <a:ext cx="1628911" cy="276999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sp>
          <p:nvSpPr>
            <p:cNvPr id="62" name="직사각형 61"/>
            <p:cNvSpPr/>
            <p:nvPr/>
          </p:nvSpPr>
          <p:spPr>
            <a:xfrm>
              <a:off x="1064568" y="3539752"/>
              <a:ext cx="1628911" cy="283703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sp>
          <p:nvSpPr>
            <p:cNvPr id="63" name="TextBox 62"/>
            <p:cNvSpPr txBox="1"/>
            <p:nvPr/>
          </p:nvSpPr>
          <p:spPr>
            <a:xfrm>
              <a:off x="315913" y="3823456"/>
              <a:ext cx="826161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유선전화</a:t>
              </a:r>
            </a:p>
          </p:txBody>
        </p:sp>
        <p:sp>
          <p:nvSpPr>
            <p:cNvPr id="64" name="직사각형 63"/>
            <p:cNvSpPr/>
            <p:nvPr/>
          </p:nvSpPr>
          <p:spPr>
            <a:xfrm>
              <a:off x="1064569" y="3823455"/>
              <a:ext cx="504056" cy="285428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sp>
          <p:nvSpPr>
            <p:cNvPr id="67" name="사각형: 둥근 모서리 66"/>
            <p:cNvSpPr/>
            <p:nvPr/>
          </p:nvSpPr>
          <p:spPr>
            <a:xfrm>
              <a:off x="2613708" y="2971248"/>
              <a:ext cx="899131" cy="274828"/>
            </a:xfrm>
            <a:prstGeom prst="roundRect">
              <a:avLst>
                <a:gd name="adj" fmla="val 16667"/>
              </a:avLst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</a:ln>
            <a:effectLst/>
          </p:spPr>
          <p:txBody>
            <a:bodyPr vert="horz" wrap="square" lIns="89999" tIns="46800" rIns="89999" bIns="46800" anchor="t" anchorCtr="0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latinLnBrk="0" hangingPunct="0">
                <a:lnSpc>
                  <a:spcPct val="100000"/>
                </a:lnSpc>
                <a:spcBef>
                  <a:spcPct val="25000"/>
                </a:spcBef>
                <a:spcAft>
                  <a:spcPct val="25000"/>
                </a:spcAft>
                <a:buClr>
                  <a:schemeClr val="bg1"/>
                </a:buClr>
                <a:buFont typeface="Wingdings"/>
                <a:buNone/>
                <a:defRPr/>
              </a:pPr>
              <a:r>
                <a:rPr kumimoji="0" lang="ko-KR" altLang="en-US" sz="1000" b="0" i="0" u="none" strike="noStrike" cap="none" normalizeH="0" baseline="0">
                  <a:solidFill>
                    <a:schemeClr val="tx1"/>
                  </a:solidFill>
                  <a:effectLst/>
                  <a:latin typeface="Arial"/>
                  <a:ea typeface="굴림"/>
                </a:rPr>
                <a:t>우편번호</a:t>
              </a:r>
              <a:endParaRPr kumimoji="0" lang="ko-KR" altLang="en-US" sz="1000" b="0" i="0" u="none" strike="noStrike" cap="none" normalizeH="0" baseline="0">
                <a:solidFill>
                  <a:schemeClr val="tx1"/>
                </a:solidFill>
                <a:latin typeface="Arial"/>
                <a:ea typeface="굴림"/>
              </a:endParaRPr>
            </a:p>
          </p:txBody>
        </p:sp>
        <p:sp>
          <p:nvSpPr>
            <p:cNvPr id="73" name="TextBox 72"/>
            <p:cNvSpPr txBox="1"/>
            <p:nvPr/>
          </p:nvSpPr>
          <p:spPr>
            <a:xfrm>
              <a:off x="2629744" y="3255235"/>
              <a:ext cx="86705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기본주소</a:t>
              </a:r>
            </a:p>
          </p:txBody>
        </p:sp>
        <p:sp>
          <p:nvSpPr>
            <p:cNvPr id="74" name="TextBox 73"/>
            <p:cNvSpPr txBox="1"/>
            <p:nvPr/>
          </p:nvSpPr>
          <p:spPr>
            <a:xfrm>
              <a:off x="2668575" y="3518178"/>
              <a:ext cx="86705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나머지주소</a:t>
              </a:r>
            </a:p>
          </p:txBody>
        </p:sp>
        <p:cxnSp>
          <p:nvCxnSpPr>
            <p:cNvPr id="75" name="직선 연결선 74"/>
            <p:cNvCxnSpPr/>
            <p:nvPr/>
          </p:nvCxnSpPr>
          <p:spPr>
            <a:xfrm>
              <a:off x="438544" y="3827241"/>
              <a:ext cx="6458672" cy="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</a:ln>
            <a:effectLst/>
          </p:spPr>
        </p:cxnSp>
        <p:cxnSp>
          <p:nvCxnSpPr>
            <p:cNvPr id="76" name="직선 연결선 75"/>
            <p:cNvCxnSpPr/>
            <p:nvPr/>
          </p:nvCxnSpPr>
          <p:spPr>
            <a:xfrm>
              <a:off x="438544" y="4100455"/>
              <a:ext cx="6458672" cy="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</a:ln>
            <a:effectLst/>
          </p:spPr>
        </p:cxnSp>
        <p:sp>
          <p:nvSpPr>
            <p:cNvPr id="77" name="TextBox 76"/>
            <p:cNvSpPr txBox="1"/>
            <p:nvPr/>
          </p:nvSpPr>
          <p:spPr>
            <a:xfrm>
              <a:off x="315913" y="4096932"/>
              <a:ext cx="826161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휴대전화</a:t>
              </a:r>
            </a:p>
          </p:txBody>
        </p:sp>
        <p:sp>
          <p:nvSpPr>
            <p:cNvPr id="78" name="직사각형 77"/>
            <p:cNvSpPr/>
            <p:nvPr/>
          </p:nvSpPr>
          <p:spPr>
            <a:xfrm>
              <a:off x="1779619" y="3841029"/>
              <a:ext cx="504056" cy="260341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sp>
          <p:nvSpPr>
            <p:cNvPr id="79" name="TextBox 78"/>
            <p:cNvSpPr txBox="1"/>
            <p:nvPr/>
          </p:nvSpPr>
          <p:spPr>
            <a:xfrm>
              <a:off x="315913" y="4382376"/>
              <a:ext cx="826161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en-US" altLang="ko-KR">
                  <a:latin typeface="나눔바른고딕"/>
                  <a:ea typeface="나눔바른고딕"/>
                </a:rPr>
                <a:t>E-mail</a:t>
              </a:r>
              <a:endParaRPr lang="ko-KR" altLang="en-US">
                <a:latin typeface="나눔바른고딕"/>
                <a:ea typeface="나눔바른고딕"/>
              </a:endParaRPr>
            </a:p>
          </p:txBody>
        </p:sp>
        <p:sp>
          <p:nvSpPr>
            <p:cNvPr id="80" name="직사각형 79"/>
            <p:cNvSpPr/>
            <p:nvPr/>
          </p:nvSpPr>
          <p:spPr>
            <a:xfrm>
              <a:off x="1064569" y="4382376"/>
              <a:ext cx="1145432" cy="283702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cxnSp>
          <p:nvCxnSpPr>
            <p:cNvPr id="81" name="직선 연결선 80"/>
            <p:cNvCxnSpPr/>
            <p:nvPr/>
          </p:nvCxnSpPr>
          <p:spPr>
            <a:xfrm>
              <a:off x="438544" y="4382376"/>
              <a:ext cx="6458672" cy="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</a:ln>
            <a:effectLst/>
          </p:spPr>
        </p:cxnSp>
        <p:sp>
          <p:nvSpPr>
            <p:cNvPr id="83" name="TextBox 82"/>
            <p:cNvSpPr txBox="1"/>
            <p:nvPr/>
          </p:nvSpPr>
          <p:spPr>
            <a:xfrm>
              <a:off x="2109578" y="4373931"/>
              <a:ext cx="504056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en-US" altLang="ko-KR">
                  <a:latin typeface="나눔바른고딕"/>
                  <a:ea typeface="나눔바른고딕"/>
                </a:rPr>
                <a:t>@</a:t>
              </a:r>
              <a:endParaRPr lang="ko-KR" altLang="en-US">
                <a:latin typeface="나눔바른고딕"/>
                <a:ea typeface="나눔바른고딕"/>
              </a:endParaRPr>
            </a:p>
          </p:txBody>
        </p:sp>
        <p:sp>
          <p:nvSpPr>
            <p:cNvPr id="84" name="직사각형 83"/>
            <p:cNvSpPr/>
            <p:nvPr/>
          </p:nvSpPr>
          <p:spPr>
            <a:xfrm>
              <a:off x="2490557" y="4382376"/>
              <a:ext cx="1145432" cy="283702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sp>
          <p:nvSpPr>
            <p:cNvPr id="85" name="사각형: 둥근 모서리 84"/>
            <p:cNvSpPr/>
            <p:nvPr/>
          </p:nvSpPr>
          <p:spPr>
            <a:xfrm>
              <a:off x="3758373" y="4400146"/>
              <a:ext cx="978603" cy="240068"/>
            </a:xfrm>
            <a:prstGeom prst="roundRect">
              <a:avLst>
                <a:gd name="adj" fmla="val 16667"/>
              </a:avLst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</a:ln>
            <a:effectLst/>
          </p:spPr>
          <p:txBody>
            <a:bodyPr vert="horz" wrap="square" lIns="89999" tIns="46800" rIns="89999" bIns="46800" anchor="t" anchorCtr="0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latinLnBrk="0" hangingPunct="0">
                <a:lnSpc>
                  <a:spcPct val="100000"/>
                </a:lnSpc>
                <a:spcBef>
                  <a:spcPct val="25000"/>
                </a:spcBef>
                <a:spcAft>
                  <a:spcPct val="25000"/>
                </a:spcAft>
                <a:buClr>
                  <a:schemeClr val="bg1"/>
                </a:buClr>
                <a:buFont typeface="Wingdings"/>
                <a:buNone/>
                <a:defRPr/>
              </a:pPr>
              <a:endParaRPr kumimoji="0" lang="ko-KR" altLang="en-US" sz="1200" b="0" i="0" u="none" strike="noStrike" cap="none" normalizeH="0" baseline="0">
                <a:solidFill>
                  <a:schemeClr val="tx1"/>
                </a:solidFill>
                <a:effectLst/>
                <a:latin typeface="Arial"/>
                <a:ea typeface="굴림"/>
              </a:endParaRPr>
            </a:p>
          </p:txBody>
        </p:sp>
        <p:sp>
          <p:nvSpPr>
            <p:cNvPr id="86" name="순서도: 병합 85"/>
            <p:cNvSpPr/>
            <p:nvPr/>
          </p:nvSpPr>
          <p:spPr>
            <a:xfrm>
              <a:off x="4558670" y="4474830"/>
              <a:ext cx="144016" cy="108234"/>
            </a:xfrm>
            <a:prstGeom prst="flowChartMerge">
              <a:avLst/>
            </a:prstGeom>
            <a:solidFill>
              <a:schemeClr val="tx1"/>
            </a:solidFill>
            <a:ln w="9525" cap="flat" cmpd="sng" algn="ctr">
              <a:solidFill>
                <a:schemeClr val="tx1"/>
              </a:solidFill>
              <a:prstDash val="solid"/>
              <a:round/>
            </a:ln>
            <a:effectLst/>
          </p:spPr>
          <p:txBody>
            <a:bodyPr vert="horz" wrap="none" lIns="89999" tIns="46800" rIns="89999" bIns="46800" anchor="t" anchorCtr="0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latinLnBrk="0" hangingPunct="0">
                <a:lnSpc>
                  <a:spcPct val="100000"/>
                </a:lnSpc>
                <a:spcBef>
                  <a:spcPct val="25000"/>
                </a:spcBef>
                <a:spcAft>
                  <a:spcPct val="25000"/>
                </a:spcAft>
                <a:buClr>
                  <a:schemeClr val="bg1"/>
                </a:buClr>
                <a:buFont typeface="Wingdings"/>
                <a:buNone/>
                <a:defRPr/>
              </a:pPr>
              <a:endParaRPr kumimoji="0" lang="ko-KR" altLang="en-US" sz="1200" b="0" i="0" u="none" strike="noStrike" cap="none" normalizeH="0" baseline="0">
                <a:solidFill>
                  <a:schemeClr val="tx1"/>
                </a:solidFill>
                <a:effectLst/>
                <a:latin typeface="Arial"/>
                <a:ea typeface="굴림"/>
              </a:endParaRPr>
            </a:p>
          </p:txBody>
        </p:sp>
        <p:sp>
          <p:nvSpPr>
            <p:cNvPr id="89" name="TextBox 88"/>
            <p:cNvSpPr txBox="1"/>
            <p:nvPr/>
          </p:nvSpPr>
          <p:spPr>
            <a:xfrm>
              <a:off x="2283675" y="2973997"/>
              <a:ext cx="217455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en-US" altLang="ko-KR">
                  <a:latin typeface="나눔바른고딕"/>
                  <a:ea typeface="나눔바른고딕"/>
                </a:rPr>
                <a:t>-</a:t>
              </a:r>
              <a:endParaRPr lang="ko-KR" altLang="en-US">
                <a:latin typeface="나눔바른고딕"/>
                <a:ea typeface="나눔바른고딕"/>
              </a:endParaRPr>
            </a:p>
          </p:txBody>
        </p:sp>
        <p:sp>
          <p:nvSpPr>
            <p:cNvPr id="90" name="TextBox 89"/>
            <p:cNvSpPr txBox="1"/>
            <p:nvPr/>
          </p:nvSpPr>
          <p:spPr>
            <a:xfrm>
              <a:off x="1568868" y="3836824"/>
              <a:ext cx="217455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en-US" altLang="ko-KR">
                  <a:latin typeface="나눔바른고딕"/>
                  <a:ea typeface="나눔바른고딕"/>
                </a:rPr>
                <a:t>-</a:t>
              </a:r>
              <a:endParaRPr lang="ko-KR" altLang="en-US">
                <a:latin typeface="나눔바른고딕"/>
                <a:ea typeface="나눔바른고딕"/>
              </a:endParaRPr>
            </a:p>
          </p:txBody>
        </p:sp>
        <p:sp>
          <p:nvSpPr>
            <p:cNvPr id="91" name="TextBox 90"/>
            <p:cNvSpPr txBox="1"/>
            <p:nvPr/>
          </p:nvSpPr>
          <p:spPr>
            <a:xfrm>
              <a:off x="2297799" y="3836824"/>
              <a:ext cx="217455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en-US" altLang="ko-KR">
                  <a:latin typeface="나눔바른고딕"/>
                  <a:ea typeface="나눔바른고딕"/>
                </a:rPr>
                <a:t>-</a:t>
              </a:r>
              <a:endParaRPr lang="ko-KR" altLang="en-US">
                <a:latin typeface="나눔바른고딕"/>
                <a:ea typeface="나눔바른고딕"/>
              </a:endParaRPr>
            </a:p>
          </p:txBody>
        </p:sp>
        <p:sp>
          <p:nvSpPr>
            <p:cNvPr id="92" name="직사각형 91"/>
            <p:cNvSpPr/>
            <p:nvPr/>
          </p:nvSpPr>
          <p:spPr>
            <a:xfrm>
              <a:off x="2503829" y="3841029"/>
              <a:ext cx="504056" cy="260341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sp>
          <p:nvSpPr>
            <p:cNvPr id="93" name="직사각형 92"/>
            <p:cNvSpPr/>
            <p:nvPr/>
          </p:nvSpPr>
          <p:spPr>
            <a:xfrm>
              <a:off x="1064569" y="4097022"/>
              <a:ext cx="504056" cy="285428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sp>
          <p:nvSpPr>
            <p:cNvPr id="94" name="직사각형 93"/>
            <p:cNvSpPr/>
            <p:nvPr/>
          </p:nvSpPr>
          <p:spPr>
            <a:xfrm>
              <a:off x="1779619" y="4114596"/>
              <a:ext cx="504056" cy="260341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sp>
          <p:nvSpPr>
            <p:cNvPr id="95" name="TextBox 94"/>
            <p:cNvSpPr txBox="1"/>
            <p:nvPr/>
          </p:nvSpPr>
          <p:spPr>
            <a:xfrm>
              <a:off x="1568868" y="4110391"/>
              <a:ext cx="217455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en-US" altLang="ko-KR">
                  <a:latin typeface="나눔바른고딕"/>
                  <a:ea typeface="나눔바른고딕"/>
                </a:rPr>
                <a:t>-</a:t>
              </a:r>
              <a:endParaRPr lang="ko-KR" altLang="en-US">
                <a:latin typeface="나눔바른고딕"/>
                <a:ea typeface="나눔바른고딕"/>
              </a:endParaRPr>
            </a:p>
          </p:txBody>
        </p:sp>
        <p:sp>
          <p:nvSpPr>
            <p:cNvPr id="96" name="TextBox 95"/>
            <p:cNvSpPr txBox="1"/>
            <p:nvPr/>
          </p:nvSpPr>
          <p:spPr>
            <a:xfrm>
              <a:off x="2297799" y="4110391"/>
              <a:ext cx="217455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en-US" altLang="ko-KR">
                  <a:latin typeface="나눔바른고딕"/>
                  <a:ea typeface="나눔바른고딕"/>
                </a:rPr>
                <a:t>-</a:t>
              </a:r>
              <a:endParaRPr lang="ko-KR" altLang="en-US">
                <a:latin typeface="나눔바른고딕"/>
                <a:ea typeface="나눔바른고딕"/>
              </a:endParaRPr>
            </a:p>
          </p:txBody>
        </p:sp>
        <p:sp>
          <p:nvSpPr>
            <p:cNvPr id="97" name="직사각형 96"/>
            <p:cNvSpPr/>
            <p:nvPr/>
          </p:nvSpPr>
          <p:spPr>
            <a:xfrm>
              <a:off x="2503829" y="4114596"/>
              <a:ext cx="504056" cy="260341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</p:grpSp>
      <p:grpSp>
        <p:nvGrpSpPr>
          <p:cNvPr id="99" name="그룹 98"/>
          <p:cNvGrpSpPr/>
          <p:nvPr/>
        </p:nvGrpSpPr>
        <p:grpSpPr>
          <a:xfrm>
            <a:off x="232685" y="4553393"/>
            <a:ext cx="6595427" cy="2008047"/>
            <a:chOff x="301789" y="2382239"/>
            <a:chExt cx="6595427" cy="2008047"/>
          </a:xfrm>
        </p:grpSpPr>
        <p:sp>
          <p:nvSpPr>
            <p:cNvPr id="100" name="TextBox 99"/>
            <p:cNvSpPr txBox="1"/>
            <p:nvPr/>
          </p:nvSpPr>
          <p:spPr>
            <a:xfrm>
              <a:off x="348352" y="2382239"/>
              <a:ext cx="1076255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 sz="1400" b="1">
                  <a:latin typeface="나눔바른고딕"/>
                  <a:ea typeface="나눔바른고딕"/>
                </a:rPr>
                <a:t>배송지 정보</a:t>
              </a:r>
            </a:p>
          </p:txBody>
        </p:sp>
        <p:sp>
          <p:nvSpPr>
            <p:cNvPr id="101" name="직사각형 100"/>
            <p:cNvSpPr/>
            <p:nvPr/>
          </p:nvSpPr>
          <p:spPr>
            <a:xfrm>
              <a:off x="438544" y="2690015"/>
              <a:ext cx="6458672" cy="1700271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cxnSp>
          <p:nvCxnSpPr>
            <p:cNvPr id="102" name="직선 연결선 101"/>
            <p:cNvCxnSpPr/>
            <p:nvPr/>
          </p:nvCxnSpPr>
          <p:spPr>
            <a:xfrm>
              <a:off x="438544" y="2976384"/>
              <a:ext cx="6458672" cy="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</a:ln>
            <a:effectLst/>
          </p:spPr>
        </p:cxnSp>
        <p:sp>
          <p:nvSpPr>
            <p:cNvPr id="103" name="TextBox 102"/>
            <p:cNvSpPr txBox="1"/>
            <p:nvPr/>
          </p:nvSpPr>
          <p:spPr>
            <a:xfrm>
              <a:off x="315913" y="2692681"/>
              <a:ext cx="826161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성명</a:t>
              </a:r>
            </a:p>
          </p:txBody>
        </p:sp>
        <p:sp>
          <p:nvSpPr>
            <p:cNvPr id="104" name="직사각형 103"/>
            <p:cNvSpPr/>
            <p:nvPr/>
          </p:nvSpPr>
          <p:spPr>
            <a:xfrm>
              <a:off x="1064569" y="2692680"/>
              <a:ext cx="826162" cy="260967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301789" y="3255235"/>
              <a:ext cx="826161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주소</a:t>
              </a:r>
            </a:p>
          </p:txBody>
        </p:sp>
        <p:sp>
          <p:nvSpPr>
            <p:cNvPr id="106" name="직사각형 105"/>
            <p:cNvSpPr/>
            <p:nvPr/>
          </p:nvSpPr>
          <p:spPr>
            <a:xfrm>
              <a:off x="1057873" y="2980778"/>
              <a:ext cx="1152128" cy="237580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sp>
          <p:nvSpPr>
            <p:cNvPr id="107" name="직사각형 106"/>
            <p:cNvSpPr/>
            <p:nvPr/>
          </p:nvSpPr>
          <p:spPr>
            <a:xfrm>
              <a:off x="1064568" y="3245179"/>
              <a:ext cx="1628911" cy="276999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sp>
          <p:nvSpPr>
            <p:cNvPr id="108" name="직사각형 107"/>
            <p:cNvSpPr/>
            <p:nvPr/>
          </p:nvSpPr>
          <p:spPr>
            <a:xfrm>
              <a:off x="1064568" y="3539752"/>
              <a:ext cx="1628911" cy="283703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sp>
          <p:nvSpPr>
            <p:cNvPr id="109" name="TextBox 108"/>
            <p:cNvSpPr txBox="1"/>
            <p:nvPr/>
          </p:nvSpPr>
          <p:spPr>
            <a:xfrm>
              <a:off x="315913" y="3823456"/>
              <a:ext cx="826161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유선전화</a:t>
              </a:r>
            </a:p>
          </p:txBody>
        </p:sp>
        <p:sp>
          <p:nvSpPr>
            <p:cNvPr id="110" name="직사각형 109"/>
            <p:cNvSpPr/>
            <p:nvPr/>
          </p:nvSpPr>
          <p:spPr>
            <a:xfrm>
              <a:off x="1064569" y="3823455"/>
              <a:ext cx="504056" cy="285428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sp>
          <p:nvSpPr>
            <p:cNvPr id="111" name="사각형: 둥근 모서리 110"/>
            <p:cNvSpPr/>
            <p:nvPr/>
          </p:nvSpPr>
          <p:spPr>
            <a:xfrm>
              <a:off x="2613708" y="2971248"/>
              <a:ext cx="899131" cy="274828"/>
            </a:xfrm>
            <a:prstGeom prst="roundRect">
              <a:avLst>
                <a:gd name="adj" fmla="val 16667"/>
              </a:avLst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</a:ln>
            <a:effectLst/>
          </p:spPr>
          <p:txBody>
            <a:bodyPr vert="horz" wrap="square" lIns="89999" tIns="46800" rIns="89999" bIns="46800" anchor="t" anchorCtr="0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latinLnBrk="0" hangingPunct="0">
                <a:lnSpc>
                  <a:spcPct val="100000"/>
                </a:lnSpc>
                <a:spcBef>
                  <a:spcPct val="25000"/>
                </a:spcBef>
                <a:spcAft>
                  <a:spcPct val="25000"/>
                </a:spcAft>
                <a:buClr>
                  <a:schemeClr val="bg1"/>
                </a:buClr>
                <a:buFont typeface="Wingdings"/>
                <a:buNone/>
                <a:defRPr/>
              </a:pPr>
              <a:r>
                <a:rPr kumimoji="0" lang="ko-KR" altLang="en-US" sz="1000" b="0" i="0" u="none" strike="noStrike" cap="none" normalizeH="0" baseline="0">
                  <a:solidFill>
                    <a:schemeClr val="tx1"/>
                  </a:solidFill>
                  <a:effectLst/>
                  <a:latin typeface="Arial"/>
                  <a:ea typeface="굴림"/>
                </a:rPr>
                <a:t>우편번호</a:t>
              </a:r>
              <a:endParaRPr kumimoji="0" lang="ko-KR" altLang="en-US" sz="1000" b="0" i="0" u="none" strike="noStrike" cap="none" normalizeH="0" baseline="0">
                <a:solidFill>
                  <a:schemeClr val="tx1"/>
                </a:solidFill>
                <a:latin typeface="Arial"/>
                <a:ea typeface="굴림"/>
              </a:endParaRPr>
            </a:p>
          </p:txBody>
        </p:sp>
        <p:sp>
          <p:nvSpPr>
            <p:cNvPr id="112" name="TextBox 111"/>
            <p:cNvSpPr txBox="1"/>
            <p:nvPr/>
          </p:nvSpPr>
          <p:spPr>
            <a:xfrm>
              <a:off x="2629744" y="3255235"/>
              <a:ext cx="86705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기본주소</a:t>
              </a:r>
            </a:p>
          </p:txBody>
        </p:sp>
        <p:sp>
          <p:nvSpPr>
            <p:cNvPr id="113" name="TextBox 112"/>
            <p:cNvSpPr txBox="1"/>
            <p:nvPr/>
          </p:nvSpPr>
          <p:spPr>
            <a:xfrm>
              <a:off x="2668575" y="3518178"/>
              <a:ext cx="86705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나머지주소</a:t>
              </a:r>
            </a:p>
          </p:txBody>
        </p:sp>
        <p:cxnSp>
          <p:nvCxnSpPr>
            <p:cNvPr id="114" name="직선 연결선 113"/>
            <p:cNvCxnSpPr/>
            <p:nvPr/>
          </p:nvCxnSpPr>
          <p:spPr>
            <a:xfrm>
              <a:off x="438544" y="3827241"/>
              <a:ext cx="6458672" cy="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</a:ln>
            <a:effectLst/>
          </p:spPr>
        </p:cxnSp>
        <p:cxnSp>
          <p:nvCxnSpPr>
            <p:cNvPr id="115" name="직선 연결선 114"/>
            <p:cNvCxnSpPr/>
            <p:nvPr/>
          </p:nvCxnSpPr>
          <p:spPr>
            <a:xfrm>
              <a:off x="438544" y="4100455"/>
              <a:ext cx="6458672" cy="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</a:ln>
            <a:effectLst/>
          </p:spPr>
        </p:cxnSp>
        <p:sp>
          <p:nvSpPr>
            <p:cNvPr id="116" name="TextBox 115"/>
            <p:cNvSpPr txBox="1"/>
            <p:nvPr/>
          </p:nvSpPr>
          <p:spPr>
            <a:xfrm>
              <a:off x="315913" y="4096932"/>
              <a:ext cx="826161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휴대전화</a:t>
              </a:r>
            </a:p>
          </p:txBody>
        </p:sp>
        <p:sp>
          <p:nvSpPr>
            <p:cNvPr id="117" name="직사각형 116"/>
            <p:cNvSpPr/>
            <p:nvPr/>
          </p:nvSpPr>
          <p:spPr>
            <a:xfrm>
              <a:off x="1779619" y="3841029"/>
              <a:ext cx="504056" cy="260341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cxnSp>
          <p:nvCxnSpPr>
            <p:cNvPr id="120" name="직선 연결선 119"/>
            <p:cNvCxnSpPr/>
            <p:nvPr/>
          </p:nvCxnSpPr>
          <p:spPr>
            <a:xfrm>
              <a:off x="438544" y="4382376"/>
              <a:ext cx="6458672" cy="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</a:ln>
            <a:effectLst/>
          </p:spPr>
        </p:cxnSp>
        <p:sp>
          <p:nvSpPr>
            <p:cNvPr id="125" name="TextBox 124"/>
            <p:cNvSpPr txBox="1"/>
            <p:nvPr/>
          </p:nvSpPr>
          <p:spPr>
            <a:xfrm>
              <a:off x="2283675" y="2973997"/>
              <a:ext cx="217455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en-US" altLang="ko-KR">
                  <a:latin typeface="나눔바른고딕"/>
                  <a:ea typeface="나눔바른고딕"/>
                </a:rPr>
                <a:t>-</a:t>
              </a:r>
              <a:endParaRPr lang="ko-KR" altLang="en-US">
                <a:latin typeface="나눔바른고딕"/>
                <a:ea typeface="나눔바른고딕"/>
              </a:endParaRPr>
            </a:p>
          </p:txBody>
        </p:sp>
        <p:sp>
          <p:nvSpPr>
            <p:cNvPr id="126" name="TextBox 125"/>
            <p:cNvSpPr txBox="1"/>
            <p:nvPr/>
          </p:nvSpPr>
          <p:spPr>
            <a:xfrm>
              <a:off x="1568868" y="3836824"/>
              <a:ext cx="217455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en-US" altLang="ko-KR">
                  <a:latin typeface="나눔바른고딕"/>
                  <a:ea typeface="나눔바른고딕"/>
                </a:rPr>
                <a:t>-</a:t>
              </a:r>
              <a:endParaRPr lang="ko-KR" altLang="en-US">
                <a:latin typeface="나눔바른고딕"/>
                <a:ea typeface="나눔바른고딕"/>
              </a:endParaRPr>
            </a:p>
          </p:txBody>
        </p:sp>
        <p:sp>
          <p:nvSpPr>
            <p:cNvPr id="127" name="TextBox 126"/>
            <p:cNvSpPr txBox="1"/>
            <p:nvPr/>
          </p:nvSpPr>
          <p:spPr>
            <a:xfrm>
              <a:off x="2297799" y="3836824"/>
              <a:ext cx="217455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en-US" altLang="ko-KR">
                  <a:latin typeface="나눔바른고딕"/>
                  <a:ea typeface="나눔바른고딕"/>
                </a:rPr>
                <a:t>-</a:t>
              </a:r>
              <a:endParaRPr lang="ko-KR" altLang="en-US">
                <a:latin typeface="나눔바른고딕"/>
                <a:ea typeface="나눔바른고딕"/>
              </a:endParaRPr>
            </a:p>
          </p:txBody>
        </p:sp>
        <p:sp>
          <p:nvSpPr>
            <p:cNvPr id="128" name="직사각형 127"/>
            <p:cNvSpPr/>
            <p:nvPr/>
          </p:nvSpPr>
          <p:spPr>
            <a:xfrm>
              <a:off x="2503829" y="3841029"/>
              <a:ext cx="504056" cy="260341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sp>
          <p:nvSpPr>
            <p:cNvPr id="129" name="직사각형 128"/>
            <p:cNvSpPr/>
            <p:nvPr/>
          </p:nvSpPr>
          <p:spPr>
            <a:xfrm>
              <a:off x="1064569" y="4097022"/>
              <a:ext cx="504056" cy="285428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sp>
          <p:nvSpPr>
            <p:cNvPr id="130" name="직사각형 129"/>
            <p:cNvSpPr/>
            <p:nvPr/>
          </p:nvSpPr>
          <p:spPr>
            <a:xfrm>
              <a:off x="1779619" y="4114596"/>
              <a:ext cx="504056" cy="260341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sp>
          <p:nvSpPr>
            <p:cNvPr id="131" name="TextBox 130"/>
            <p:cNvSpPr txBox="1"/>
            <p:nvPr/>
          </p:nvSpPr>
          <p:spPr>
            <a:xfrm>
              <a:off x="1568868" y="4110391"/>
              <a:ext cx="217455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en-US" altLang="ko-KR">
                  <a:latin typeface="나눔바른고딕"/>
                  <a:ea typeface="나눔바른고딕"/>
                </a:rPr>
                <a:t>-</a:t>
              </a:r>
              <a:endParaRPr lang="ko-KR" altLang="en-US">
                <a:latin typeface="나눔바른고딕"/>
                <a:ea typeface="나눔바른고딕"/>
              </a:endParaRPr>
            </a:p>
          </p:txBody>
        </p:sp>
        <p:sp>
          <p:nvSpPr>
            <p:cNvPr id="132" name="TextBox 131"/>
            <p:cNvSpPr txBox="1"/>
            <p:nvPr/>
          </p:nvSpPr>
          <p:spPr>
            <a:xfrm>
              <a:off x="2297799" y="4110391"/>
              <a:ext cx="217455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en-US" altLang="ko-KR">
                  <a:latin typeface="나눔바른고딕"/>
                  <a:ea typeface="나눔바른고딕"/>
                </a:rPr>
                <a:t>-</a:t>
              </a:r>
              <a:endParaRPr lang="ko-KR" altLang="en-US">
                <a:latin typeface="나눔바른고딕"/>
                <a:ea typeface="나눔바른고딕"/>
              </a:endParaRPr>
            </a:p>
          </p:txBody>
        </p:sp>
        <p:sp>
          <p:nvSpPr>
            <p:cNvPr id="133" name="직사각형 132"/>
            <p:cNvSpPr/>
            <p:nvPr/>
          </p:nvSpPr>
          <p:spPr>
            <a:xfrm>
              <a:off x="2503829" y="4114596"/>
              <a:ext cx="504056" cy="260341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</p:grpSp>
      <p:sp>
        <p:nvSpPr>
          <p:cNvPr id="71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1.2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ko-KR" altLang="en-US" sz="1800" b="1" i="0" u="none" strike="noStrike" kern="0" cap="none" spc="0" normalizeH="0" baseline="0" dirty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일반 회원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28</a:t>
            </a:fld>
            <a:r>
              <a:rPr lang="en-US" altLang="ko-KR"/>
              <a:t> -</a:t>
            </a:r>
          </a:p>
        </p:txBody>
      </p:sp>
      <p:graphicFrame>
        <p:nvGraphicFramePr>
          <p:cNvPr id="3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54314791"/>
              </p:ext>
            </p:extLst>
          </p:nvPr>
        </p:nvGraphicFramePr>
        <p:xfrm>
          <a:off x="560511" y="1052738"/>
          <a:ext cx="8930573" cy="5499987"/>
        </p:xfrm>
        <a:graphic>
          <a:graphicData uri="http://schemas.openxmlformats.org/drawingml/2006/table">
            <a:tbl>
              <a:tblPr/>
              <a:tblGrid>
                <a:gridCol w="9964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24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10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10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684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2108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87221"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alt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I/</a:t>
                      </a: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O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한글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영문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필수여부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I/O </a:t>
                      </a: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유형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초기값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I/O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회원이름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memberName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Param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I/O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회원주소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memberAddr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Param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I/O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전화번호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tel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Param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I/O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회원이메일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memberMail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Param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I/O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배송이름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postName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Param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I/O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배송주소</a:t>
                      </a: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 dirty="0" err="1" smtClean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postAddr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Param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I/O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전화번호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tel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N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Param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70058"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 dirty="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8"/>
                  </a:ext>
                </a:extLst>
              </a:tr>
            </a:tbl>
          </a:graphicData>
        </a:graphic>
      </p:graphicFrame>
      <p:sp>
        <p:nvSpPr>
          <p:cNvPr id="5" name="직사각형 6"/>
          <p:cNvSpPr/>
          <p:nvPr/>
        </p:nvSpPr>
        <p:spPr>
          <a:xfrm>
            <a:off x="425987" y="703729"/>
            <a:ext cx="138691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b="1">
                <a:latin typeface="맑은 고딕"/>
                <a:ea typeface="맑은 고딕"/>
              </a:rPr>
              <a:t>* </a:t>
            </a:r>
            <a:r>
              <a:rPr lang="ko-KR" altLang="ko-KR" b="1">
                <a:latin typeface="맑은 고딕"/>
                <a:ea typeface="맑은 고딕"/>
              </a:rPr>
              <a:t>화면입출력정보</a:t>
            </a:r>
          </a:p>
        </p:txBody>
      </p:sp>
      <p:sp>
        <p:nvSpPr>
          <p:cNvPr id="9" name="Rectangle 3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2pPr>
            <a:lvl3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3pPr>
            <a:lvl4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4pPr>
            <a:lvl5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sp>
        <p:nvSpPr>
          <p:cNvPr id="7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1.2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ko-KR" altLang="en-US" sz="1800" b="1" i="0" u="none" strike="noStrike" kern="0" cap="none" spc="0" normalizeH="0" baseline="0" dirty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일반 회원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340503034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xfrm>
            <a:off x="3872880" y="6671742"/>
            <a:ext cx="2063750" cy="213642"/>
          </a:xfrm>
        </p:spPr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29</a:t>
            </a:fld>
            <a:r>
              <a:rPr lang="en-US" altLang="ko-KR"/>
              <a:t> -</a:t>
            </a:r>
          </a:p>
        </p:txBody>
      </p:sp>
      <p:sp>
        <p:nvSpPr>
          <p:cNvPr id="3" name="Rectangle 94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graphicFrame>
        <p:nvGraphicFramePr>
          <p:cNvPr id="5" name="Group 3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93185817"/>
              </p:ext>
            </p:extLst>
          </p:nvPr>
        </p:nvGraphicFramePr>
        <p:xfrm>
          <a:off x="315913" y="820944"/>
          <a:ext cx="9272587" cy="5924596"/>
        </p:xfrm>
        <a:graphic>
          <a:graphicData uri="http://schemas.openxmlformats.org/drawingml/2006/table">
            <a:tbl>
              <a:tblPr/>
              <a:tblGrid>
                <a:gridCol w="96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718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6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36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752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7772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Level1</a:t>
                      </a:r>
                      <a:endParaRPr kumimoji="0" lang="en-US" altLang="ko-KR" sz="1000" b="1" i="0" u="none" strike="noStrike" cap="none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>
                        <a:defRPr/>
                      </a:pP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돋움"/>
                          <a:ea typeface="+mn-ea"/>
                          <a:cs typeface="+mn-cs"/>
                        </a:rPr>
                        <a:t>주류 유통 관리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돋움"/>
                        <a:ea typeface="+mn-ea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Level2</a:t>
                      </a:r>
                      <a:endParaRPr kumimoji="0" lang="en-US" altLang="ko-KR" sz="1000" b="1" i="0" u="none" strike="noStrike" cap="none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0" fontAlgn="auto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일반 회원 화면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5151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</a:t>
                      </a:r>
                      <a:r>
                        <a:rPr kumimoji="0" lang="en-US" altLang="ko-KR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ID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latinLnBrk="1" hangingPunct="1">
                        <a:lnSpc>
                          <a:spcPct val="104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Font typeface="Wingdings"/>
                        <a:buNone/>
                        <a:defRPr/>
                      </a:pPr>
                      <a:r>
                        <a:rPr kumimoji="1" lang="en-US" altLang="ko-KR" sz="10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UI_PD4_015</a:t>
                      </a:r>
                      <a:endParaRPr kumimoji="1" lang="en-US" altLang="ko-KR" sz="1000" b="0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algn="l" defTabSz="914400" rtl="0" eaLnBrk="1" latinLnBrk="1" hangingPunct="1">
                        <a:defRPr/>
                      </a:pP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돋움"/>
                          <a:ea typeface="+mn-ea"/>
                          <a:cs typeface="+mn-cs"/>
                        </a:rPr>
                        <a:t>결제 정보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돋움"/>
                        <a:ea typeface="+mn-ea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2730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화면개요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0" i="0" u="none" strike="noStrike" cap="none" normalizeH="0" baseline="0" dirty="0" smtClean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결제정보 입력 화면이다</a:t>
                      </a:r>
                      <a:r>
                        <a:rPr kumimoji="0" lang="en-US" altLang="ko-KR" sz="1000" b="0" i="0" u="none" strike="noStrike" cap="none" normalizeH="0" baseline="0" dirty="0" smtClean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  <a:endParaRPr kumimoji="0" lang="ko-KR" altLang="en-US" sz="1000" b="0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811">
                <a:tc rowSpan="2"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설명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31132">
                <a:tc gridSpan="4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marL="266700" marR="0" lvl="0" indent="-2667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66700" marR="0" lvl="0" indent="-2667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카드 결제일 경우 등록된 카드로 결제가 진행된다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66700" marR="0" lvl="0" indent="-2667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무통장 입금일 경우 결제 방식 선택 화면이 생기고 입금자명과 입금 은행을 선택할 수 있다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66700" marR="0" lvl="0" indent="-2667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결제가 완료되면 결제완료 페이지로 넘어가게 된다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  <a:endParaRPr kumimoji="0" lang="ko-KR" altLang="en-US" sz="1000" b="1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43" name="TextBox 42"/>
          <p:cNvSpPr txBox="1"/>
          <p:nvPr/>
        </p:nvSpPr>
        <p:spPr>
          <a:xfrm>
            <a:off x="5207630" y="3869023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③</a:t>
            </a:r>
            <a:endParaRPr lang="ko-KR" altLang="en-US" sz="2000" dirty="0"/>
          </a:p>
        </p:txBody>
      </p:sp>
      <p:sp>
        <p:nvSpPr>
          <p:cNvPr id="44" name="TextBox 43"/>
          <p:cNvSpPr txBox="1"/>
          <p:nvPr/>
        </p:nvSpPr>
        <p:spPr>
          <a:xfrm>
            <a:off x="2193035" y="3307775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②</a:t>
            </a:r>
            <a:endParaRPr lang="ko-KR" altLang="en-US" sz="2000" dirty="0"/>
          </a:p>
        </p:txBody>
      </p:sp>
      <p:sp>
        <p:nvSpPr>
          <p:cNvPr id="45" name="TextBox 44"/>
          <p:cNvSpPr txBox="1"/>
          <p:nvPr/>
        </p:nvSpPr>
        <p:spPr>
          <a:xfrm>
            <a:off x="1255188" y="3287295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①</a:t>
            </a:r>
            <a:endParaRPr lang="ko-KR" altLang="en-US" sz="2000" dirty="0"/>
          </a:p>
        </p:txBody>
      </p:sp>
      <p:grpSp>
        <p:nvGrpSpPr>
          <p:cNvPr id="63" name="그룹 62"/>
          <p:cNvGrpSpPr/>
          <p:nvPr/>
        </p:nvGrpSpPr>
        <p:grpSpPr>
          <a:xfrm>
            <a:off x="315913" y="1978375"/>
            <a:ext cx="6548864" cy="2373707"/>
            <a:chOff x="325811" y="2048604"/>
            <a:chExt cx="6548864" cy="2373707"/>
          </a:xfrm>
        </p:grpSpPr>
        <p:sp>
          <p:nvSpPr>
            <p:cNvPr id="10" name="TextBox 9"/>
            <p:cNvSpPr txBox="1"/>
            <p:nvPr/>
          </p:nvSpPr>
          <p:spPr>
            <a:xfrm>
              <a:off x="325811" y="2048604"/>
              <a:ext cx="1076255" cy="34187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 sz="1400" b="1" dirty="0">
                  <a:latin typeface="나눔바른고딕"/>
                  <a:ea typeface="나눔바른고딕"/>
                </a:rPr>
                <a:t>결제 정보</a:t>
              </a:r>
            </a:p>
          </p:txBody>
        </p:sp>
        <p:sp>
          <p:nvSpPr>
            <p:cNvPr id="11" name="직사각형 10"/>
            <p:cNvSpPr/>
            <p:nvPr/>
          </p:nvSpPr>
          <p:spPr>
            <a:xfrm>
              <a:off x="416003" y="2332460"/>
              <a:ext cx="6458672" cy="1581537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cxnSp>
          <p:nvCxnSpPr>
            <p:cNvPr id="12" name="직선 연결선 11"/>
            <p:cNvCxnSpPr/>
            <p:nvPr/>
          </p:nvCxnSpPr>
          <p:spPr>
            <a:xfrm>
              <a:off x="416003" y="2650553"/>
              <a:ext cx="6458672" cy="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</a:ln>
            <a:effectLst/>
          </p:spPr>
        </p:cxnSp>
        <p:sp>
          <p:nvSpPr>
            <p:cNvPr id="13" name="TextBox 12"/>
            <p:cNvSpPr txBox="1"/>
            <p:nvPr/>
          </p:nvSpPr>
          <p:spPr>
            <a:xfrm>
              <a:off x="419561" y="2346986"/>
              <a:ext cx="904943" cy="30768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포인트사용</a:t>
              </a:r>
            </a:p>
          </p:txBody>
        </p:sp>
        <p:sp>
          <p:nvSpPr>
            <p:cNvPr id="14" name="직사각형 13"/>
            <p:cNvSpPr/>
            <p:nvPr/>
          </p:nvSpPr>
          <p:spPr>
            <a:xfrm>
              <a:off x="1433350" y="2349395"/>
              <a:ext cx="826162" cy="283076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 dirty="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450857" y="2971872"/>
              <a:ext cx="826161" cy="307685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결제금액</a:t>
              </a:r>
            </a:p>
          </p:txBody>
        </p:sp>
        <p:sp>
          <p:nvSpPr>
            <p:cNvPr id="16" name="직사각형 15"/>
            <p:cNvSpPr/>
            <p:nvPr/>
          </p:nvSpPr>
          <p:spPr>
            <a:xfrm>
              <a:off x="1425044" y="2975027"/>
              <a:ext cx="1152128" cy="263899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 sz="1400">
                <a:solidFill>
                  <a:schemeClr val="tx1"/>
                </a:solidFill>
                <a:latin typeface="나눔바른고딕"/>
                <a:ea typeface="나눔바른고딕"/>
              </a:endParaRP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355199" y="3627355"/>
              <a:ext cx="1108694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결제방식 선택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2325450" y="2932267"/>
              <a:ext cx="867058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원</a:t>
              </a:r>
            </a:p>
          </p:txBody>
        </p:sp>
        <p:cxnSp>
          <p:nvCxnSpPr>
            <p:cNvPr id="24" name="직선 연결선 23"/>
            <p:cNvCxnSpPr/>
            <p:nvPr/>
          </p:nvCxnSpPr>
          <p:spPr>
            <a:xfrm>
              <a:off x="416003" y="3595669"/>
              <a:ext cx="6458672" cy="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</a:ln>
            <a:effectLst/>
          </p:spPr>
        </p:cxnSp>
        <p:cxnSp>
          <p:nvCxnSpPr>
            <p:cNvPr id="25" name="직선 연결선 24"/>
            <p:cNvCxnSpPr/>
            <p:nvPr/>
          </p:nvCxnSpPr>
          <p:spPr>
            <a:xfrm>
              <a:off x="416003" y="3899149"/>
              <a:ext cx="6458672" cy="0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</a:ln>
            <a:effectLst/>
          </p:spPr>
        </p:cxnSp>
        <p:sp>
          <p:nvSpPr>
            <p:cNvPr id="48" name="TextBox 47"/>
            <p:cNvSpPr txBox="1"/>
            <p:nvPr/>
          </p:nvSpPr>
          <p:spPr>
            <a:xfrm>
              <a:off x="2254923" y="2355471"/>
              <a:ext cx="504055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원</a:t>
              </a:r>
            </a:p>
          </p:txBody>
        </p:sp>
        <p:cxnSp>
          <p:nvCxnSpPr>
            <p:cNvPr id="49" name="직선 연결선 48"/>
            <p:cNvCxnSpPr/>
            <p:nvPr/>
          </p:nvCxnSpPr>
          <p:spPr>
            <a:xfrm>
              <a:off x="1402066" y="2625298"/>
              <a:ext cx="0" cy="1024475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</a:ln>
            <a:effectLst/>
          </p:spPr>
        </p:cxnSp>
        <p:cxnSp>
          <p:nvCxnSpPr>
            <p:cNvPr id="54" name="직선 연결선 53"/>
            <p:cNvCxnSpPr/>
            <p:nvPr/>
          </p:nvCxnSpPr>
          <p:spPr>
            <a:xfrm>
              <a:off x="1402066" y="3627355"/>
              <a:ext cx="0" cy="286642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</a:ln>
            <a:effectLst/>
          </p:spPr>
        </p:cxnSp>
        <p:cxnSp>
          <p:nvCxnSpPr>
            <p:cNvPr id="55" name="직선 연결선 54"/>
            <p:cNvCxnSpPr/>
            <p:nvPr/>
          </p:nvCxnSpPr>
          <p:spPr>
            <a:xfrm>
              <a:off x="1402066" y="2335422"/>
              <a:ext cx="0" cy="286642"/>
            </a:xfrm>
            <a:prstGeom prst="line">
              <a:avLst/>
            </a:prstGeom>
            <a:solidFill>
              <a:schemeClr val="accent1"/>
            </a:solidFill>
            <a:ln w="9525" cap="flat" cmpd="sng" algn="ctr">
              <a:solidFill>
                <a:schemeClr val="tx1"/>
              </a:solidFill>
              <a:prstDash val="solid"/>
              <a:round/>
            </a:ln>
            <a:effectLst/>
          </p:spPr>
        </p:cxnSp>
        <p:sp>
          <p:nvSpPr>
            <p:cNvPr id="56" name="타원 55"/>
            <p:cNvSpPr/>
            <p:nvPr/>
          </p:nvSpPr>
          <p:spPr>
            <a:xfrm>
              <a:off x="1451080" y="3685564"/>
              <a:ext cx="176736" cy="157121"/>
            </a:xfrm>
            <a:prstGeom prst="ellips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</a:ln>
            <a:effectLst/>
          </p:spPr>
          <p:txBody>
            <a:bodyPr vert="horz" wrap="none" lIns="89999" tIns="46800" rIns="89999" bIns="46800" anchor="t" anchorCtr="0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latinLnBrk="0" hangingPunct="0">
                <a:lnSpc>
                  <a:spcPct val="100000"/>
                </a:lnSpc>
                <a:spcBef>
                  <a:spcPct val="25000"/>
                </a:spcBef>
                <a:spcAft>
                  <a:spcPct val="25000"/>
                </a:spcAft>
                <a:buClr>
                  <a:schemeClr val="bg1"/>
                </a:buClr>
                <a:buFont typeface="Wingdings"/>
                <a:buNone/>
                <a:defRPr/>
              </a:pPr>
              <a:endParaRPr kumimoji="0" lang="ko-KR" altLang="en-US" sz="1200" b="0" i="0" u="none" strike="noStrike" cap="none" normalizeH="0" baseline="0">
                <a:solidFill>
                  <a:schemeClr val="tx1"/>
                </a:solidFill>
                <a:effectLst/>
                <a:latin typeface="Arial"/>
                <a:ea typeface="굴림"/>
              </a:endParaRPr>
            </a:p>
          </p:txBody>
        </p:sp>
        <p:sp>
          <p:nvSpPr>
            <p:cNvPr id="57" name="타원 56"/>
            <p:cNvSpPr/>
            <p:nvPr/>
          </p:nvSpPr>
          <p:spPr>
            <a:xfrm>
              <a:off x="2361588" y="3692115"/>
              <a:ext cx="176736" cy="157121"/>
            </a:xfrm>
            <a:prstGeom prst="ellipse">
              <a:avLst/>
            </a:prstGeom>
            <a:noFill/>
            <a:ln w="9525" cap="flat" cmpd="sng" algn="ctr">
              <a:solidFill>
                <a:schemeClr val="tx1"/>
              </a:solidFill>
              <a:prstDash val="solid"/>
              <a:round/>
            </a:ln>
            <a:effectLst/>
          </p:spPr>
          <p:txBody>
            <a:bodyPr vert="horz" wrap="none" lIns="89999" tIns="46800" rIns="89999" bIns="46800" anchor="t" anchorCtr="0">
              <a:prstTxWarp prst="textNoShape">
                <a:avLst/>
              </a:prstTxWarp>
              <a:spAutoFit/>
            </a:bodyPr>
            <a:lstStyle/>
            <a:p>
              <a:pPr marL="0" marR="0" indent="0" algn="ctr" defTabSz="914400" rtl="0" eaLnBrk="0" latinLnBrk="0" hangingPunct="0">
                <a:lnSpc>
                  <a:spcPct val="100000"/>
                </a:lnSpc>
                <a:spcBef>
                  <a:spcPct val="25000"/>
                </a:spcBef>
                <a:spcAft>
                  <a:spcPct val="25000"/>
                </a:spcAft>
                <a:buClr>
                  <a:schemeClr val="bg1"/>
                </a:buClr>
                <a:buFont typeface="Wingdings"/>
                <a:buNone/>
                <a:defRPr/>
              </a:pPr>
              <a:endParaRPr kumimoji="0" lang="ko-KR" altLang="en-US" sz="1200" b="0" i="0" u="none" strike="noStrike" cap="none" normalizeH="0" baseline="0">
                <a:solidFill>
                  <a:schemeClr val="tx1"/>
                </a:solidFill>
                <a:effectLst/>
                <a:latin typeface="Arial"/>
                <a:ea typeface="굴림"/>
              </a:endParaRPr>
            </a:p>
          </p:txBody>
        </p:sp>
        <p:sp>
          <p:nvSpPr>
            <p:cNvPr id="59" name="TextBox 58"/>
            <p:cNvSpPr txBox="1"/>
            <p:nvPr/>
          </p:nvSpPr>
          <p:spPr>
            <a:xfrm>
              <a:off x="1563277" y="3633153"/>
              <a:ext cx="875663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카드 결제</a:t>
              </a:r>
            </a:p>
          </p:txBody>
        </p:sp>
        <p:sp>
          <p:nvSpPr>
            <p:cNvPr id="60" name="TextBox 59"/>
            <p:cNvSpPr txBox="1"/>
            <p:nvPr/>
          </p:nvSpPr>
          <p:spPr>
            <a:xfrm>
              <a:off x="2483782" y="3631248"/>
              <a:ext cx="1001892" cy="276999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lvl="0">
                <a:defRPr/>
              </a:pPr>
              <a:r>
                <a:rPr lang="ko-KR" altLang="en-US">
                  <a:latin typeface="나눔바른고딕"/>
                  <a:ea typeface="나눔바른고딕"/>
                </a:rPr>
                <a:t>무통장 입금</a:t>
              </a:r>
            </a:p>
          </p:txBody>
        </p:sp>
        <p:sp>
          <p:nvSpPr>
            <p:cNvPr id="62" name="직사각형 61"/>
            <p:cNvSpPr/>
            <p:nvPr/>
          </p:nvSpPr>
          <p:spPr>
            <a:xfrm>
              <a:off x="5501357" y="4089424"/>
              <a:ext cx="1373318" cy="332887"/>
            </a:xfrm>
            <a:prstGeom prst="rect">
              <a:avLst/>
            </a:prstGeom>
            <a:noFill/>
            <a:ln w="31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ko-KR" altLang="en-US" sz="1500">
                  <a:solidFill>
                    <a:schemeClr val="tx1"/>
                  </a:solidFill>
                  <a:latin typeface="나눔바른고딕"/>
                  <a:ea typeface="나눔바른고딕"/>
                </a:rPr>
                <a:t>상품 결제하기</a:t>
              </a:r>
            </a:p>
          </p:txBody>
        </p:sp>
      </p:grpSp>
      <p:grpSp>
        <p:nvGrpSpPr>
          <p:cNvPr id="74" name="그룹 73"/>
          <p:cNvGrpSpPr/>
          <p:nvPr/>
        </p:nvGrpSpPr>
        <p:grpSpPr>
          <a:xfrm rot="1780880">
            <a:off x="2108023" y="3686635"/>
            <a:ext cx="330603" cy="607205"/>
            <a:chOff x="875295" y="3607156"/>
            <a:chExt cx="313296" cy="562369"/>
          </a:xfrm>
        </p:grpSpPr>
        <p:sp>
          <p:nvSpPr>
            <p:cNvPr id="75" name="화살표: 위쪽 74"/>
            <p:cNvSpPr/>
            <p:nvPr/>
          </p:nvSpPr>
          <p:spPr>
            <a:xfrm>
              <a:off x="938207" y="3607156"/>
              <a:ext cx="250384" cy="314934"/>
            </a:xfrm>
            <a:prstGeom prst="upArrow">
              <a:avLst>
                <a:gd name="adj1" fmla="val 50000"/>
                <a:gd name="adj2" fmla="val 50000"/>
              </a:avLst>
            </a:prstGeom>
            <a:solidFill>
              <a:schemeClr val="accent1">
                <a:lumMod val="60000"/>
                <a:lumOff val="40000"/>
              </a:schemeClr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ko-KR" altLang="en-US">
                <a:latin typeface="나눔바른고딕"/>
                <a:ea typeface="나눔바른고딕"/>
              </a:endParaRPr>
            </a:p>
          </p:txBody>
        </p:sp>
        <p:cxnSp>
          <p:nvCxnSpPr>
            <p:cNvPr id="76" name="직선 화살표 연결선 75"/>
            <p:cNvCxnSpPr/>
            <p:nvPr/>
          </p:nvCxnSpPr>
          <p:spPr>
            <a:xfrm rot="19819120" flipH="1">
              <a:off x="875295" y="3972062"/>
              <a:ext cx="254847" cy="19746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직사각형 3"/>
          <p:cNvSpPr/>
          <p:nvPr/>
        </p:nvSpPr>
        <p:spPr>
          <a:xfrm>
            <a:off x="560513" y="4252721"/>
            <a:ext cx="3168344" cy="1106133"/>
          </a:xfrm>
          <a:prstGeom prst="rect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squar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endParaRPr kumimoji="0" lang="ko-KR" altLang="en-US" sz="12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1088739" y="4294765"/>
            <a:ext cx="88162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입금자명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88739" y="4623853"/>
            <a:ext cx="88162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입금은행</a:t>
            </a:r>
          </a:p>
        </p:txBody>
      </p:sp>
      <p:sp>
        <p:nvSpPr>
          <p:cNvPr id="58" name="직사각형 57"/>
          <p:cNvSpPr/>
          <p:nvPr/>
        </p:nvSpPr>
        <p:spPr>
          <a:xfrm>
            <a:off x="1830571" y="4306757"/>
            <a:ext cx="1178213" cy="261331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400">
              <a:solidFill>
                <a:schemeClr val="tx1"/>
              </a:solidFill>
              <a:latin typeface="나눔바른고딕"/>
              <a:ea typeface="나눔바른고딕"/>
            </a:endParaRPr>
          </a:p>
        </p:txBody>
      </p:sp>
      <p:sp>
        <p:nvSpPr>
          <p:cNvPr id="64" name="TextBox 63"/>
          <p:cNvSpPr txBox="1"/>
          <p:nvPr/>
        </p:nvSpPr>
        <p:spPr>
          <a:xfrm>
            <a:off x="440959" y="4526570"/>
            <a:ext cx="88162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결제방식 선택</a:t>
            </a:r>
          </a:p>
        </p:txBody>
      </p:sp>
      <p:sp>
        <p:nvSpPr>
          <p:cNvPr id="66" name="직사각형 65"/>
          <p:cNvSpPr/>
          <p:nvPr/>
        </p:nvSpPr>
        <p:spPr>
          <a:xfrm>
            <a:off x="1830571" y="4623853"/>
            <a:ext cx="1826285" cy="261331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400">
              <a:solidFill>
                <a:schemeClr val="tx1"/>
              </a:solidFill>
              <a:latin typeface="나눔바른고딕"/>
              <a:ea typeface="나눔바른고딕"/>
            </a:endParaRPr>
          </a:p>
        </p:txBody>
      </p:sp>
      <p:sp>
        <p:nvSpPr>
          <p:cNvPr id="6" name="이등변 삼각형 5"/>
          <p:cNvSpPr/>
          <p:nvPr/>
        </p:nvSpPr>
        <p:spPr>
          <a:xfrm rot="10800000">
            <a:off x="3437305" y="4698882"/>
            <a:ext cx="181080" cy="171768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non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endParaRPr kumimoji="0" lang="ko-KR" altLang="en-US" sz="12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sp>
        <p:nvSpPr>
          <p:cNvPr id="40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1.2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ko-KR" altLang="en-US" sz="1800" b="1" i="0" u="none" strike="noStrike" kern="0" cap="none" spc="0" normalizeH="0" baseline="0" dirty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일반 회원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30</a:t>
            </a:fld>
            <a:r>
              <a:rPr lang="en-US" altLang="ko-KR"/>
              <a:t> -</a:t>
            </a:r>
          </a:p>
        </p:txBody>
      </p:sp>
      <p:graphicFrame>
        <p:nvGraphicFramePr>
          <p:cNvPr id="3" name="표 4"/>
          <p:cNvGraphicFramePr>
            <a:graphicFrameLocks noGrp="1"/>
          </p:cNvGraphicFramePr>
          <p:nvPr/>
        </p:nvGraphicFramePr>
        <p:xfrm>
          <a:off x="560511" y="1052738"/>
          <a:ext cx="8928992" cy="5429409"/>
        </p:xfrm>
        <a:graphic>
          <a:graphicData uri="http://schemas.openxmlformats.org/drawingml/2006/table">
            <a:tbl>
              <a:tblPr/>
              <a:tblGrid>
                <a:gridCol w="9964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24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10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10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684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49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87221"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alt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I/</a:t>
                      </a: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O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한글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영문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필수여부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I/O </a:t>
                      </a: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유형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초기값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사용 포인트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usePoint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금액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price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8"/>
                  </a:ext>
                </a:extLst>
              </a:tr>
            </a:tbl>
          </a:graphicData>
        </a:graphic>
      </p:graphicFrame>
      <p:sp>
        <p:nvSpPr>
          <p:cNvPr id="5" name="직사각형 6"/>
          <p:cNvSpPr/>
          <p:nvPr/>
        </p:nvSpPr>
        <p:spPr>
          <a:xfrm>
            <a:off x="425987" y="703729"/>
            <a:ext cx="138691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b="1">
                <a:latin typeface="맑은 고딕"/>
                <a:ea typeface="맑은 고딕"/>
              </a:rPr>
              <a:t>* </a:t>
            </a:r>
            <a:r>
              <a:rPr lang="ko-KR" altLang="ko-KR" b="1">
                <a:latin typeface="맑은 고딕"/>
                <a:ea typeface="맑은 고딕"/>
              </a:rPr>
              <a:t>화면입출력정보</a:t>
            </a:r>
          </a:p>
        </p:txBody>
      </p:sp>
      <p:sp>
        <p:nvSpPr>
          <p:cNvPr id="9" name="Rectangle 3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2pPr>
            <a:lvl3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3pPr>
            <a:lvl4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4pPr>
            <a:lvl5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sp>
        <p:nvSpPr>
          <p:cNvPr id="7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1.2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ko-KR" altLang="en-US" sz="1800" b="1" i="0" u="none" strike="noStrike" kern="0" cap="none" spc="0" normalizeH="0" baseline="0" dirty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일반 회원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xfrm>
            <a:off x="3872880" y="6671742"/>
            <a:ext cx="2063750" cy="213642"/>
          </a:xfrm>
        </p:spPr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31</a:t>
            </a:fld>
            <a:r>
              <a:rPr lang="en-US" altLang="ko-KR"/>
              <a:t> -</a:t>
            </a:r>
          </a:p>
        </p:txBody>
      </p:sp>
      <p:sp>
        <p:nvSpPr>
          <p:cNvPr id="3" name="Rectangle 94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graphicFrame>
        <p:nvGraphicFramePr>
          <p:cNvPr id="5" name="Group 3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4610646"/>
              </p:ext>
            </p:extLst>
          </p:nvPr>
        </p:nvGraphicFramePr>
        <p:xfrm>
          <a:off x="315913" y="747145"/>
          <a:ext cx="9272587" cy="5876622"/>
        </p:xfrm>
        <a:graphic>
          <a:graphicData uri="http://schemas.openxmlformats.org/drawingml/2006/table">
            <a:tbl>
              <a:tblPr/>
              <a:tblGrid>
                <a:gridCol w="96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718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6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36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752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7772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Level1</a:t>
                      </a:r>
                      <a:endParaRPr kumimoji="0" lang="en-US" altLang="ko-KR" sz="1000" b="1" i="0" u="none" strike="noStrike" cap="none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주류 유통 관리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Level2</a:t>
                      </a:r>
                      <a:endParaRPr kumimoji="0" lang="en-US" altLang="ko-KR" sz="1000" b="1" i="0" u="none" strike="noStrike" cap="none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0" fontAlgn="auto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관리자 화면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5151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</a:t>
                      </a:r>
                      <a:r>
                        <a:rPr kumimoji="0" lang="en-US" altLang="ko-KR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ID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latinLnBrk="1" hangingPunct="1">
                        <a:lnSpc>
                          <a:spcPct val="104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Font typeface="Wingdings"/>
                        <a:buNone/>
                        <a:defRPr/>
                      </a:pPr>
                      <a:r>
                        <a:rPr kumimoji="1" lang="en-US" altLang="ko-KR" sz="10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UI_PD4_016</a:t>
                      </a:r>
                      <a:endParaRPr kumimoji="1" lang="en-US" altLang="ko-KR" sz="1000" b="0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관리자 마이페이지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4756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화면개요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관리자 마이페이지 화면이다</a:t>
                      </a:r>
                      <a:r>
                        <a:rPr kumimoji="0" lang="en-US" altLang="ko-KR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  <a:endParaRPr kumimoji="0" lang="ko-KR" altLang="en-US" sz="1000" b="0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811">
                <a:tc rowSpan="2"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설명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31132">
                <a:tc gridSpan="4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marL="266700" marR="0" lvl="0" indent="-2667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일반 회원과 관리자를 구분할 수 있다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 err="1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싱품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 관리 화면으로 이동한다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재고 관리 화면으로 이동한다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주문 관리 화면으로 이동한다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매출 관리 화면으로 이동한다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28600" marR="0" lvl="0" indent="-2286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게시판 관리 화면으로 이동한다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1060950" y="3052324"/>
            <a:ext cx="159785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800" b="1">
                <a:latin typeface="나눔바른고딕"/>
                <a:ea typeface="나눔바른고딕"/>
              </a:rPr>
              <a:t>Product Management</a:t>
            </a:r>
            <a:endParaRPr lang="ko-KR" altLang="en-US" sz="1800" b="1">
              <a:latin typeface="나눔바른고딕"/>
              <a:ea typeface="나눔바른고딕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62025" y="4188772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>
                <a:solidFill>
                  <a:srgbClr val="FF0000"/>
                </a:solidFill>
                <a:latin typeface="나눔바른고딕"/>
                <a:ea typeface="나눔바른고딕"/>
              </a:rPr>
              <a:t>④</a:t>
            </a:r>
            <a:endParaRPr lang="ko-KR" altLang="en-US" sz="2000"/>
          </a:p>
        </p:txBody>
      </p:sp>
      <p:sp>
        <p:nvSpPr>
          <p:cNvPr id="17" name="TextBox 16"/>
          <p:cNvSpPr txBox="1"/>
          <p:nvPr/>
        </p:nvSpPr>
        <p:spPr>
          <a:xfrm>
            <a:off x="242730" y="4870657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>
                <a:solidFill>
                  <a:srgbClr val="FF0000"/>
                </a:solidFill>
                <a:latin typeface="나눔바른고딕"/>
                <a:ea typeface="나눔바른고딕"/>
              </a:rPr>
              <a:t>⑤</a:t>
            </a:r>
            <a:endParaRPr lang="ko-KR" altLang="en-US" sz="2000"/>
          </a:p>
        </p:txBody>
      </p:sp>
      <p:sp>
        <p:nvSpPr>
          <p:cNvPr id="18" name="TextBox 17"/>
          <p:cNvSpPr txBox="1"/>
          <p:nvPr/>
        </p:nvSpPr>
        <p:spPr>
          <a:xfrm>
            <a:off x="256628" y="3616352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>
                <a:solidFill>
                  <a:srgbClr val="FF0000"/>
                </a:solidFill>
                <a:latin typeface="나눔바른고딕"/>
                <a:ea typeface="나눔바른고딕"/>
              </a:rPr>
              <a:t>③</a:t>
            </a:r>
            <a:endParaRPr lang="ko-KR" altLang="en-US" sz="2000"/>
          </a:p>
        </p:txBody>
      </p:sp>
      <p:sp>
        <p:nvSpPr>
          <p:cNvPr id="19" name="TextBox 18"/>
          <p:cNvSpPr txBox="1"/>
          <p:nvPr/>
        </p:nvSpPr>
        <p:spPr>
          <a:xfrm>
            <a:off x="247795" y="2903496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>
                <a:solidFill>
                  <a:srgbClr val="FF0000"/>
                </a:solidFill>
                <a:latin typeface="나눔바른고딕"/>
                <a:ea typeface="나눔바른고딕"/>
              </a:rPr>
              <a:t>②</a:t>
            </a:r>
            <a:endParaRPr lang="ko-KR" altLang="en-US" sz="2000"/>
          </a:p>
        </p:txBody>
      </p:sp>
      <p:sp>
        <p:nvSpPr>
          <p:cNvPr id="20" name="TextBox 19"/>
          <p:cNvSpPr txBox="1"/>
          <p:nvPr/>
        </p:nvSpPr>
        <p:spPr>
          <a:xfrm>
            <a:off x="231716" y="5546849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>
                <a:solidFill>
                  <a:srgbClr val="FF0000"/>
                </a:solidFill>
                <a:latin typeface="나눔바른고딕"/>
                <a:ea typeface="나눔바른고딕"/>
              </a:rPr>
              <a:t>⑥</a:t>
            </a:r>
            <a:endParaRPr lang="ko-KR" altLang="en-US" sz="2000"/>
          </a:p>
        </p:txBody>
      </p:sp>
      <p:sp>
        <p:nvSpPr>
          <p:cNvPr id="21" name="직사각형 20"/>
          <p:cNvSpPr/>
          <p:nvPr/>
        </p:nvSpPr>
        <p:spPr>
          <a:xfrm>
            <a:off x="416497" y="1916832"/>
            <a:ext cx="1080120" cy="2880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>
                <a:solidFill>
                  <a:schemeClr val="tx1"/>
                </a:solidFill>
                <a:latin typeface="나눔바른고딕"/>
                <a:ea typeface="나눔바른고딕"/>
              </a:rPr>
              <a:t>마이 페이지</a:t>
            </a:r>
          </a:p>
        </p:txBody>
      </p:sp>
      <p:sp>
        <p:nvSpPr>
          <p:cNvPr id="22" name="직사각형 21"/>
          <p:cNvSpPr/>
          <p:nvPr/>
        </p:nvSpPr>
        <p:spPr>
          <a:xfrm>
            <a:off x="393796" y="2282476"/>
            <a:ext cx="6624735" cy="576064"/>
          </a:xfrm>
          <a:prstGeom prst="rect">
            <a:avLst/>
          </a:prstGeom>
          <a:noFill/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non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endParaRPr kumimoji="0" lang="ko-KR" altLang="en-US" sz="12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28366" y="2406556"/>
            <a:ext cx="2816087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500">
                <a:latin typeface="나눔바른고딕"/>
                <a:ea typeface="나눔바른고딕"/>
              </a:rPr>
              <a:t>ㅇㅇㅇ 님은 </a:t>
            </a:r>
            <a:r>
              <a:rPr lang="en-US" altLang="ko-KR" sz="1500">
                <a:latin typeface="나눔바른고딕"/>
                <a:ea typeface="나눔바른고딕"/>
              </a:rPr>
              <a:t>[</a:t>
            </a:r>
            <a:r>
              <a:rPr lang="ko-KR" altLang="en-US" sz="1500">
                <a:latin typeface="나눔바른고딕"/>
                <a:ea typeface="나눔바른고딕"/>
              </a:rPr>
              <a:t>관리자</a:t>
            </a:r>
            <a:r>
              <a:rPr lang="en-US" altLang="ko-KR" sz="1500">
                <a:latin typeface="나눔바른고딕"/>
                <a:ea typeface="나눔바른고딕"/>
              </a:rPr>
              <a:t>] </a:t>
            </a:r>
            <a:r>
              <a:rPr lang="ko-KR" altLang="en-US" sz="1500">
                <a:latin typeface="나눔바른고딕"/>
                <a:ea typeface="나눔바른고딕"/>
              </a:rPr>
              <a:t>이십니다</a:t>
            </a:r>
            <a:r>
              <a:rPr lang="en-US" altLang="ko-KR" sz="1500">
                <a:latin typeface="나눔바른고딕"/>
                <a:ea typeface="나눔바른고딕"/>
              </a:rPr>
              <a:t>.</a:t>
            </a:r>
            <a:endParaRPr lang="ko-KR" altLang="en-US" sz="1500">
              <a:latin typeface="나눔바른고딕"/>
              <a:ea typeface="나눔바른고딕"/>
            </a:endParaRPr>
          </a:p>
        </p:txBody>
      </p:sp>
      <p:pic>
        <p:nvPicPr>
          <p:cNvPr id="24" name="그림 23"/>
          <p:cNvPicPr>
            <a:picLocks noChangeAspect="1"/>
          </p:cNvPicPr>
          <p:nvPr/>
        </p:nvPicPr>
        <p:blipFill rotWithShape="1">
          <a:blip r:embed="rId2"/>
          <a:stretch>
            <a:fillRect/>
          </a:stretch>
        </p:blipFill>
        <p:spPr>
          <a:xfrm>
            <a:off x="471732" y="2323359"/>
            <a:ext cx="489561" cy="489561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041439" y="2418187"/>
            <a:ext cx="780105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500">
                <a:latin typeface="나눔바른고딕"/>
                <a:ea typeface="나눔바른고딕"/>
              </a:rPr>
              <a:t>포인트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22836" y="2429638"/>
            <a:ext cx="78010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>
                <a:latin typeface="나눔바른고딕"/>
                <a:ea typeface="나눔바른고딕"/>
              </a:rPr>
              <a:t>---</a:t>
            </a:r>
            <a:r>
              <a:rPr lang="ko-KR" altLang="en-US">
                <a:latin typeface="나눔바른고딕"/>
                <a:ea typeface="나눔바른고딕"/>
              </a:rPr>
              <a:t>원</a:t>
            </a:r>
          </a:p>
        </p:txBody>
      </p:sp>
      <p:sp>
        <p:nvSpPr>
          <p:cNvPr id="27" name="직사각형 26"/>
          <p:cNvSpPr/>
          <p:nvPr/>
        </p:nvSpPr>
        <p:spPr>
          <a:xfrm>
            <a:off x="6402941" y="2439668"/>
            <a:ext cx="561381" cy="26696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>
                <a:solidFill>
                  <a:schemeClr val="tx1"/>
                </a:solidFill>
                <a:latin typeface="나눔바른고딕"/>
                <a:ea typeface="나눔바른고딕"/>
              </a:rPr>
              <a:t>조회</a:t>
            </a:r>
          </a:p>
        </p:txBody>
      </p:sp>
      <p:cxnSp>
        <p:nvCxnSpPr>
          <p:cNvPr id="28" name="직선 연결선 27"/>
          <p:cNvCxnSpPr/>
          <p:nvPr/>
        </p:nvCxnSpPr>
        <p:spPr>
          <a:xfrm>
            <a:off x="459868" y="2971969"/>
            <a:ext cx="6492590" cy="0"/>
          </a:xfrm>
          <a:prstGeom prst="line">
            <a:avLst/>
          </a:prstGeom>
          <a:solidFill>
            <a:schemeClr val="accent1"/>
          </a:solidFill>
          <a:ln w="38100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29" name="TextBox 28"/>
          <p:cNvSpPr txBox="1"/>
          <p:nvPr/>
        </p:nvSpPr>
        <p:spPr>
          <a:xfrm>
            <a:off x="2599677" y="3141553"/>
            <a:ext cx="846966" cy="276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상품 관리</a:t>
            </a:r>
          </a:p>
        </p:txBody>
      </p:sp>
      <p:pic>
        <p:nvPicPr>
          <p:cNvPr id="31" name="그림 30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 flipH="1">
            <a:off x="566140" y="4953073"/>
            <a:ext cx="540549" cy="540549"/>
          </a:xfrm>
          <a:prstGeom prst="rect">
            <a:avLst/>
          </a:prstGeom>
        </p:spPr>
      </p:pic>
      <p:pic>
        <p:nvPicPr>
          <p:cNvPr id="33" name="그림 32"/>
          <p:cNvPicPr>
            <a:picLocks noChangeAspect="1"/>
          </p:cNvPicPr>
          <p:nvPr/>
        </p:nvPicPr>
        <p:blipFill rotWithShape="1">
          <a:blip r:embed="rId4"/>
          <a:stretch>
            <a:fillRect/>
          </a:stretch>
        </p:blipFill>
        <p:spPr>
          <a:xfrm>
            <a:off x="599006" y="5651846"/>
            <a:ext cx="534550" cy="534550"/>
          </a:xfrm>
          <a:prstGeom prst="rect">
            <a:avLst/>
          </a:prstGeom>
        </p:spPr>
      </p:pic>
      <p:cxnSp>
        <p:nvCxnSpPr>
          <p:cNvPr id="34" name="직선 연결선 33"/>
          <p:cNvCxnSpPr/>
          <p:nvPr/>
        </p:nvCxnSpPr>
        <p:spPr>
          <a:xfrm>
            <a:off x="439339" y="3687158"/>
            <a:ext cx="6492590" cy="0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36" name="TextBox 35"/>
          <p:cNvSpPr txBox="1"/>
          <p:nvPr/>
        </p:nvSpPr>
        <p:spPr>
          <a:xfrm>
            <a:off x="2562363" y="3806352"/>
            <a:ext cx="92159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재고 관리</a:t>
            </a:r>
          </a:p>
        </p:txBody>
      </p:sp>
      <p:sp>
        <p:nvSpPr>
          <p:cNvPr id="37" name="순서도: 추출 36"/>
          <p:cNvSpPr/>
          <p:nvPr/>
        </p:nvSpPr>
        <p:spPr>
          <a:xfrm rot="5400000">
            <a:off x="6791118" y="3175591"/>
            <a:ext cx="179011" cy="141806"/>
          </a:xfrm>
          <a:prstGeom prst="flowChartExtract">
            <a:avLst/>
          </a:prstGeom>
          <a:solidFill>
            <a:schemeClr val="tx1"/>
          </a:solidFill>
          <a:ln w="317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squar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endParaRPr kumimoji="0" lang="ko-KR" altLang="en-US" sz="12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sp>
        <p:nvSpPr>
          <p:cNvPr id="38" name="순서도: 추출 37"/>
          <p:cNvSpPr/>
          <p:nvPr/>
        </p:nvSpPr>
        <p:spPr>
          <a:xfrm rot="5400000">
            <a:off x="6791118" y="3795348"/>
            <a:ext cx="179011" cy="141806"/>
          </a:xfrm>
          <a:prstGeom prst="flowChartExtract">
            <a:avLst/>
          </a:prstGeom>
          <a:solidFill>
            <a:schemeClr val="tx1"/>
          </a:solidFill>
          <a:ln w="317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squar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endParaRPr kumimoji="0" lang="ko-KR" altLang="en-US" sz="12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cxnSp>
        <p:nvCxnSpPr>
          <p:cNvPr id="39" name="직선 연결선 38"/>
          <p:cNvCxnSpPr/>
          <p:nvPr/>
        </p:nvCxnSpPr>
        <p:spPr>
          <a:xfrm>
            <a:off x="459868" y="4230745"/>
            <a:ext cx="6492590" cy="0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40" name="순서도: 추출 39"/>
          <p:cNvSpPr/>
          <p:nvPr/>
        </p:nvSpPr>
        <p:spPr>
          <a:xfrm rot="5400000">
            <a:off x="6770706" y="4416127"/>
            <a:ext cx="179011" cy="141806"/>
          </a:xfrm>
          <a:prstGeom prst="flowChartExtract">
            <a:avLst/>
          </a:prstGeom>
          <a:solidFill>
            <a:schemeClr val="tx1"/>
          </a:solidFill>
          <a:ln w="317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squar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endParaRPr kumimoji="0" lang="ko-KR" altLang="en-US" sz="12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1023452" y="4306742"/>
            <a:ext cx="160671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800" b="1">
                <a:latin typeface="나눔바른고딕"/>
                <a:ea typeface="나눔바른고딕"/>
              </a:rPr>
              <a:t>Order Management</a:t>
            </a:r>
            <a:endParaRPr lang="ko-KR" altLang="en-US" sz="1800" b="1">
              <a:latin typeface="나눔바른고딕"/>
              <a:ea typeface="나눔바른고딕"/>
            </a:endParaRPr>
          </a:p>
        </p:txBody>
      </p:sp>
      <p:sp>
        <p:nvSpPr>
          <p:cNvPr id="42" name="TextBox 41"/>
          <p:cNvSpPr txBox="1"/>
          <p:nvPr/>
        </p:nvSpPr>
        <p:spPr>
          <a:xfrm>
            <a:off x="2525049" y="4447098"/>
            <a:ext cx="92159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주문 관리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89997" y="4974929"/>
            <a:ext cx="1606709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800" b="1">
                <a:latin typeface="나눔바른고딕"/>
                <a:ea typeface="나눔바른고딕"/>
              </a:rPr>
              <a:t>Revenue Management</a:t>
            </a:r>
            <a:endParaRPr lang="ko-KR" altLang="en-US" sz="1800" b="1">
              <a:latin typeface="나눔바른고딕"/>
              <a:ea typeface="나눔바른고딕"/>
            </a:endParaRPr>
          </a:p>
        </p:txBody>
      </p:sp>
      <p:sp>
        <p:nvSpPr>
          <p:cNvPr id="44" name="TextBox 43"/>
          <p:cNvSpPr txBox="1"/>
          <p:nvPr/>
        </p:nvSpPr>
        <p:spPr>
          <a:xfrm>
            <a:off x="2492590" y="5125933"/>
            <a:ext cx="111608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매출 관리</a:t>
            </a:r>
          </a:p>
        </p:txBody>
      </p:sp>
      <p:cxnSp>
        <p:nvCxnSpPr>
          <p:cNvPr id="45" name="직선 연결선 44"/>
          <p:cNvCxnSpPr/>
          <p:nvPr/>
        </p:nvCxnSpPr>
        <p:spPr>
          <a:xfrm>
            <a:off x="471732" y="4918285"/>
            <a:ext cx="6492590" cy="0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chemeClr val="tx1"/>
            </a:solidFill>
            <a:prstDash val="solid"/>
            <a:round/>
          </a:ln>
          <a:effectLst/>
        </p:spPr>
      </p:cxnSp>
      <p:cxnSp>
        <p:nvCxnSpPr>
          <p:cNvPr id="47" name="직선 연결선 46"/>
          <p:cNvCxnSpPr/>
          <p:nvPr/>
        </p:nvCxnSpPr>
        <p:spPr>
          <a:xfrm>
            <a:off x="449853" y="5589240"/>
            <a:ext cx="6492590" cy="0"/>
          </a:xfrm>
          <a:prstGeom prst="line">
            <a:avLst/>
          </a:prstGeom>
          <a:solidFill>
            <a:schemeClr val="accent1"/>
          </a:solidFill>
          <a:ln w="12700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48" name="TextBox 47"/>
          <p:cNvSpPr txBox="1"/>
          <p:nvPr/>
        </p:nvSpPr>
        <p:spPr>
          <a:xfrm>
            <a:off x="1003057" y="5651846"/>
            <a:ext cx="171364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800" b="1">
                <a:latin typeface="나눔바른고딕"/>
                <a:ea typeface="나눔바른고딕"/>
              </a:rPr>
              <a:t>Board Management</a:t>
            </a:r>
            <a:endParaRPr lang="ko-KR" altLang="en-US" sz="1800" b="1">
              <a:latin typeface="나눔바른고딕"/>
              <a:ea typeface="나눔바른고딕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2635009" y="5869081"/>
            <a:ext cx="106113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게시판 관리</a:t>
            </a:r>
          </a:p>
        </p:txBody>
      </p:sp>
      <p:sp>
        <p:nvSpPr>
          <p:cNvPr id="50" name="순서도: 추출 49"/>
          <p:cNvSpPr/>
          <p:nvPr/>
        </p:nvSpPr>
        <p:spPr>
          <a:xfrm rot="5400000">
            <a:off x="6791118" y="5082518"/>
            <a:ext cx="179011" cy="141806"/>
          </a:xfrm>
          <a:prstGeom prst="flowChartExtract">
            <a:avLst/>
          </a:prstGeom>
          <a:solidFill>
            <a:schemeClr val="tx1"/>
          </a:solidFill>
          <a:ln w="317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squar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endParaRPr kumimoji="0" lang="ko-KR" altLang="en-US" sz="12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sp>
        <p:nvSpPr>
          <p:cNvPr id="51" name="순서도: 추출 50"/>
          <p:cNvSpPr/>
          <p:nvPr/>
        </p:nvSpPr>
        <p:spPr>
          <a:xfrm rot="5400000">
            <a:off x="6780754" y="5732621"/>
            <a:ext cx="179011" cy="141806"/>
          </a:xfrm>
          <a:prstGeom prst="flowChartExtract">
            <a:avLst/>
          </a:prstGeom>
          <a:solidFill>
            <a:schemeClr val="tx1"/>
          </a:solidFill>
          <a:ln w="317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squar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endParaRPr kumimoji="0" lang="ko-KR" altLang="en-US" sz="12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295882" y="2197382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>
                <a:solidFill>
                  <a:srgbClr val="FF0000"/>
                </a:solidFill>
                <a:latin typeface="나눔바른고딕"/>
                <a:ea typeface="나눔바른고딕"/>
              </a:rPr>
              <a:t>①</a:t>
            </a:r>
            <a:endParaRPr lang="ko-KR" altLang="en-US" sz="2000"/>
          </a:p>
        </p:txBody>
      </p:sp>
      <p:sp>
        <p:nvSpPr>
          <p:cNvPr id="53" name="TextBox 52"/>
          <p:cNvSpPr txBox="1"/>
          <p:nvPr/>
        </p:nvSpPr>
        <p:spPr>
          <a:xfrm>
            <a:off x="1036031" y="3664191"/>
            <a:ext cx="1647694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800" b="1">
                <a:latin typeface="나눔바른고딕"/>
                <a:ea typeface="나눔바른고딕"/>
              </a:rPr>
              <a:t>Inventory Management</a:t>
            </a:r>
            <a:endParaRPr lang="ko-KR" altLang="en-US" sz="1800" b="1">
              <a:latin typeface="나눔바른고딕"/>
              <a:ea typeface="나눔바른고딕"/>
            </a:endParaRPr>
          </a:p>
        </p:txBody>
      </p:sp>
      <p:pic>
        <p:nvPicPr>
          <p:cNvPr id="55" name="그림 54"/>
          <p:cNvPicPr>
            <a:picLocks noChangeAspect="1"/>
          </p:cNvPicPr>
          <p:nvPr/>
        </p:nvPicPr>
        <p:blipFill rotWithShape="1">
          <a:blip r:embed="rId5"/>
          <a:stretch>
            <a:fillRect/>
          </a:stretch>
        </p:blipFill>
        <p:spPr>
          <a:xfrm>
            <a:off x="574592" y="3084088"/>
            <a:ext cx="547569" cy="547569"/>
          </a:xfrm>
          <a:prstGeom prst="rect">
            <a:avLst/>
          </a:prstGeom>
        </p:spPr>
      </p:pic>
      <p:pic>
        <p:nvPicPr>
          <p:cNvPr id="57" name="그림 56"/>
          <p:cNvPicPr>
            <a:picLocks noChangeAspect="1"/>
          </p:cNvPicPr>
          <p:nvPr/>
        </p:nvPicPr>
        <p:blipFill rotWithShape="1">
          <a:blip r:embed="rId6"/>
          <a:stretch>
            <a:fillRect/>
          </a:stretch>
        </p:blipFill>
        <p:spPr>
          <a:xfrm>
            <a:off x="585452" y="4310833"/>
            <a:ext cx="568286" cy="568286"/>
          </a:xfrm>
          <a:prstGeom prst="rect">
            <a:avLst/>
          </a:prstGeom>
        </p:spPr>
      </p:pic>
      <p:pic>
        <p:nvPicPr>
          <p:cNvPr id="59" name="그림 58"/>
          <p:cNvPicPr>
            <a:picLocks noChangeAspect="1"/>
          </p:cNvPicPr>
          <p:nvPr/>
        </p:nvPicPr>
        <p:blipFill rotWithShape="1">
          <a:blip r:embed="rId7"/>
          <a:stretch>
            <a:fillRect/>
          </a:stretch>
        </p:blipFill>
        <p:spPr>
          <a:xfrm>
            <a:off x="606442" y="3744886"/>
            <a:ext cx="475701" cy="475701"/>
          </a:xfrm>
          <a:prstGeom prst="rect">
            <a:avLst/>
          </a:prstGeom>
        </p:spPr>
      </p:pic>
      <p:sp>
        <p:nvSpPr>
          <p:cNvPr id="54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1.3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lang="ko-KR" altLang="en-US" sz="1800" b="1" kern="0" dirty="0" smtClean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관리자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32</a:t>
            </a:fld>
            <a:r>
              <a:rPr lang="en-US" altLang="ko-KR"/>
              <a:t> -</a:t>
            </a:r>
          </a:p>
        </p:txBody>
      </p:sp>
      <p:graphicFrame>
        <p:nvGraphicFramePr>
          <p:cNvPr id="3" name="표 4"/>
          <p:cNvGraphicFramePr>
            <a:graphicFrameLocks noGrp="1"/>
          </p:cNvGraphicFramePr>
          <p:nvPr/>
        </p:nvGraphicFramePr>
        <p:xfrm>
          <a:off x="560511" y="1052738"/>
          <a:ext cx="8928992" cy="5429409"/>
        </p:xfrm>
        <a:graphic>
          <a:graphicData uri="http://schemas.openxmlformats.org/drawingml/2006/table">
            <a:tbl>
              <a:tblPr/>
              <a:tblGrid>
                <a:gridCol w="9964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24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10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10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684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49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87221"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O</a:t>
                      </a:r>
                      <a:endParaRPr lang="ko-KR" sz="1100" b="1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한글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영문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필수여부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I/O </a:t>
                      </a: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유형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초기값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관리자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ID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adminId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8"/>
                  </a:ext>
                </a:extLst>
              </a:tr>
            </a:tbl>
          </a:graphicData>
        </a:graphic>
      </p:graphicFrame>
      <p:sp>
        <p:nvSpPr>
          <p:cNvPr id="5" name="직사각형 6"/>
          <p:cNvSpPr/>
          <p:nvPr/>
        </p:nvSpPr>
        <p:spPr>
          <a:xfrm>
            <a:off x="425987" y="703729"/>
            <a:ext cx="138691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b="1">
                <a:latin typeface="맑은 고딕"/>
                <a:ea typeface="맑은 고딕"/>
              </a:rPr>
              <a:t>* </a:t>
            </a:r>
            <a:r>
              <a:rPr lang="ko-KR" altLang="ko-KR" b="1">
                <a:latin typeface="맑은 고딕"/>
                <a:ea typeface="맑은 고딕"/>
              </a:rPr>
              <a:t>화면입출력정보</a:t>
            </a:r>
          </a:p>
        </p:txBody>
      </p:sp>
      <p:sp>
        <p:nvSpPr>
          <p:cNvPr id="9" name="Rectangle 3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2pPr>
            <a:lvl3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3pPr>
            <a:lvl4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4pPr>
            <a:lvl5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sp>
        <p:nvSpPr>
          <p:cNvPr id="7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1.3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lang="ko-KR" altLang="en-US" sz="1800" b="1" kern="0" dirty="0" smtClean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관리자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xfrm>
            <a:off x="3872880" y="6671742"/>
            <a:ext cx="2063750" cy="213642"/>
          </a:xfrm>
        </p:spPr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33</a:t>
            </a:fld>
            <a:r>
              <a:rPr lang="en-US" altLang="ko-KR"/>
              <a:t> -</a:t>
            </a:r>
          </a:p>
        </p:txBody>
      </p:sp>
      <p:sp>
        <p:nvSpPr>
          <p:cNvPr id="3" name="Rectangle 94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graphicFrame>
        <p:nvGraphicFramePr>
          <p:cNvPr id="5" name="Group 3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0750037"/>
              </p:ext>
            </p:extLst>
          </p:nvPr>
        </p:nvGraphicFramePr>
        <p:xfrm>
          <a:off x="315913" y="747145"/>
          <a:ext cx="9272587" cy="5876622"/>
        </p:xfrm>
        <a:graphic>
          <a:graphicData uri="http://schemas.openxmlformats.org/drawingml/2006/table">
            <a:tbl>
              <a:tblPr/>
              <a:tblGrid>
                <a:gridCol w="96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718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6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36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752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7772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Level1</a:t>
                      </a:r>
                      <a:endParaRPr kumimoji="0" lang="en-US" altLang="ko-KR" sz="1000" b="1" i="0" u="none" strike="noStrike" cap="none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주류 유통 관리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Level2</a:t>
                      </a:r>
                      <a:endParaRPr kumimoji="0" lang="en-US" altLang="ko-KR" sz="1000" b="1" i="0" u="none" strike="noStrike" cap="none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0" fontAlgn="auto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관리자 화면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5151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</a:t>
                      </a:r>
                      <a:r>
                        <a:rPr kumimoji="0" lang="en-US" altLang="ko-KR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ID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latinLnBrk="1" hangingPunct="1">
                        <a:lnSpc>
                          <a:spcPct val="104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Font typeface="Wingdings"/>
                        <a:buNone/>
                        <a:defRPr/>
                      </a:pPr>
                      <a:r>
                        <a:rPr kumimoji="1" lang="en-US" altLang="ko-KR" sz="10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UI_PD4_017</a:t>
                      </a:r>
                      <a:endParaRPr kumimoji="1" lang="en-US" altLang="ko-KR" sz="1000" b="0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 상품관리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4756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화면개요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상품 관리 화면이다</a:t>
                      </a:r>
                      <a:r>
                        <a:rPr kumimoji="0" lang="en-US" altLang="ko-KR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  <a:endParaRPr kumimoji="0" lang="ko-KR" altLang="en-US" sz="1000" b="0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811">
                <a:tc rowSpan="2"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설명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31132">
                <a:tc gridSpan="4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marL="266700" marR="0" lvl="0" indent="-2667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66700" marR="0" lvl="0" indent="-2667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상품 등록 페이지로 이동한다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66700" marR="0" lvl="0" indent="-2667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수정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/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삭제가 가능하다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66700" marR="0" lvl="0" indent="-2667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endParaRPr kumimoji="0" lang="ko-KR" altLang="en-US" sz="1000" b="1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6295400" y="3859733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②</a:t>
            </a:r>
            <a:endParaRPr lang="ko-KR" altLang="en-US" sz="2000" dirty="0"/>
          </a:p>
        </p:txBody>
      </p:sp>
      <p:sp>
        <p:nvSpPr>
          <p:cNvPr id="23" name="직사각형 22"/>
          <p:cNvSpPr/>
          <p:nvPr/>
        </p:nvSpPr>
        <p:spPr>
          <a:xfrm>
            <a:off x="393066" y="2016782"/>
            <a:ext cx="1468735" cy="2880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>
                <a:solidFill>
                  <a:schemeClr val="tx1"/>
                </a:solidFill>
                <a:latin typeface="나눔바른고딕"/>
                <a:ea typeface="나눔바른고딕"/>
              </a:rPr>
              <a:t>상품 관리</a:t>
            </a:r>
          </a:p>
        </p:txBody>
      </p:sp>
      <p:cxnSp>
        <p:nvCxnSpPr>
          <p:cNvPr id="24" name="직선 연결선 23"/>
          <p:cNvCxnSpPr/>
          <p:nvPr/>
        </p:nvCxnSpPr>
        <p:spPr>
          <a:xfrm>
            <a:off x="344488" y="2388252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26" name="TextBox 25"/>
          <p:cNvSpPr txBox="1"/>
          <p:nvPr/>
        </p:nvSpPr>
        <p:spPr>
          <a:xfrm>
            <a:off x="357655" y="2408667"/>
            <a:ext cx="1296144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500">
                <a:latin typeface="나눔바른고딕"/>
                <a:ea typeface="나눔바른고딕"/>
              </a:rPr>
              <a:t>일반 상품 조회</a:t>
            </a:r>
          </a:p>
        </p:txBody>
      </p:sp>
      <p:sp>
        <p:nvSpPr>
          <p:cNvPr id="27" name="직사각형 26"/>
          <p:cNvSpPr/>
          <p:nvPr/>
        </p:nvSpPr>
        <p:spPr>
          <a:xfrm>
            <a:off x="393066" y="2739174"/>
            <a:ext cx="6691029" cy="585175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400">
              <a:solidFill>
                <a:schemeClr val="tx1"/>
              </a:solidFill>
              <a:latin typeface="나눔바른고딕"/>
              <a:ea typeface="나눔바른고딕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08366" y="2754762"/>
            <a:ext cx="64807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검색어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365" y="3018526"/>
            <a:ext cx="77107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카테고리</a:t>
            </a:r>
          </a:p>
        </p:txBody>
      </p:sp>
      <p:sp>
        <p:nvSpPr>
          <p:cNvPr id="30" name="직사각형 29"/>
          <p:cNvSpPr/>
          <p:nvPr/>
        </p:nvSpPr>
        <p:spPr>
          <a:xfrm>
            <a:off x="1056438" y="2770217"/>
            <a:ext cx="1260465" cy="24907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l">
              <a:defRPr/>
            </a:pPr>
            <a:r>
              <a:rPr lang="ko-KR" altLang="en-US">
                <a:solidFill>
                  <a:schemeClr val="tx1"/>
                </a:solidFill>
                <a:latin typeface="나눔바른고딕"/>
                <a:ea typeface="나눔바른고딕"/>
              </a:rPr>
              <a:t>전체</a:t>
            </a:r>
          </a:p>
        </p:txBody>
      </p:sp>
      <p:sp>
        <p:nvSpPr>
          <p:cNvPr id="31" name="이등변 삼각형 30"/>
          <p:cNvSpPr/>
          <p:nvPr/>
        </p:nvSpPr>
        <p:spPr>
          <a:xfrm rot="10800000">
            <a:off x="2061624" y="2815107"/>
            <a:ext cx="201360" cy="125265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non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endParaRPr kumimoji="0" lang="ko-KR" altLang="en-US" sz="12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sp>
        <p:nvSpPr>
          <p:cNvPr id="32" name="직사각형 31"/>
          <p:cNvSpPr/>
          <p:nvPr/>
        </p:nvSpPr>
        <p:spPr>
          <a:xfrm>
            <a:off x="1079616" y="3032485"/>
            <a:ext cx="982008" cy="24907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>
              <a:defRPr/>
            </a:pPr>
            <a:r>
              <a:rPr lang="en-US" altLang="ko-KR">
                <a:solidFill>
                  <a:schemeClr val="tx1"/>
                </a:solidFill>
                <a:latin typeface="나눔바른고딕"/>
                <a:ea typeface="나눔바른고딕"/>
              </a:rPr>
              <a:t>1</a:t>
            </a:r>
            <a:r>
              <a:rPr lang="ko-KR" altLang="en-US">
                <a:solidFill>
                  <a:schemeClr val="tx1"/>
                </a:solidFill>
                <a:latin typeface="나눔바른고딕"/>
                <a:ea typeface="나눔바른고딕"/>
              </a:rPr>
              <a:t>차 분류</a:t>
            </a:r>
          </a:p>
        </p:txBody>
      </p:sp>
      <p:sp>
        <p:nvSpPr>
          <p:cNvPr id="33" name="직사각형 32"/>
          <p:cNvSpPr/>
          <p:nvPr/>
        </p:nvSpPr>
        <p:spPr>
          <a:xfrm>
            <a:off x="2136052" y="3019296"/>
            <a:ext cx="1030590" cy="26304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>
              <a:defRPr/>
            </a:pPr>
            <a:r>
              <a:rPr lang="en-US" altLang="ko-KR">
                <a:solidFill>
                  <a:schemeClr val="tx1"/>
                </a:solidFill>
                <a:latin typeface="나눔바른고딕"/>
                <a:ea typeface="나눔바른고딕"/>
              </a:rPr>
              <a:t>2</a:t>
            </a:r>
            <a:r>
              <a:rPr lang="ko-KR" altLang="en-US">
                <a:solidFill>
                  <a:schemeClr val="tx1"/>
                </a:solidFill>
                <a:latin typeface="나눔바른고딕"/>
                <a:ea typeface="나눔바른고딕"/>
              </a:rPr>
              <a:t>차 부류</a:t>
            </a:r>
          </a:p>
        </p:txBody>
      </p:sp>
      <p:sp>
        <p:nvSpPr>
          <p:cNvPr id="34" name="직사각형 33"/>
          <p:cNvSpPr/>
          <p:nvPr/>
        </p:nvSpPr>
        <p:spPr>
          <a:xfrm>
            <a:off x="2719252" y="3410578"/>
            <a:ext cx="692435" cy="34583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>
                <a:solidFill>
                  <a:schemeClr val="tx1"/>
                </a:solidFill>
                <a:latin typeface="나눔바른고딕"/>
                <a:ea typeface="나눔바른고딕"/>
              </a:rPr>
              <a:t>검색</a:t>
            </a:r>
          </a:p>
        </p:txBody>
      </p:sp>
      <p:sp>
        <p:nvSpPr>
          <p:cNvPr id="35" name="직사각형 34"/>
          <p:cNvSpPr/>
          <p:nvPr/>
        </p:nvSpPr>
        <p:spPr>
          <a:xfrm>
            <a:off x="3569525" y="3410578"/>
            <a:ext cx="692435" cy="34583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>
                <a:solidFill>
                  <a:schemeClr val="tx1"/>
                </a:solidFill>
                <a:latin typeface="나눔바른고딕"/>
                <a:ea typeface="나눔바른고딕"/>
              </a:rPr>
              <a:t>초기화</a:t>
            </a:r>
          </a:p>
        </p:txBody>
      </p:sp>
      <p:sp>
        <p:nvSpPr>
          <p:cNvPr id="37" name="직사각형 36"/>
          <p:cNvSpPr/>
          <p:nvPr/>
        </p:nvSpPr>
        <p:spPr>
          <a:xfrm>
            <a:off x="6098060" y="2436228"/>
            <a:ext cx="936104" cy="29560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>
                <a:solidFill>
                  <a:schemeClr val="tx1"/>
                </a:solidFill>
                <a:latin typeface="나눔바른고딕"/>
                <a:ea typeface="나눔바른고딕"/>
              </a:rPr>
              <a:t>상품등록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393066" y="3850214"/>
            <a:ext cx="6691029" cy="1234968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400">
              <a:solidFill>
                <a:schemeClr val="tx1"/>
              </a:solidFill>
              <a:latin typeface="나눔바른고딕"/>
              <a:ea typeface="나눔바른고딕"/>
            </a:endParaRPr>
          </a:p>
        </p:txBody>
      </p:sp>
      <p:sp>
        <p:nvSpPr>
          <p:cNvPr id="40" name="사각형: 둥근 모서리 39"/>
          <p:cNvSpPr/>
          <p:nvPr/>
        </p:nvSpPr>
        <p:spPr>
          <a:xfrm>
            <a:off x="436203" y="3891946"/>
            <a:ext cx="147170" cy="137414"/>
          </a:xfrm>
          <a:prstGeom prst="roundRect">
            <a:avLst>
              <a:gd name="adj" fmla="val 16667"/>
            </a:avLst>
          </a:prstGeom>
          <a:noFill/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squar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endParaRPr kumimoji="0" lang="ko-KR" altLang="en-US" sz="10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cxnSp>
        <p:nvCxnSpPr>
          <p:cNvPr id="42" name="직선 연결선 41"/>
          <p:cNvCxnSpPr/>
          <p:nvPr/>
        </p:nvCxnSpPr>
        <p:spPr>
          <a:xfrm>
            <a:off x="393066" y="4103360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43" name="TextBox 42"/>
          <p:cNvSpPr txBox="1"/>
          <p:nvPr/>
        </p:nvSpPr>
        <p:spPr>
          <a:xfrm>
            <a:off x="640351" y="3826361"/>
            <a:ext cx="50851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번호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09503" y="3836095"/>
            <a:ext cx="6857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상품명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508755" y="3836095"/>
            <a:ext cx="6857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정가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096595" y="3848517"/>
            <a:ext cx="6857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판매가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9203" y="3848517"/>
            <a:ext cx="6857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재고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55249" y="3846263"/>
            <a:ext cx="6857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배송비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97438" y="3850213"/>
            <a:ext cx="6857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조회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30929" y="3862744"/>
            <a:ext cx="107401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등록일</a:t>
            </a:r>
            <a:r>
              <a:rPr lang="en-US" altLang="ko-KR">
                <a:latin typeface="나눔바른고딕"/>
                <a:ea typeface="나눔바른고딕"/>
              </a:rPr>
              <a:t>/</a:t>
            </a:r>
            <a:r>
              <a:rPr lang="ko-KR" altLang="en-US">
                <a:latin typeface="나눔바른고딕"/>
                <a:ea typeface="나눔바른고딕"/>
              </a:rPr>
              <a:t>수정일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84695" y="3850214"/>
            <a:ext cx="56949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관리</a:t>
            </a:r>
          </a:p>
        </p:txBody>
      </p:sp>
      <p:sp>
        <p:nvSpPr>
          <p:cNvPr id="52" name="사각형: 둥근 모서리 51"/>
          <p:cNvSpPr/>
          <p:nvPr/>
        </p:nvSpPr>
        <p:spPr>
          <a:xfrm>
            <a:off x="6534692" y="4138059"/>
            <a:ext cx="463668" cy="274828"/>
          </a:xfrm>
          <a:prstGeom prst="roundRect">
            <a:avLst>
              <a:gd name="adj" fmla="val 16667"/>
            </a:avLst>
          </a:prstGeom>
          <a:noFill/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non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r>
              <a:rPr lang="ko-KR" altLang="en-US" sz="1000"/>
              <a:t>수정</a:t>
            </a:r>
            <a:endParaRPr kumimoji="0" lang="ko-KR" altLang="en-US" sz="10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5219005" y="4145405"/>
            <a:ext cx="12961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000">
                <a:latin typeface="나눔바른고딕"/>
                <a:ea typeface="나눔바른고딕"/>
              </a:rPr>
              <a:t>2022-06-30 02:33</a:t>
            </a:r>
            <a:endParaRPr lang="ko-KR" altLang="en-US" sz="1000">
              <a:latin typeface="나눔바른고딕"/>
              <a:ea typeface="나눔바른고딕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940973" y="4134037"/>
            <a:ext cx="37197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000">
                <a:latin typeface="나눔바른고딕"/>
                <a:ea typeface="나눔바른고딕"/>
              </a:rPr>
              <a:t>0</a:t>
            </a:r>
            <a:endParaRPr lang="ko-KR" altLang="en-US" sz="1000">
              <a:latin typeface="나눔바른고딕"/>
              <a:ea typeface="나눔바른고딕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4259448" y="4134037"/>
            <a:ext cx="68572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000">
                <a:latin typeface="나눔바른고딕"/>
                <a:ea typeface="나눔바른고딕"/>
              </a:rPr>
              <a:t>3,500</a:t>
            </a:r>
            <a:endParaRPr lang="ko-KR" altLang="en-US" sz="1000">
              <a:latin typeface="나눔바른고딕"/>
              <a:ea typeface="나눔바른고딕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3836845" y="4122417"/>
            <a:ext cx="38048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000">
                <a:latin typeface="나눔바른고딕"/>
                <a:ea typeface="나눔바른고딕"/>
              </a:rPr>
              <a:t>[0]</a:t>
            </a:r>
            <a:endParaRPr lang="ko-KR" altLang="en-US" sz="1000">
              <a:latin typeface="나눔바른고딕"/>
              <a:ea typeface="나눔바른고딕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3163741" y="4134036"/>
            <a:ext cx="60575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000">
                <a:latin typeface="나눔바른고딕"/>
                <a:ea typeface="나눔바른고딕"/>
              </a:rPr>
              <a:t>1,730</a:t>
            </a:r>
            <a:endParaRPr lang="ko-KR" altLang="en-US" sz="1000">
              <a:latin typeface="나눔바른고딕"/>
              <a:ea typeface="나눔바른고딕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2548739" y="4134036"/>
            <a:ext cx="60575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000">
                <a:latin typeface="나눔바른고딕"/>
                <a:ea typeface="나눔바른고딕"/>
              </a:rPr>
              <a:t>1,730</a:t>
            </a:r>
            <a:endParaRPr lang="ko-KR" altLang="en-US" sz="1000">
              <a:latin typeface="나눔바른고딕"/>
              <a:ea typeface="나눔바른고딕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1252356" y="4152362"/>
            <a:ext cx="100001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000">
                <a:latin typeface="나눔바른고딕"/>
                <a:ea typeface="나눔바른고딕"/>
              </a:rPr>
              <a:t>서울</a:t>
            </a:r>
            <a:r>
              <a:rPr lang="en-US" altLang="ko-KR" sz="1000">
                <a:latin typeface="나눔바른고딕"/>
                <a:ea typeface="나눔바른고딕"/>
              </a:rPr>
              <a:t>) </a:t>
            </a:r>
            <a:r>
              <a:rPr lang="ko-KR" altLang="en-US" sz="1000">
                <a:latin typeface="나눔바른고딕"/>
                <a:ea typeface="나눔바른고딕"/>
              </a:rPr>
              <a:t>참이슬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04366" y="4122417"/>
            <a:ext cx="38048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000">
                <a:latin typeface="나눔바른고딕"/>
                <a:ea typeface="나눔바른고딕"/>
              </a:rPr>
              <a:t>1</a:t>
            </a:r>
            <a:endParaRPr lang="ko-KR" altLang="en-US" sz="1000">
              <a:latin typeface="나눔바른고딕"/>
              <a:ea typeface="나눔바른고딕"/>
            </a:endParaRPr>
          </a:p>
        </p:txBody>
      </p:sp>
      <p:sp>
        <p:nvSpPr>
          <p:cNvPr id="63" name="사각형: 둥근 모서리 62"/>
          <p:cNvSpPr/>
          <p:nvPr/>
        </p:nvSpPr>
        <p:spPr>
          <a:xfrm>
            <a:off x="451443" y="4158646"/>
            <a:ext cx="147170" cy="137414"/>
          </a:xfrm>
          <a:prstGeom prst="roundRect">
            <a:avLst>
              <a:gd name="adj" fmla="val 16667"/>
            </a:avLst>
          </a:prstGeom>
          <a:noFill/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squar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endParaRPr kumimoji="0" lang="ko-KR" altLang="en-US" sz="10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cxnSp>
        <p:nvCxnSpPr>
          <p:cNvPr id="64" name="직선 연결선 63"/>
          <p:cNvCxnSpPr/>
          <p:nvPr/>
        </p:nvCxnSpPr>
        <p:spPr>
          <a:xfrm>
            <a:off x="436203" y="4391626"/>
            <a:ext cx="6647892" cy="21261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cxnSp>
        <p:nvCxnSpPr>
          <p:cNvPr id="65" name="직선 연결선 64"/>
          <p:cNvCxnSpPr/>
          <p:nvPr/>
        </p:nvCxnSpPr>
        <p:spPr>
          <a:xfrm>
            <a:off x="408366" y="4755853"/>
            <a:ext cx="6675729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21521969-2C86-006B-C297-FC88D9BDA30C}"/>
              </a:ext>
            </a:extLst>
          </p:cNvPr>
          <p:cNvSpPr txBox="1"/>
          <p:nvPr/>
        </p:nvSpPr>
        <p:spPr>
          <a:xfrm>
            <a:off x="5860901" y="2323818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①</a:t>
            </a:r>
            <a:endParaRPr lang="ko-KR" altLang="en-US" sz="2000" dirty="0"/>
          </a:p>
        </p:txBody>
      </p:sp>
      <p:sp>
        <p:nvSpPr>
          <p:cNvPr id="54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1.3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lang="ko-KR" altLang="en-US" sz="1800" b="1" kern="0" dirty="0" smtClean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관리자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34</a:t>
            </a:fld>
            <a:r>
              <a:rPr lang="en-US" altLang="ko-KR"/>
              <a:t> -</a:t>
            </a:r>
          </a:p>
        </p:txBody>
      </p:sp>
      <p:graphicFrame>
        <p:nvGraphicFramePr>
          <p:cNvPr id="3" name="표 4"/>
          <p:cNvGraphicFramePr>
            <a:graphicFrameLocks noGrp="1"/>
          </p:cNvGraphicFramePr>
          <p:nvPr/>
        </p:nvGraphicFramePr>
        <p:xfrm>
          <a:off x="560511" y="1052738"/>
          <a:ext cx="8928992" cy="5429409"/>
        </p:xfrm>
        <a:graphic>
          <a:graphicData uri="http://schemas.openxmlformats.org/drawingml/2006/table">
            <a:tbl>
              <a:tblPr/>
              <a:tblGrid>
                <a:gridCol w="9964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24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10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10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684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49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87221"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alt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I/</a:t>
                      </a: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O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한글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영문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필수여부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I/O </a:t>
                      </a: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유형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초기값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상품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ID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productId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상품명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productName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단가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unitcost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금액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price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재고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stock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배송비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deliveryCost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등록일자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regDate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8"/>
                  </a:ext>
                </a:extLst>
              </a:tr>
            </a:tbl>
          </a:graphicData>
        </a:graphic>
      </p:graphicFrame>
      <p:sp>
        <p:nvSpPr>
          <p:cNvPr id="5" name="직사각형 6"/>
          <p:cNvSpPr/>
          <p:nvPr/>
        </p:nvSpPr>
        <p:spPr>
          <a:xfrm>
            <a:off x="425987" y="703729"/>
            <a:ext cx="138691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b="1">
                <a:latin typeface="맑은 고딕"/>
                <a:ea typeface="맑은 고딕"/>
              </a:rPr>
              <a:t>* </a:t>
            </a:r>
            <a:r>
              <a:rPr lang="ko-KR" altLang="ko-KR" b="1">
                <a:latin typeface="맑은 고딕"/>
                <a:ea typeface="맑은 고딕"/>
              </a:rPr>
              <a:t>화면입출력정보</a:t>
            </a:r>
          </a:p>
        </p:txBody>
      </p:sp>
      <p:sp>
        <p:nvSpPr>
          <p:cNvPr id="9" name="Rectangle 3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2pPr>
            <a:lvl3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3pPr>
            <a:lvl4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4pPr>
            <a:lvl5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sp>
        <p:nvSpPr>
          <p:cNvPr id="7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1.3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lang="ko-KR" altLang="en-US" sz="1800" b="1" kern="0" dirty="0" smtClean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관리자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xfrm>
            <a:off x="3872880" y="6671742"/>
            <a:ext cx="2063750" cy="213642"/>
          </a:xfrm>
        </p:spPr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35</a:t>
            </a:fld>
            <a:r>
              <a:rPr lang="en-US" altLang="ko-KR"/>
              <a:t> -</a:t>
            </a:r>
          </a:p>
        </p:txBody>
      </p:sp>
      <p:sp>
        <p:nvSpPr>
          <p:cNvPr id="3" name="Rectangle 94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graphicFrame>
        <p:nvGraphicFramePr>
          <p:cNvPr id="5" name="Group 3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707344"/>
              </p:ext>
            </p:extLst>
          </p:nvPr>
        </p:nvGraphicFramePr>
        <p:xfrm>
          <a:off x="315913" y="747145"/>
          <a:ext cx="9272587" cy="5876622"/>
        </p:xfrm>
        <a:graphic>
          <a:graphicData uri="http://schemas.openxmlformats.org/drawingml/2006/table">
            <a:tbl>
              <a:tblPr/>
              <a:tblGrid>
                <a:gridCol w="96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718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6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36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752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7772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Level1</a:t>
                      </a:r>
                      <a:endParaRPr kumimoji="0" lang="en-US" altLang="ko-KR" sz="1000" b="1" i="0" u="none" strike="noStrike" cap="none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주류 유통 관리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Level2</a:t>
                      </a:r>
                      <a:endParaRPr kumimoji="0" lang="en-US" altLang="ko-KR" sz="1000" b="1" i="0" u="none" strike="noStrike" cap="none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0" fontAlgn="auto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관리자 화면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5151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</a:t>
                      </a:r>
                      <a:r>
                        <a:rPr kumimoji="0" lang="en-US" altLang="ko-KR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ID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latinLnBrk="1" hangingPunct="1">
                        <a:lnSpc>
                          <a:spcPct val="104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Font typeface="Wingdings"/>
                        <a:buNone/>
                        <a:defRPr/>
                      </a:pPr>
                      <a:r>
                        <a:rPr kumimoji="1" lang="en-US" altLang="ko-KR" sz="10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UI_PD4_018</a:t>
                      </a:r>
                      <a:endParaRPr kumimoji="1" lang="en-US" altLang="ko-KR" sz="1000" b="0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재고 관리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4756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화면개요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재고 관리 화면이다</a:t>
                      </a:r>
                      <a:r>
                        <a:rPr kumimoji="0" lang="en-US" altLang="ko-KR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  <a:endParaRPr kumimoji="0" lang="ko-KR" altLang="en-US" sz="1000" b="0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811">
                <a:tc rowSpan="2"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설명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31132">
                <a:tc gridSpan="4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marL="266700" marR="0" lvl="0" indent="-2667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66700" marR="0" lvl="0" indent="-2667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선택한 상품의 발주가 가능하다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 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발주 페이지로 넘어간다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  <a:endParaRPr kumimoji="0" lang="ko-KR" altLang="en-US" sz="1000" b="1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5126958" y="5049791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①</a:t>
            </a:r>
            <a:endParaRPr lang="ko-KR" altLang="en-US" sz="2000" dirty="0"/>
          </a:p>
        </p:txBody>
      </p:sp>
      <p:sp>
        <p:nvSpPr>
          <p:cNvPr id="23" name="직사각형 22"/>
          <p:cNvSpPr/>
          <p:nvPr/>
        </p:nvSpPr>
        <p:spPr>
          <a:xfrm>
            <a:off x="393066" y="2016782"/>
            <a:ext cx="1468735" cy="2880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>
                <a:solidFill>
                  <a:schemeClr val="tx1"/>
                </a:solidFill>
                <a:latin typeface="나눔바른고딕"/>
                <a:ea typeface="나눔바른고딕"/>
              </a:rPr>
              <a:t>재고 관리</a:t>
            </a:r>
          </a:p>
        </p:txBody>
      </p:sp>
      <p:cxnSp>
        <p:nvCxnSpPr>
          <p:cNvPr id="24" name="직선 연결선 23"/>
          <p:cNvCxnSpPr/>
          <p:nvPr/>
        </p:nvCxnSpPr>
        <p:spPr>
          <a:xfrm>
            <a:off x="344488" y="2388252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26" name="TextBox 25"/>
          <p:cNvSpPr txBox="1"/>
          <p:nvPr/>
        </p:nvSpPr>
        <p:spPr>
          <a:xfrm>
            <a:off x="357655" y="2408667"/>
            <a:ext cx="1737572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500">
                <a:latin typeface="나눔바른고딕"/>
                <a:ea typeface="나눔바른고딕"/>
              </a:rPr>
              <a:t>일반 상품 재고 조회</a:t>
            </a:r>
          </a:p>
        </p:txBody>
      </p:sp>
      <p:sp>
        <p:nvSpPr>
          <p:cNvPr id="27" name="직사각형 26"/>
          <p:cNvSpPr/>
          <p:nvPr/>
        </p:nvSpPr>
        <p:spPr>
          <a:xfrm>
            <a:off x="393066" y="2739174"/>
            <a:ext cx="6691029" cy="585175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400">
              <a:solidFill>
                <a:schemeClr val="tx1"/>
              </a:solidFill>
              <a:latin typeface="나눔바른고딕"/>
              <a:ea typeface="나눔바른고딕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408366" y="2754762"/>
            <a:ext cx="64807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검색어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365" y="3018526"/>
            <a:ext cx="77107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카테고리</a:t>
            </a:r>
          </a:p>
        </p:txBody>
      </p:sp>
      <p:sp>
        <p:nvSpPr>
          <p:cNvPr id="30" name="직사각형 29"/>
          <p:cNvSpPr/>
          <p:nvPr/>
        </p:nvSpPr>
        <p:spPr>
          <a:xfrm>
            <a:off x="1056438" y="2770217"/>
            <a:ext cx="1260465" cy="24907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l">
              <a:defRPr/>
            </a:pPr>
            <a:r>
              <a:rPr lang="ko-KR" altLang="en-US">
                <a:solidFill>
                  <a:schemeClr val="tx1"/>
                </a:solidFill>
                <a:latin typeface="나눔바른고딕"/>
                <a:ea typeface="나눔바른고딕"/>
              </a:rPr>
              <a:t>전체</a:t>
            </a:r>
          </a:p>
        </p:txBody>
      </p:sp>
      <p:sp>
        <p:nvSpPr>
          <p:cNvPr id="31" name="이등변 삼각형 30"/>
          <p:cNvSpPr/>
          <p:nvPr/>
        </p:nvSpPr>
        <p:spPr>
          <a:xfrm rot="10800000">
            <a:off x="2061624" y="2815107"/>
            <a:ext cx="201360" cy="125265"/>
          </a:xfrm>
          <a:prstGeom prst="triangle">
            <a:avLst>
              <a:gd name="adj" fmla="val 50000"/>
            </a:avLst>
          </a:prstGeom>
          <a:solidFill>
            <a:schemeClr val="tx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non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endParaRPr kumimoji="0" lang="ko-KR" altLang="en-US" sz="12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sp>
        <p:nvSpPr>
          <p:cNvPr id="32" name="직사각형 31"/>
          <p:cNvSpPr/>
          <p:nvPr/>
        </p:nvSpPr>
        <p:spPr>
          <a:xfrm>
            <a:off x="1079616" y="3032485"/>
            <a:ext cx="982008" cy="249079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>
              <a:defRPr/>
            </a:pPr>
            <a:r>
              <a:rPr lang="en-US" altLang="ko-KR">
                <a:solidFill>
                  <a:schemeClr val="tx1"/>
                </a:solidFill>
                <a:latin typeface="나눔바른고딕"/>
                <a:ea typeface="나눔바른고딕"/>
              </a:rPr>
              <a:t>1</a:t>
            </a:r>
            <a:r>
              <a:rPr lang="ko-KR" altLang="en-US">
                <a:solidFill>
                  <a:schemeClr val="tx1"/>
                </a:solidFill>
                <a:latin typeface="나눔바른고딕"/>
                <a:ea typeface="나눔바른고딕"/>
              </a:rPr>
              <a:t>차 분류</a:t>
            </a:r>
          </a:p>
        </p:txBody>
      </p:sp>
      <p:sp>
        <p:nvSpPr>
          <p:cNvPr id="33" name="직사각형 32"/>
          <p:cNvSpPr/>
          <p:nvPr/>
        </p:nvSpPr>
        <p:spPr>
          <a:xfrm>
            <a:off x="2136052" y="3019296"/>
            <a:ext cx="1030590" cy="26304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>
              <a:defRPr/>
            </a:pPr>
            <a:r>
              <a:rPr lang="en-US" altLang="ko-KR">
                <a:solidFill>
                  <a:schemeClr val="tx1"/>
                </a:solidFill>
                <a:latin typeface="나눔바른고딕"/>
                <a:ea typeface="나눔바른고딕"/>
              </a:rPr>
              <a:t>2</a:t>
            </a:r>
            <a:r>
              <a:rPr lang="ko-KR" altLang="en-US">
                <a:solidFill>
                  <a:schemeClr val="tx1"/>
                </a:solidFill>
                <a:latin typeface="나눔바른고딕"/>
                <a:ea typeface="나눔바른고딕"/>
              </a:rPr>
              <a:t>차 부류</a:t>
            </a:r>
          </a:p>
        </p:txBody>
      </p:sp>
      <p:sp>
        <p:nvSpPr>
          <p:cNvPr id="34" name="직사각형 33"/>
          <p:cNvSpPr/>
          <p:nvPr/>
        </p:nvSpPr>
        <p:spPr>
          <a:xfrm>
            <a:off x="2719252" y="3410578"/>
            <a:ext cx="692435" cy="34583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>
                <a:solidFill>
                  <a:schemeClr val="tx1"/>
                </a:solidFill>
                <a:latin typeface="나눔바른고딕"/>
                <a:ea typeface="나눔바른고딕"/>
              </a:rPr>
              <a:t>검색</a:t>
            </a:r>
          </a:p>
        </p:txBody>
      </p:sp>
      <p:sp>
        <p:nvSpPr>
          <p:cNvPr id="35" name="직사각형 34"/>
          <p:cNvSpPr/>
          <p:nvPr/>
        </p:nvSpPr>
        <p:spPr>
          <a:xfrm>
            <a:off x="3569525" y="3410578"/>
            <a:ext cx="692435" cy="34583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>
                <a:solidFill>
                  <a:schemeClr val="tx1"/>
                </a:solidFill>
                <a:latin typeface="나눔바른고딕"/>
                <a:ea typeface="나눔바른고딕"/>
              </a:rPr>
              <a:t>초기화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393066" y="3850214"/>
            <a:ext cx="6691029" cy="1234968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400">
              <a:solidFill>
                <a:schemeClr val="tx1"/>
              </a:solidFill>
              <a:latin typeface="나눔바른고딕"/>
              <a:ea typeface="나눔바른고딕"/>
            </a:endParaRPr>
          </a:p>
        </p:txBody>
      </p:sp>
      <p:sp>
        <p:nvSpPr>
          <p:cNvPr id="40" name="사각형: 둥근 모서리 39"/>
          <p:cNvSpPr/>
          <p:nvPr/>
        </p:nvSpPr>
        <p:spPr>
          <a:xfrm>
            <a:off x="436203" y="3891946"/>
            <a:ext cx="147170" cy="137414"/>
          </a:xfrm>
          <a:prstGeom prst="roundRect">
            <a:avLst>
              <a:gd name="adj" fmla="val 16667"/>
            </a:avLst>
          </a:prstGeom>
          <a:noFill/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squar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endParaRPr kumimoji="0" lang="ko-KR" altLang="en-US" sz="10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cxnSp>
        <p:nvCxnSpPr>
          <p:cNvPr id="42" name="직선 연결선 41"/>
          <p:cNvCxnSpPr/>
          <p:nvPr/>
        </p:nvCxnSpPr>
        <p:spPr>
          <a:xfrm>
            <a:off x="393066" y="4103360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43" name="TextBox 42"/>
          <p:cNvSpPr txBox="1"/>
          <p:nvPr/>
        </p:nvSpPr>
        <p:spPr>
          <a:xfrm>
            <a:off x="640351" y="3826361"/>
            <a:ext cx="50851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번호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409503" y="3836095"/>
            <a:ext cx="6857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상품명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508755" y="3836095"/>
            <a:ext cx="6857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정가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096595" y="3848517"/>
            <a:ext cx="6857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판매가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659203" y="3848517"/>
            <a:ext cx="6857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재고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55249" y="3846263"/>
            <a:ext cx="6857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배송비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97438" y="3850213"/>
            <a:ext cx="6857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조회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30929" y="3862744"/>
            <a:ext cx="107401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등록일</a:t>
            </a:r>
            <a:r>
              <a:rPr lang="en-US" altLang="ko-KR">
                <a:latin typeface="나눔바른고딕"/>
                <a:ea typeface="나눔바른고딕"/>
              </a:rPr>
              <a:t>/</a:t>
            </a:r>
            <a:r>
              <a:rPr lang="ko-KR" altLang="en-US">
                <a:latin typeface="나눔바른고딕"/>
                <a:ea typeface="나눔바른고딕"/>
              </a:rPr>
              <a:t>수정일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84695" y="3850214"/>
            <a:ext cx="56949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관리</a:t>
            </a:r>
          </a:p>
        </p:txBody>
      </p:sp>
      <p:sp>
        <p:nvSpPr>
          <p:cNvPr id="52" name="사각형: 둥근 모서리 51"/>
          <p:cNvSpPr/>
          <p:nvPr/>
        </p:nvSpPr>
        <p:spPr>
          <a:xfrm>
            <a:off x="6534692" y="4138059"/>
            <a:ext cx="463668" cy="274828"/>
          </a:xfrm>
          <a:prstGeom prst="roundRect">
            <a:avLst>
              <a:gd name="adj" fmla="val 16667"/>
            </a:avLst>
          </a:prstGeom>
          <a:noFill/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non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r>
              <a:rPr lang="ko-KR" altLang="en-US" sz="1000"/>
              <a:t>수정</a:t>
            </a:r>
            <a:endParaRPr kumimoji="0" lang="ko-KR" altLang="en-US" sz="10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sp>
        <p:nvSpPr>
          <p:cNvPr id="55" name="TextBox 54"/>
          <p:cNvSpPr txBox="1"/>
          <p:nvPr/>
        </p:nvSpPr>
        <p:spPr>
          <a:xfrm>
            <a:off x="5219005" y="4145405"/>
            <a:ext cx="1296144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000">
                <a:latin typeface="나눔바른고딕"/>
                <a:ea typeface="나눔바른고딕"/>
              </a:rPr>
              <a:t>2022-06-30 02:33</a:t>
            </a:r>
            <a:endParaRPr lang="ko-KR" altLang="en-US" sz="1000">
              <a:latin typeface="나눔바른고딕"/>
              <a:ea typeface="나눔바른고딕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4940973" y="4134037"/>
            <a:ext cx="37197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000">
                <a:latin typeface="나눔바른고딕"/>
                <a:ea typeface="나눔바른고딕"/>
              </a:rPr>
              <a:t>0</a:t>
            </a:r>
            <a:endParaRPr lang="ko-KR" altLang="en-US" sz="1000">
              <a:latin typeface="나눔바른고딕"/>
              <a:ea typeface="나눔바른고딕"/>
            </a:endParaRPr>
          </a:p>
        </p:txBody>
      </p:sp>
      <p:sp>
        <p:nvSpPr>
          <p:cNvPr id="57" name="TextBox 56"/>
          <p:cNvSpPr txBox="1"/>
          <p:nvPr/>
        </p:nvSpPr>
        <p:spPr>
          <a:xfrm>
            <a:off x="4259448" y="4134037"/>
            <a:ext cx="68572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000">
                <a:latin typeface="나눔바른고딕"/>
                <a:ea typeface="나눔바른고딕"/>
              </a:rPr>
              <a:t>3,500</a:t>
            </a:r>
            <a:endParaRPr lang="ko-KR" altLang="en-US" sz="1000">
              <a:latin typeface="나눔바른고딕"/>
              <a:ea typeface="나눔바른고딕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3836845" y="4122417"/>
            <a:ext cx="38048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000">
                <a:latin typeface="나눔바른고딕"/>
                <a:ea typeface="나눔바른고딕"/>
              </a:rPr>
              <a:t>[0]</a:t>
            </a:r>
            <a:endParaRPr lang="ko-KR" altLang="en-US" sz="1000">
              <a:latin typeface="나눔바른고딕"/>
              <a:ea typeface="나눔바른고딕"/>
            </a:endParaRPr>
          </a:p>
        </p:txBody>
      </p:sp>
      <p:sp>
        <p:nvSpPr>
          <p:cNvPr id="59" name="TextBox 58"/>
          <p:cNvSpPr txBox="1"/>
          <p:nvPr/>
        </p:nvSpPr>
        <p:spPr>
          <a:xfrm>
            <a:off x="3163741" y="4134036"/>
            <a:ext cx="60575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000">
                <a:latin typeface="나눔바른고딕"/>
                <a:ea typeface="나눔바른고딕"/>
              </a:rPr>
              <a:t>1,730</a:t>
            </a:r>
            <a:endParaRPr lang="ko-KR" altLang="en-US" sz="1000">
              <a:latin typeface="나눔바른고딕"/>
              <a:ea typeface="나눔바른고딕"/>
            </a:endParaRPr>
          </a:p>
        </p:txBody>
      </p:sp>
      <p:sp>
        <p:nvSpPr>
          <p:cNvPr id="60" name="TextBox 59"/>
          <p:cNvSpPr txBox="1"/>
          <p:nvPr/>
        </p:nvSpPr>
        <p:spPr>
          <a:xfrm>
            <a:off x="2548739" y="4134036"/>
            <a:ext cx="60575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000">
                <a:latin typeface="나눔바른고딕"/>
                <a:ea typeface="나눔바른고딕"/>
              </a:rPr>
              <a:t>1,730</a:t>
            </a:r>
            <a:endParaRPr lang="ko-KR" altLang="en-US" sz="1000">
              <a:latin typeface="나눔바른고딕"/>
              <a:ea typeface="나눔바른고딕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1252356" y="4152362"/>
            <a:ext cx="100001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000">
                <a:latin typeface="나눔바른고딕"/>
                <a:ea typeface="나눔바른고딕"/>
              </a:rPr>
              <a:t>서울</a:t>
            </a:r>
            <a:r>
              <a:rPr lang="en-US" altLang="ko-KR" sz="1000">
                <a:latin typeface="나눔바른고딕"/>
                <a:ea typeface="나눔바른고딕"/>
              </a:rPr>
              <a:t>) </a:t>
            </a:r>
            <a:r>
              <a:rPr lang="ko-KR" altLang="en-US" sz="1000">
                <a:latin typeface="나눔바른고딕"/>
                <a:ea typeface="나눔바른고딕"/>
              </a:rPr>
              <a:t>참이슬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04366" y="4122417"/>
            <a:ext cx="38048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000">
                <a:latin typeface="나눔바른고딕"/>
                <a:ea typeface="나눔바른고딕"/>
              </a:rPr>
              <a:t>1</a:t>
            </a:r>
            <a:endParaRPr lang="ko-KR" altLang="en-US" sz="1000">
              <a:latin typeface="나눔바른고딕"/>
              <a:ea typeface="나눔바른고딕"/>
            </a:endParaRPr>
          </a:p>
        </p:txBody>
      </p:sp>
      <p:sp>
        <p:nvSpPr>
          <p:cNvPr id="63" name="사각형: 둥근 모서리 62"/>
          <p:cNvSpPr/>
          <p:nvPr/>
        </p:nvSpPr>
        <p:spPr>
          <a:xfrm>
            <a:off x="451443" y="4158646"/>
            <a:ext cx="147170" cy="137414"/>
          </a:xfrm>
          <a:prstGeom prst="roundRect">
            <a:avLst>
              <a:gd name="adj" fmla="val 16667"/>
            </a:avLst>
          </a:prstGeom>
          <a:noFill/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squar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endParaRPr kumimoji="0" lang="ko-KR" altLang="en-US" sz="10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cxnSp>
        <p:nvCxnSpPr>
          <p:cNvPr id="64" name="직선 연결선 63"/>
          <p:cNvCxnSpPr/>
          <p:nvPr/>
        </p:nvCxnSpPr>
        <p:spPr>
          <a:xfrm>
            <a:off x="436203" y="4391626"/>
            <a:ext cx="6647892" cy="21261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cxnSp>
        <p:nvCxnSpPr>
          <p:cNvPr id="65" name="직선 연결선 64"/>
          <p:cNvCxnSpPr/>
          <p:nvPr/>
        </p:nvCxnSpPr>
        <p:spPr>
          <a:xfrm>
            <a:off x="408366" y="4755853"/>
            <a:ext cx="6675729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66" name="직사각형 65"/>
          <p:cNvSpPr/>
          <p:nvPr/>
        </p:nvSpPr>
        <p:spPr>
          <a:xfrm>
            <a:off x="5412321" y="5153662"/>
            <a:ext cx="1628911" cy="3693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>
                <a:solidFill>
                  <a:schemeClr val="tx1"/>
                </a:solidFill>
                <a:latin typeface="나눔바른고딕"/>
                <a:ea typeface="나눔바른고딕"/>
              </a:rPr>
              <a:t>발주하기</a:t>
            </a:r>
          </a:p>
        </p:txBody>
      </p:sp>
      <p:sp>
        <p:nvSpPr>
          <p:cNvPr id="53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1.3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lang="ko-KR" altLang="en-US" sz="1800" b="1" kern="0" dirty="0" smtClean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관리자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36</a:t>
            </a:fld>
            <a:r>
              <a:rPr lang="en-US" altLang="ko-KR"/>
              <a:t> -</a:t>
            </a:r>
          </a:p>
        </p:txBody>
      </p:sp>
      <p:graphicFrame>
        <p:nvGraphicFramePr>
          <p:cNvPr id="3" name="표 4"/>
          <p:cNvGraphicFramePr>
            <a:graphicFrameLocks noGrp="1"/>
          </p:cNvGraphicFramePr>
          <p:nvPr/>
        </p:nvGraphicFramePr>
        <p:xfrm>
          <a:off x="560511" y="1052738"/>
          <a:ext cx="8928992" cy="5429409"/>
        </p:xfrm>
        <a:graphic>
          <a:graphicData uri="http://schemas.openxmlformats.org/drawingml/2006/table">
            <a:tbl>
              <a:tblPr/>
              <a:tblGrid>
                <a:gridCol w="9964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24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10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10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684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49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87221"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alt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I/</a:t>
                      </a: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O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한글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영문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필수여부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I/O </a:t>
                      </a: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유형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초기값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상품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ID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productId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상품명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productName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단가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unitcost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금액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price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재고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stock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배송비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deliveryCost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등록일자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regDate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8"/>
                  </a:ext>
                </a:extLst>
              </a:tr>
            </a:tbl>
          </a:graphicData>
        </a:graphic>
      </p:graphicFrame>
      <p:sp>
        <p:nvSpPr>
          <p:cNvPr id="5" name="직사각형 6"/>
          <p:cNvSpPr/>
          <p:nvPr/>
        </p:nvSpPr>
        <p:spPr>
          <a:xfrm>
            <a:off x="425987" y="703729"/>
            <a:ext cx="138691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b="1">
                <a:latin typeface="맑은 고딕"/>
                <a:ea typeface="맑은 고딕"/>
              </a:rPr>
              <a:t>* </a:t>
            </a:r>
            <a:r>
              <a:rPr lang="ko-KR" altLang="ko-KR" b="1">
                <a:latin typeface="맑은 고딕"/>
                <a:ea typeface="맑은 고딕"/>
              </a:rPr>
              <a:t>화면입출력정보</a:t>
            </a:r>
          </a:p>
        </p:txBody>
      </p:sp>
      <p:sp>
        <p:nvSpPr>
          <p:cNvPr id="9" name="Rectangle 3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2pPr>
            <a:lvl3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3pPr>
            <a:lvl4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4pPr>
            <a:lvl5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sp>
        <p:nvSpPr>
          <p:cNvPr id="7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1.3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lang="ko-KR" altLang="en-US" sz="1800" b="1" kern="0" dirty="0" smtClean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관리자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xfrm>
            <a:off x="3841086" y="6272766"/>
            <a:ext cx="2063750" cy="213642"/>
          </a:xfrm>
        </p:spPr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37</a:t>
            </a:fld>
            <a:r>
              <a:rPr lang="en-US" altLang="ko-KR"/>
              <a:t> -</a:t>
            </a:r>
          </a:p>
        </p:txBody>
      </p:sp>
      <p:sp>
        <p:nvSpPr>
          <p:cNvPr id="3" name="Rectangle 94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graphicFrame>
        <p:nvGraphicFramePr>
          <p:cNvPr id="5" name="Group 3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0048001"/>
              </p:ext>
            </p:extLst>
          </p:nvPr>
        </p:nvGraphicFramePr>
        <p:xfrm>
          <a:off x="315913" y="747145"/>
          <a:ext cx="9272587" cy="5876622"/>
        </p:xfrm>
        <a:graphic>
          <a:graphicData uri="http://schemas.openxmlformats.org/drawingml/2006/table">
            <a:tbl>
              <a:tblPr/>
              <a:tblGrid>
                <a:gridCol w="96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718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6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36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752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7772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Level1</a:t>
                      </a:r>
                      <a:endParaRPr kumimoji="0" lang="en-US" altLang="ko-KR" sz="1000" b="1" i="0" u="none" strike="noStrike" cap="none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주류 유통 관리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Level2</a:t>
                      </a:r>
                      <a:endParaRPr kumimoji="0" lang="en-US" altLang="ko-KR" sz="1000" b="1" i="0" u="none" strike="noStrike" cap="none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0" fontAlgn="auto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관리자 화면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5151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</a:t>
                      </a:r>
                      <a:r>
                        <a:rPr kumimoji="0" lang="en-US" altLang="ko-KR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ID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latinLnBrk="1" hangingPunct="1">
                        <a:lnSpc>
                          <a:spcPct val="104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Font typeface="Wingdings"/>
                        <a:buNone/>
                        <a:defRPr/>
                      </a:pPr>
                      <a:r>
                        <a:rPr kumimoji="1" lang="en-US" altLang="ko-KR" sz="10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UI_PD4_019</a:t>
                      </a:r>
                      <a:endParaRPr kumimoji="1" lang="en-US" altLang="ko-KR" sz="1000" b="0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주문 </a:t>
                      </a:r>
                      <a:r>
                        <a:rPr lang="ko-KR" alt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관리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4756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화면개요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주문현황 페이지이다</a:t>
                      </a:r>
                      <a:r>
                        <a:rPr kumimoji="0" lang="en-US" altLang="ko-KR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  <a:endParaRPr kumimoji="0" lang="ko-KR" altLang="en-US" sz="1000" b="0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811">
                <a:tc rowSpan="2"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설명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31132">
                <a:tc gridSpan="4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marL="266700" marR="0" lvl="0" indent="-2667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66700" marR="0" lvl="0" indent="-2667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주문 상태에 따라서 검색이 가능하다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66700" marR="0" lvl="0" indent="-2667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입금 확인된 상품은 재고를 재확인 한 후에 배송 준비로 수정한다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</a:p>
                    <a:p>
                      <a:pPr marL="266700" marR="0" lvl="0" indent="-2667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만약 재고 재확인을 했지만 재고가 없는 경우 환불 및 이메일 전송 버튼을 눌러 환불 및 이메일 팝업창에서 전송하도록 한다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  <a:endParaRPr kumimoji="0" lang="ko-KR" altLang="en-US" sz="1000" b="1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9" name="TextBox 18"/>
          <p:cNvSpPr txBox="1"/>
          <p:nvPr/>
        </p:nvSpPr>
        <p:spPr>
          <a:xfrm>
            <a:off x="3896127" y="3573476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②</a:t>
            </a:r>
            <a:endParaRPr lang="ko-KR" altLang="en-US" sz="2000" dirty="0"/>
          </a:p>
        </p:txBody>
      </p:sp>
      <p:sp>
        <p:nvSpPr>
          <p:cNvPr id="20" name="TextBox 19"/>
          <p:cNvSpPr txBox="1"/>
          <p:nvPr/>
        </p:nvSpPr>
        <p:spPr>
          <a:xfrm>
            <a:off x="209103" y="3056994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①</a:t>
            </a:r>
            <a:endParaRPr lang="ko-KR" altLang="en-US" sz="2000" dirty="0"/>
          </a:p>
        </p:txBody>
      </p:sp>
      <p:sp>
        <p:nvSpPr>
          <p:cNvPr id="23" name="직사각형 22"/>
          <p:cNvSpPr/>
          <p:nvPr/>
        </p:nvSpPr>
        <p:spPr>
          <a:xfrm>
            <a:off x="347346" y="1879622"/>
            <a:ext cx="1468735" cy="2880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 dirty="0">
                <a:solidFill>
                  <a:schemeClr val="tx1"/>
                </a:solidFill>
                <a:latin typeface="나눔바른고딕"/>
                <a:ea typeface="나눔바른고딕"/>
              </a:rPr>
              <a:t>주문 </a:t>
            </a:r>
            <a:r>
              <a:rPr lang="ko-KR" altLang="en-US" sz="1400" dirty="0" smtClean="0">
                <a:solidFill>
                  <a:schemeClr val="tx1"/>
                </a:solidFill>
                <a:latin typeface="나눔바른고딕"/>
                <a:ea typeface="나눔바른고딕"/>
              </a:rPr>
              <a:t>관리</a:t>
            </a:r>
            <a:endParaRPr lang="ko-KR" altLang="en-US" sz="1400" dirty="0">
              <a:solidFill>
                <a:schemeClr val="tx1"/>
              </a:solidFill>
              <a:latin typeface="나눔바른고딕"/>
              <a:ea typeface="나눔바른고딕"/>
            </a:endParaRPr>
          </a:p>
        </p:txBody>
      </p:sp>
      <p:cxnSp>
        <p:nvCxnSpPr>
          <p:cNvPr id="24" name="직선 연결선 23"/>
          <p:cNvCxnSpPr/>
          <p:nvPr/>
        </p:nvCxnSpPr>
        <p:spPr>
          <a:xfrm>
            <a:off x="344488" y="2286149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26" name="TextBox 25"/>
          <p:cNvSpPr txBox="1"/>
          <p:nvPr/>
        </p:nvSpPr>
        <p:spPr>
          <a:xfrm>
            <a:off x="141811" y="2294168"/>
            <a:ext cx="1282797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500">
                <a:latin typeface="나눔바른고딕"/>
                <a:ea typeface="나눔바른고딕"/>
              </a:rPr>
              <a:t>주문 현황</a:t>
            </a:r>
          </a:p>
        </p:txBody>
      </p:sp>
      <p:sp>
        <p:nvSpPr>
          <p:cNvPr id="27" name="직사각형 26"/>
          <p:cNvSpPr/>
          <p:nvPr/>
        </p:nvSpPr>
        <p:spPr>
          <a:xfrm>
            <a:off x="344488" y="2637072"/>
            <a:ext cx="6739607" cy="99846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400">
              <a:solidFill>
                <a:schemeClr val="tx1"/>
              </a:solidFill>
              <a:latin typeface="나눔바른고딕"/>
              <a:ea typeface="나눔바른고딕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315914" y="2652659"/>
            <a:ext cx="64807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검색어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5913" y="2916423"/>
            <a:ext cx="77107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날짜</a:t>
            </a:r>
          </a:p>
        </p:txBody>
      </p:sp>
      <p:sp>
        <p:nvSpPr>
          <p:cNvPr id="30" name="직사각형 29"/>
          <p:cNvSpPr/>
          <p:nvPr/>
        </p:nvSpPr>
        <p:spPr>
          <a:xfrm>
            <a:off x="963986" y="2668115"/>
            <a:ext cx="2513087" cy="199308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l">
              <a:defRPr/>
            </a:pPr>
            <a:endParaRPr lang="ko-KR" altLang="en-US">
              <a:solidFill>
                <a:schemeClr val="tx1"/>
              </a:solidFill>
              <a:latin typeface="나눔바른고딕"/>
              <a:ea typeface="나눔바른고딕"/>
            </a:endParaRPr>
          </a:p>
        </p:txBody>
      </p:sp>
      <p:sp>
        <p:nvSpPr>
          <p:cNvPr id="32" name="직사각형 31"/>
          <p:cNvSpPr/>
          <p:nvPr/>
        </p:nvSpPr>
        <p:spPr>
          <a:xfrm>
            <a:off x="987164" y="2930382"/>
            <a:ext cx="1157524" cy="2800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>
              <a:defRPr/>
            </a:pPr>
            <a:r>
              <a:rPr lang="ko-KR" altLang="en-US">
                <a:solidFill>
                  <a:schemeClr val="tx1"/>
                </a:solidFill>
                <a:latin typeface="나눔바른고딕"/>
                <a:ea typeface="나눔바른고딕"/>
              </a:rPr>
              <a:t>주문일</a:t>
            </a:r>
            <a:r>
              <a:rPr lang="en-US" altLang="ko-KR">
                <a:solidFill>
                  <a:schemeClr val="tx1"/>
                </a:solidFill>
                <a:latin typeface="나눔바른고딕"/>
                <a:ea typeface="나눔바른고딕"/>
              </a:rPr>
              <a:t>/</a:t>
            </a:r>
            <a:r>
              <a:rPr lang="ko-KR" altLang="en-US">
                <a:solidFill>
                  <a:schemeClr val="tx1"/>
                </a:solidFill>
                <a:latin typeface="나눔바른고딕"/>
                <a:ea typeface="나눔바른고딕"/>
              </a:rPr>
              <a:t>입금일</a:t>
            </a:r>
          </a:p>
        </p:txBody>
      </p:sp>
      <p:sp>
        <p:nvSpPr>
          <p:cNvPr id="34" name="직사각형 33"/>
          <p:cNvSpPr/>
          <p:nvPr/>
        </p:nvSpPr>
        <p:spPr>
          <a:xfrm>
            <a:off x="2451044" y="3698425"/>
            <a:ext cx="692435" cy="34583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 dirty="0">
                <a:solidFill>
                  <a:schemeClr val="tx1"/>
                </a:solidFill>
                <a:latin typeface="나눔바른고딕"/>
                <a:ea typeface="나눔바른고딕"/>
              </a:rPr>
              <a:t>수정</a:t>
            </a:r>
          </a:p>
        </p:txBody>
      </p:sp>
      <p:sp>
        <p:nvSpPr>
          <p:cNvPr id="35" name="직사각형 34"/>
          <p:cNvSpPr/>
          <p:nvPr/>
        </p:nvSpPr>
        <p:spPr>
          <a:xfrm>
            <a:off x="3301317" y="3698425"/>
            <a:ext cx="692435" cy="34583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>
                <a:solidFill>
                  <a:schemeClr val="tx1"/>
                </a:solidFill>
                <a:latin typeface="나눔바른고딕"/>
                <a:ea typeface="나눔바른고딕"/>
              </a:rPr>
              <a:t>초기화</a:t>
            </a:r>
          </a:p>
        </p:txBody>
      </p:sp>
      <p:sp>
        <p:nvSpPr>
          <p:cNvPr id="39" name="직사각형 38"/>
          <p:cNvSpPr/>
          <p:nvPr/>
        </p:nvSpPr>
        <p:spPr>
          <a:xfrm>
            <a:off x="352230" y="4469972"/>
            <a:ext cx="6691029" cy="1234968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400">
              <a:solidFill>
                <a:schemeClr val="tx1"/>
              </a:solidFill>
              <a:latin typeface="나눔바른고딕"/>
              <a:ea typeface="나눔바른고딕"/>
            </a:endParaRPr>
          </a:p>
        </p:txBody>
      </p:sp>
      <p:sp>
        <p:nvSpPr>
          <p:cNvPr id="40" name="사각형: 둥근 모서리 39"/>
          <p:cNvSpPr/>
          <p:nvPr/>
        </p:nvSpPr>
        <p:spPr>
          <a:xfrm>
            <a:off x="395367" y="4511704"/>
            <a:ext cx="147170" cy="137414"/>
          </a:xfrm>
          <a:prstGeom prst="roundRect">
            <a:avLst>
              <a:gd name="adj" fmla="val 16667"/>
            </a:avLst>
          </a:prstGeom>
          <a:noFill/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squar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endParaRPr kumimoji="0" lang="ko-KR" altLang="en-US" sz="10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cxnSp>
        <p:nvCxnSpPr>
          <p:cNvPr id="42" name="직선 연결선 41"/>
          <p:cNvCxnSpPr/>
          <p:nvPr/>
        </p:nvCxnSpPr>
        <p:spPr>
          <a:xfrm>
            <a:off x="352230" y="4723118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43" name="TextBox 42"/>
          <p:cNvSpPr txBox="1"/>
          <p:nvPr/>
        </p:nvSpPr>
        <p:spPr>
          <a:xfrm>
            <a:off x="599515" y="4446119"/>
            <a:ext cx="50851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번호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10087" y="4469972"/>
            <a:ext cx="80727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주문 상품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180097" y="4468056"/>
            <a:ext cx="6857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수</a:t>
            </a:r>
            <a:r>
              <a:rPr lang="en-US" altLang="ko-KR">
                <a:latin typeface="나눔바른고딕"/>
                <a:ea typeface="나눔바른고딕"/>
              </a:rPr>
              <a:t>(</a:t>
            </a:r>
            <a:r>
              <a:rPr lang="ko-KR" altLang="en-US">
                <a:latin typeface="나눔바른고딕"/>
                <a:ea typeface="나눔바른고딕"/>
              </a:rPr>
              <a:t>종</a:t>
            </a:r>
            <a:r>
              <a:rPr lang="en-US" altLang="ko-KR">
                <a:latin typeface="나눔바른고딕"/>
                <a:ea typeface="나눔바른고딕"/>
              </a:rPr>
              <a:t>)</a:t>
            </a:r>
            <a:endParaRPr lang="ko-KR" altLang="en-US">
              <a:latin typeface="나눔바른고딕"/>
              <a:ea typeface="나눔바른고딕"/>
            </a:endParaRPr>
          </a:p>
        </p:txBody>
      </p:sp>
      <p:sp>
        <p:nvSpPr>
          <p:cNvPr id="61" name="TextBox 60"/>
          <p:cNvSpPr txBox="1"/>
          <p:nvPr/>
        </p:nvSpPr>
        <p:spPr>
          <a:xfrm>
            <a:off x="2261094" y="4762381"/>
            <a:ext cx="100001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000">
                <a:latin typeface="나눔바른고딕"/>
                <a:ea typeface="나눔바른고딕"/>
              </a:rPr>
              <a:t>서울</a:t>
            </a:r>
            <a:r>
              <a:rPr lang="en-US" altLang="ko-KR" sz="1000">
                <a:latin typeface="나눔바른고딕"/>
                <a:ea typeface="나눔바른고딕"/>
              </a:rPr>
              <a:t>) </a:t>
            </a:r>
            <a:r>
              <a:rPr lang="ko-KR" altLang="en-US" sz="1000">
                <a:latin typeface="나눔바른고딕"/>
                <a:ea typeface="나눔바른고딕"/>
              </a:rPr>
              <a:t>참이슬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63530" y="4742175"/>
            <a:ext cx="380482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 sz="1000">
                <a:latin typeface="나눔바른고딕"/>
                <a:ea typeface="나눔바른고딕"/>
              </a:rPr>
              <a:t>1</a:t>
            </a:r>
            <a:endParaRPr lang="ko-KR" altLang="en-US" sz="1000">
              <a:latin typeface="나눔바른고딕"/>
              <a:ea typeface="나눔바른고딕"/>
            </a:endParaRPr>
          </a:p>
        </p:txBody>
      </p:sp>
      <p:sp>
        <p:nvSpPr>
          <p:cNvPr id="63" name="사각형: 둥근 모서리 62"/>
          <p:cNvSpPr/>
          <p:nvPr/>
        </p:nvSpPr>
        <p:spPr>
          <a:xfrm>
            <a:off x="410607" y="4778404"/>
            <a:ext cx="147170" cy="137414"/>
          </a:xfrm>
          <a:prstGeom prst="roundRect">
            <a:avLst>
              <a:gd name="adj" fmla="val 16667"/>
            </a:avLst>
          </a:prstGeom>
          <a:noFill/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squar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endParaRPr kumimoji="0" lang="ko-KR" altLang="en-US" sz="10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cxnSp>
        <p:nvCxnSpPr>
          <p:cNvPr id="64" name="직선 연결선 63"/>
          <p:cNvCxnSpPr/>
          <p:nvPr/>
        </p:nvCxnSpPr>
        <p:spPr>
          <a:xfrm>
            <a:off x="395367" y="5011384"/>
            <a:ext cx="6647892" cy="21261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cxnSp>
        <p:nvCxnSpPr>
          <p:cNvPr id="65" name="직선 연결선 64"/>
          <p:cNvCxnSpPr/>
          <p:nvPr/>
        </p:nvCxnSpPr>
        <p:spPr>
          <a:xfrm>
            <a:off x="367530" y="5375611"/>
            <a:ext cx="6675729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67" name="TextBox 66"/>
          <p:cNvSpPr txBox="1"/>
          <p:nvPr/>
        </p:nvSpPr>
        <p:spPr>
          <a:xfrm>
            <a:off x="957056" y="4455853"/>
            <a:ext cx="79651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주문일시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635471" y="4468056"/>
            <a:ext cx="83834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주문 번호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3826866" y="4467841"/>
            <a:ext cx="54725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출고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381060" y="4478726"/>
            <a:ext cx="8072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결제 수단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239102" y="4467840"/>
            <a:ext cx="8072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결제 금액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074330" y="4478726"/>
            <a:ext cx="80728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주문 상태</a:t>
            </a:r>
          </a:p>
        </p:txBody>
      </p:sp>
      <p:sp>
        <p:nvSpPr>
          <p:cNvPr id="76" name="직사각형 75"/>
          <p:cNvSpPr/>
          <p:nvPr/>
        </p:nvSpPr>
        <p:spPr>
          <a:xfrm>
            <a:off x="2220529" y="2930382"/>
            <a:ext cx="1157524" cy="2800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>
              <a:defRPr/>
            </a:pPr>
            <a:r>
              <a:rPr lang="en-US" altLang="ko-KR">
                <a:solidFill>
                  <a:schemeClr val="tx1"/>
                </a:solidFill>
                <a:latin typeface="나눔바른고딕"/>
                <a:ea typeface="나눔바른고딕"/>
              </a:rPr>
              <a:t>2022-06-29</a:t>
            </a:r>
            <a:endParaRPr lang="ko-KR" altLang="en-US">
              <a:solidFill>
                <a:schemeClr val="tx1"/>
              </a:solidFill>
              <a:latin typeface="나눔바른고딕"/>
              <a:ea typeface="나눔바른고딕"/>
            </a:endParaRPr>
          </a:p>
        </p:txBody>
      </p:sp>
      <p:sp>
        <p:nvSpPr>
          <p:cNvPr id="77" name="TextBox 76"/>
          <p:cNvSpPr txBox="1"/>
          <p:nvPr/>
        </p:nvSpPr>
        <p:spPr>
          <a:xfrm>
            <a:off x="3406627" y="2931885"/>
            <a:ext cx="36258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>
                <a:latin typeface="나눔바른고딕"/>
                <a:ea typeface="나눔바른고딕"/>
              </a:rPr>
              <a:t>-</a:t>
            </a:r>
            <a:endParaRPr lang="ko-KR" altLang="en-US">
              <a:latin typeface="나눔바른고딕"/>
              <a:ea typeface="나눔바른고딕"/>
            </a:endParaRPr>
          </a:p>
        </p:txBody>
      </p:sp>
      <p:sp>
        <p:nvSpPr>
          <p:cNvPr id="78" name="직사각형 77"/>
          <p:cNvSpPr/>
          <p:nvPr/>
        </p:nvSpPr>
        <p:spPr>
          <a:xfrm>
            <a:off x="3748584" y="2930382"/>
            <a:ext cx="1157524" cy="2800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>
              <a:defRPr/>
            </a:pPr>
            <a:r>
              <a:rPr lang="en-US" altLang="ko-KR">
                <a:solidFill>
                  <a:schemeClr val="tx1"/>
                </a:solidFill>
                <a:latin typeface="나눔바른고딕"/>
                <a:ea typeface="나눔바른고딕"/>
              </a:rPr>
              <a:t>2022-06-30</a:t>
            </a:r>
            <a:endParaRPr lang="ko-KR" altLang="en-US">
              <a:solidFill>
                <a:schemeClr val="tx1"/>
              </a:solidFill>
              <a:latin typeface="나눔바른고딕"/>
              <a:ea typeface="나눔바른고딕"/>
            </a:endParaRPr>
          </a:p>
        </p:txBody>
      </p:sp>
      <p:sp>
        <p:nvSpPr>
          <p:cNvPr id="79" name="TextBox 78"/>
          <p:cNvSpPr txBox="1"/>
          <p:nvPr/>
        </p:nvSpPr>
        <p:spPr>
          <a:xfrm>
            <a:off x="301625" y="3235089"/>
            <a:ext cx="771073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주문상태</a:t>
            </a:r>
          </a:p>
        </p:txBody>
      </p:sp>
      <p:sp>
        <p:nvSpPr>
          <p:cNvPr id="80" name="직사각형 79"/>
          <p:cNvSpPr/>
          <p:nvPr/>
        </p:nvSpPr>
        <p:spPr>
          <a:xfrm>
            <a:off x="1273478" y="3262994"/>
            <a:ext cx="771073" cy="28701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>
              <a:defRPr/>
            </a:pPr>
            <a:r>
              <a:rPr lang="ko-KR" altLang="en-US">
                <a:solidFill>
                  <a:schemeClr val="tx1"/>
                </a:solidFill>
                <a:latin typeface="나눔바른고딕"/>
                <a:ea typeface="나눔바른고딕"/>
              </a:rPr>
              <a:t>입금확인</a:t>
            </a:r>
          </a:p>
        </p:txBody>
      </p:sp>
      <p:sp>
        <p:nvSpPr>
          <p:cNvPr id="81" name="직사각형 80"/>
          <p:cNvSpPr/>
          <p:nvPr/>
        </p:nvSpPr>
        <p:spPr>
          <a:xfrm>
            <a:off x="2428134" y="3251688"/>
            <a:ext cx="809876" cy="29831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>
              <a:defRPr/>
            </a:pPr>
            <a:r>
              <a:rPr lang="ko-KR" altLang="en-US">
                <a:solidFill>
                  <a:schemeClr val="tx1"/>
                </a:solidFill>
                <a:latin typeface="나눔바른고딕"/>
                <a:ea typeface="나눔바른고딕"/>
              </a:rPr>
              <a:t>배송준비</a:t>
            </a:r>
          </a:p>
        </p:txBody>
      </p:sp>
      <p:sp>
        <p:nvSpPr>
          <p:cNvPr id="83" name="직사각형 82"/>
          <p:cNvSpPr/>
          <p:nvPr/>
        </p:nvSpPr>
        <p:spPr>
          <a:xfrm>
            <a:off x="3634277" y="3262994"/>
            <a:ext cx="809876" cy="287010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>
              <a:defRPr/>
            </a:pPr>
            <a:r>
              <a:rPr lang="ko-KR" altLang="en-US">
                <a:solidFill>
                  <a:schemeClr val="tx1"/>
                </a:solidFill>
                <a:latin typeface="나눔바른고딕"/>
                <a:ea typeface="나눔바른고딕"/>
              </a:rPr>
              <a:t>배송중</a:t>
            </a:r>
          </a:p>
        </p:txBody>
      </p:sp>
      <p:sp>
        <p:nvSpPr>
          <p:cNvPr id="84" name="직사각형 83"/>
          <p:cNvSpPr/>
          <p:nvPr/>
        </p:nvSpPr>
        <p:spPr>
          <a:xfrm>
            <a:off x="4787186" y="3251688"/>
            <a:ext cx="809876" cy="298316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>
              <a:defRPr/>
            </a:pPr>
            <a:r>
              <a:rPr lang="ko-KR" altLang="en-US">
                <a:solidFill>
                  <a:schemeClr val="tx1"/>
                </a:solidFill>
                <a:latin typeface="나눔바른고딕"/>
                <a:ea typeface="나눔바른고딕"/>
              </a:rPr>
              <a:t>배송 완료</a:t>
            </a:r>
          </a:p>
        </p:txBody>
      </p:sp>
      <p:sp>
        <p:nvSpPr>
          <p:cNvPr id="85" name="직사각형 84"/>
          <p:cNvSpPr/>
          <p:nvPr/>
        </p:nvSpPr>
        <p:spPr>
          <a:xfrm>
            <a:off x="5890330" y="3260842"/>
            <a:ext cx="1157524" cy="280007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lvl="0">
              <a:defRPr/>
            </a:pPr>
            <a:r>
              <a:rPr lang="ko-KR" altLang="en-US">
                <a:solidFill>
                  <a:schemeClr val="tx1"/>
                </a:solidFill>
                <a:latin typeface="나눔바른고딕"/>
                <a:ea typeface="나눔바른고딕"/>
              </a:rPr>
              <a:t>취소</a:t>
            </a:r>
            <a:r>
              <a:rPr lang="en-US" altLang="ko-KR">
                <a:solidFill>
                  <a:schemeClr val="tx1"/>
                </a:solidFill>
                <a:latin typeface="나눔바른고딕"/>
                <a:ea typeface="나눔바른고딕"/>
              </a:rPr>
              <a:t>/</a:t>
            </a:r>
            <a:r>
              <a:rPr lang="ko-KR" altLang="en-US">
                <a:solidFill>
                  <a:schemeClr val="tx1"/>
                </a:solidFill>
                <a:latin typeface="나눔바른고딕"/>
                <a:ea typeface="나눔바른고딕"/>
              </a:rPr>
              <a:t>환불 요청</a:t>
            </a:r>
          </a:p>
        </p:txBody>
      </p:sp>
      <p:sp>
        <p:nvSpPr>
          <p:cNvPr id="86" name="사각형: 둥근 모서리 85"/>
          <p:cNvSpPr/>
          <p:nvPr/>
        </p:nvSpPr>
        <p:spPr>
          <a:xfrm>
            <a:off x="1007068" y="3257049"/>
            <a:ext cx="201165" cy="265219"/>
          </a:xfrm>
          <a:prstGeom prst="roundRect">
            <a:avLst>
              <a:gd name="adj" fmla="val 16667"/>
            </a:avLst>
          </a:prstGeom>
          <a:noFill/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non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endParaRPr kumimoji="0" lang="ko-KR" altLang="en-US" sz="10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sp>
        <p:nvSpPr>
          <p:cNvPr id="87" name="사각형: 둥근 모서리 86"/>
          <p:cNvSpPr/>
          <p:nvPr/>
        </p:nvSpPr>
        <p:spPr>
          <a:xfrm>
            <a:off x="2139080" y="3257049"/>
            <a:ext cx="201165" cy="265219"/>
          </a:xfrm>
          <a:prstGeom prst="roundRect">
            <a:avLst>
              <a:gd name="adj" fmla="val 16667"/>
            </a:avLst>
          </a:prstGeom>
          <a:noFill/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non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endParaRPr kumimoji="0" lang="ko-KR" altLang="en-US" sz="10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sp>
        <p:nvSpPr>
          <p:cNvPr id="88" name="사각형: 둥근 모서리 87"/>
          <p:cNvSpPr/>
          <p:nvPr/>
        </p:nvSpPr>
        <p:spPr>
          <a:xfrm>
            <a:off x="3349684" y="3257049"/>
            <a:ext cx="201165" cy="265219"/>
          </a:xfrm>
          <a:prstGeom prst="roundRect">
            <a:avLst>
              <a:gd name="adj" fmla="val 16667"/>
            </a:avLst>
          </a:prstGeom>
          <a:noFill/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non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endParaRPr kumimoji="0" lang="ko-KR" altLang="en-US" sz="10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sp>
        <p:nvSpPr>
          <p:cNvPr id="89" name="사각형: 둥근 모서리 88"/>
          <p:cNvSpPr/>
          <p:nvPr/>
        </p:nvSpPr>
        <p:spPr>
          <a:xfrm>
            <a:off x="4515087" y="3257049"/>
            <a:ext cx="201165" cy="265219"/>
          </a:xfrm>
          <a:prstGeom prst="roundRect">
            <a:avLst>
              <a:gd name="adj" fmla="val 16667"/>
            </a:avLst>
          </a:prstGeom>
          <a:noFill/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non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endParaRPr kumimoji="0" lang="ko-KR" altLang="en-US" sz="10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sp>
        <p:nvSpPr>
          <p:cNvPr id="91" name="사각형: 둥근 모서리 90"/>
          <p:cNvSpPr/>
          <p:nvPr/>
        </p:nvSpPr>
        <p:spPr>
          <a:xfrm>
            <a:off x="5652924" y="3257049"/>
            <a:ext cx="201165" cy="265219"/>
          </a:xfrm>
          <a:prstGeom prst="roundRect">
            <a:avLst>
              <a:gd name="adj" fmla="val 16667"/>
            </a:avLst>
          </a:prstGeom>
          <a:noFill/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  <p:txBody>
          <a:bodyPr vert="horz" wrap="none" lIns="89999" tIns="46800" rIns="89999" bIns="46800" anchor="t" anchorCtr="0">
            <a:prstTxWarp prst="textNoShape">
              <a:avLst/>
            </a:prstTxWarp>
            <a:spAutoFit/>
          </a:bodyPr>
          <a:lstStyle/>
          <a:p>
            <a:pPr marL="0" marR="0" indent="0" algn="ctr" defTabSz="914400" rtl="0" eaLnBrk="0" latinLnBrk="0" hangingPunct="0">
              <a:lnSpc>
                <a:spcPct val="100000"/>
              </a:lnSpc>
              <a:spcBef>
                <a:spcPct val="25000"/>
              </a:spcBef>
              <a:spcAft>
                <a:spcPct val="25000"/>
              </a:spcAft>
              <a:buClr>
                <a:schemeClr val="bg1"/>
              </a:buClr>
              <a:buFont typeface="Wingdings"/>
              <a:buNone/>
              <a:defRPr/>
            </a:pPr>
            <a:endParaRPr kumimoji="0" lang="ko-KR" altLang="en-US" sz="1000" b="0" i="0" u="none" strike="noStrike" cap="none" normalizeH="0" baseline="0">
              <a:solidFill>
                <a:schemeClr val="tx1"/>
              </a:solidFill>
              <a:effectLst/>
              <a:latin typeface="Arial"/>
              <a:ea typeface="굴림"/>
            </a:endParaRPr>
          </a:p>
        </p:txBody>
      </p:sp>
      <p:sp>
        <p:nvSpPr>
          <p:cNvPr id="93" name="직사각형 92"/>
          <p:cNvSpPr/>
          <p:nvPr/>
        </p:nvSpPr>
        <p:spPr>
          <a:xfrm>
            <a:off x="4151590" y="3698425"/>
            <a:ext cx="1602819" cy="34583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>
                <a:solidFill>
                  <a:schemeClr val="tx1"/>
                </a:solidFill>
                <a:latin typeface="나눔바른고딕"/>
                <a:ea typeface="나눔바른고딕"/>
              </a:rPr>
              <a:t>환불 및 이메일 전송</a:t>
            </a:r>
          </a:p>
        </p:txBody>
      </p:sp>
      <p:sp>
        <p:nvSpPr>
          <p:cNvPr id="68" name="직사각형 67">
            <a:extLst>
              <a:ext uri="{FF2B5EF4-FFF2-40B4-BE49-F238E27FC236}">
                <a16:creationId xmlns:a16="http://schemas.microsoft.com/office/drawing/2014/main" id="{B0925AE1-61AE-54D5-EC0B-749ACAF940BF}"/>
              </a:ext>
            </a:extLst>
          </p:cNvPr>
          <p:cNvSpPr/>
          <p:nvPr/>
        </p:nvSpPr>
        <p:spPr>
          <a:xfrm>
            <a:off x="1643719" y="3698425"/>
            <a:ext cx="692435" cy="345834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 dirty="0">
                <a:solidFill>
                  <a:schemeClr val="tx1"/>
                </a:solidFill>
                <a:latin typeface="나눔바른고딕"/>
                <a:ea typeface="나눔바른고딕"/>
              </a:rPr>
              <a:t>검색</a:t>
            </a:r>
          </a:p>
        </p:txBody>
      </p:sp>
      <p:sp>
        <p:nvSpPr>
          <p:cNvPr id="51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1.3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lang="ko-KR" altLang="en-US" sz="1800" b="1" kern="0" dirty="0" smtClean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관리자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38</a:t>
            </a:fld>
            <a:r>
              <a:rPr lang="en-US" altLang="ko-KR"/>
              <a:t> -</a:t>
            </a:r>
          </a:p>
        </p:txBody>
      </p:sp>
      <p:graphicFrame>
        <p:nvGraphicFramePr>
          <p:cNvPr id="3" name="표 4"/>
          <p:cNvGraphicFramePr>
            <a:graphicFrameLocks noGrp="1"/>
          </p:cNvGraphicFramePr>
          <p:nvPr/>
        </p:nvGraphicFramePr>
        <p:xfrm>
          <a:off x="560511" y="1052738"/>
          <a:ext cx="8928992" cy="5429409"/>
        </p:xfrm>
        <a:graphic>
          <a:graphicData uri="http://schemas.openxmlformats.org/drawingml/2006/table">
            <a:tbl>
              <a:tblPr/>
              <a:tblGrid>
                <a:gridCol w="9964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24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10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10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684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49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87221"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alt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I/</a:t>
                      </a: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O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한글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영문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필수여부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I/O </a:t>
                      </a: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유형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초기값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주문 일자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orderDate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주문명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orderName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상품 이름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productName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 상품 수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count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배송 상태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orderState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금액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price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배송비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deliveryCost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8"/>
                  </a:ext>
                </a:extLst>
              </a:tr>
            </a:tbl>
          </a:graphicData>
        </a:graphic>
      </p:graphicFrame>
      <p:sp>
        <p:nvSpPr>
          <p:cNvPr id="5" name="직사각형 6"/>
          <p:cNvSpPr/>
          <p:nvPr/>
        </p:nvSpPr>
        <p:spPr>
          <a:xfrm>
            <a:off x="425987" y="703729"/>
            <a:ext cx="138691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b="1">
                <a:latin typeface="맑은 고딕"/>
                <a:ea typeface="맑은 고딕"/>
              </a:rPr>
              <a:t>* </a:t>
            </a:r>
            <a:r>
              <a:rPr lang="ko-KR" altLang="ko-KR" b="1">
                <a:latin typeface="맑은 고딕"/>
                <a:ea typeface="맑은 고딕"/>
              </a:rPr>
              <a:t>화면입출력정보</a:t>
            </a:r>
          </a:p>
        </p:txBody>
      </p:sp>
      <p:sp>
        <p:nvSpPr>
          <p:cNvPr id="9" name="Rectangle 3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2pPr>
            <a:lvl3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3pPr>
            <a:lvl4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4pPr>
            <a:lvl5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sp>
        <p:nvSpPr>
          <p:cNvPr id="7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1.3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lang="ko-KR" altLang="en-US" sz="1800" b="1" kern="0" dirty="0" smtClean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관리자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>
          <a:xfrm>
            <a:off x="3841086" y="6272766"/>
            <a:ext cx="2063750" cy="213642"/>
          </a:xfrm>
        </p:spPr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39</a:t>
            </a:fld>
            <a:r>
              <a:rPr lang="en-US" altLang="ko-KR"/>
              <a:t> -</a:t>
            </a:r>
          </a:p>
        </p:txBody>
      </p:sp>
      <p:sp>
        <p:nvSpPr>
          <p:cNvPr id="3" name="Rectangle 94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2pPr>
            <a:lvl3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3pPr>
            <a:lvl4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4pPr>
            <a:lvl5pPr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5pPr>
            <a:lvl6pPr marL="4572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6pPr>
            <a:lvl7pPr marL="9144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7pPr>
            <a:lvl8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8pPr>
            <a:lvl9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Arial"/>
                <a:ea typeface="굴림"/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graphicFrame>
        <p:nvGraphicFramePr>
          <p:cNvPr id="5" name="Group 3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111191"/>
              </p:ext>
            </p:extLst>
          </p:nvPr>
        </p:nvGraphicFramePr>
        <p:xfrm>
          <a:off x="315913" y="747145"/>
          <a:ext cx="9272587" cy="5876622"/>
        </p:xfrm>
        <a:graphic>
          <a:graphicData uri="http://schemas.openxmlformats.org/drawingml/2006/table">
            <a:tbl>
              <a:tblPr/>
              <a:tblGrid>
                <a:gridCol w="965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718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366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36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752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97772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Level1</a:t>
                      </a:r>
                      <a:endParaRPr kumimoji="0" lang="en-US" altLang="ko-KR" sz="1000" b="1" i="0" u="none" strike="noStrike" cap="none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주류 유통 관리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Level2</a:t>
                      </a:r>
                      <a:endParaRPr kumimoji="0" lang="en-US" altLang="ko-KR" sz="1000" b="1" i="0" u="none" strike="noStrike" cap="none" normalizeH="0" baseline="0" dirty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0" fontAlgn="auto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0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관리자 화면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5151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</a:t>
                      </a:r>
                      <a:r>
                        <a:rPr kumimoji="0" lang="en-US" altLang="ko-KR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ID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latinLnBrk="1" hangingPunct="1">
                        <a:lnSpc>
                          <a:spcPct val="104000"/>
                        </a:lnSpc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chemeClr val="tx1"/>
                        </a:buClr>
                        <a:buFont typeface="Wingdings"/>
                        <a:buNone/>
                        <a:defRPr/>
                      </a:pPr>
                      <a:r>
                        <a:rPr kumimoji="1" lang="en-US" altLang="ko-KR" sz="1000" b="0" i="0" u="none" strike="noStrike" cap="none" normalizeH="0" baseline="0" dirty="0" smtClean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itchFamily="50" charset="-127"/>
                          <a:ea typeface="맑은 고딕" pitchFamily="50" charset="-127"/>
                        </a:rPr>
                        <a:t>UI_PD4_020</a:t>
                      </a:r>
                      <a:endParaRPr kumimoji="1" lang="en-US" altLang="ko-KR" sz="1000" b="0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anchor="ctr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L="0" marR="0" indent="0" algn="l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ko-KR" altLang="en-US" sz="10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맑은 고딕"/>
                          <a:ea typeface="맑은 고딕"/>
                          <a:cs typeface="+mn-cs"/>
                        </a:rPr>
                        <a:t>게시판 관리</a:t>
                      </a:r>
                      <a:endParaRPr lang="en-US" altLang="ko-KR" sz="1000" b="0" i="0" u="none" strike="noStrike" kern="1200" dirty="0">
                        <a:solidFill>
                          <a:srgbClr val="000000"/>
                        </a:solidFill>
                        <a:effectLst/>
                        <a:latin typeface="맑은 고딕"/>
                        <a:ea typeface="맑은 고딕"/>
                        <a:cs typeface="+mn-cs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4756">
                <a:tc>
                  <a:txBody>
                    <a:bodyPr/>
                    <a:lstStyle/>
                    <a:p>
                      <a:pPr marL="0" marR="0" lvl="0" indent="0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화면개요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게시판 관리 화면이다</a:t>
                      </a:r>
                      <a:r>
                        <a:rPr kumimoji="0" lang="en-US" altLang="ko-KR" sz="1000" b="0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  <a:endParaRPr kumimoji="0" lang="ko-KR" altLang="en-US" sz="1000" b="0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811">
                <a:tc rowSpan="2" gridSpan="4">
                  <a:txBody>
                    <a:bodyPr/>
                    <a:lstStyle/>
                    <a:p>
                      <a:pPr marL="0" marR="0" lvl="0" indent="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rowSpan="2" hMerge="1"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180975" marR="0" lvl="0" indent="-180975" algn="ctr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kumimoji="0" lang="ko-KR" altLang="en-US" sz="1000" b="1" i="0" u="none" strike="noStrike" cap="none" normalizeH="0" baseline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설명</a:t>
                      </a: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31132">
                <a:tc gridSpan="4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>
                        <a:defRPr/>
                      </a:pPr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marL="266700" marR="0" lvl="0" indent="-2667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None/>
                        <a:defRPr/>
                      </a:pPr>
                      <a:endParaRPr kumimoji="0" lang="ko-KR" altLang="en-US" sz="1000" b="1" i="0" u="none" strike="noStrike" cap="none" normalizeH="0" baseline="0">
                        <a:solidFill>
                          <a:schemeClr val="tx1"/>
                        </a:solidFill>
                        <a:effectLst/>
                        <a:latin typeface="HY울릉도M"/>
                        <a:ea typeface="HY울릉도M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266700" marR="0" lvl="0" indent="-266700" algn="l" defTabSz="914400" rtl="0" eaLnBrk="0" latinLnBrk="0" hangingPunct="0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FontTx/>
                        <a:buAutoNum type="arabicPeriod"/>
                        <a:defRPr/>
                      </a:pP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공지사항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, FAQ, Q&amp;A, </a:t>
                      </a:r>
                      <a:r>
                        <a:rPr kumimoji="0" lang="ko-KR" altLang="en-US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상품 문의를 모두 볼 수 있는 페이지이다</a:t>
                      </a:r>
                      <a:r>
                        <a:rPr kumimoji="0" lang="en-US" altLang="ko-KR" sz="1000" b="1" i="0" u="none" strike="noStrike" cap="none" normalizeH="0" baseline="0" dirty="0">
                          <a:solidFill>
                            <a:schemeClr val="tx1"/>
                          </a:solidFill>
                          <a:effectLst/>
                          <a:latin typeface="맑은 고딕"/>
                          <a:ea typeface="맑은 고딕"/>
                        </a:rPr>
                        <a:t>.</a:t>
                      </a:r>
                      <a:endParaRPr kumimoji="0" lang="ko-KR" altLang="en-US" sz="1000" b="1" i="0" u="none" strike="noStrike" cap="none" normalizeH="0" baseline="0" dirty="0">
                        <a:solidFill>
                          <a:schemeClr val="tx1"/>
                        </a:solidFill>
                        <a:effectLst/>
                        <a:latin typeface="맑은 고딕"/>
                        <a:ea typeface="맑은 고딕"/>
                      </a:endParaRPr>
                    </a:p>
                  </a:txBody>
                  <a:tcPr marL="90000" marR="90000" marT="46800" marB="46800" horzOverflow="overflow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229950" y="2134118"/>
            <a:ext cx="404116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2000" b="1" dirty="0">
                <a:solidFill>
                  <a:srgbClr val="FF0000"/>
                </a:solidFill>
                <a:latin typeface="나눔바른고딕"/>
                <a:ea typeface="나눔바른고딕"/>
              </a:rPr>
              <a:t>①</a:t>
            </a:r>
            <a:endParaRPr lang="ko-KR" altLang="en-US" sz="2000" dirty="0"/>
          </a:p>
        </p:txBody>
      </p:sp>
      <p:sp>
        <p:nvSpPr>
          <p:cNvPr id="23" name="직사각형 22"/>
          <p:cNvSpPr/>
          <p:nvPr/>
        </p:nvSpPr>
        <p:spPr>
          <a:xfrm>
            <a:off x="347346" y="1879622"/>
            <a:ext cx="1468735" cy="288032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>
                <a:solidFill>
                  <a:schemeClr val="tx1"/>
                </a:solidFill>
                <a:latin typeface="나눔바른고딕"/>
                <a:ea typeface="나눔바른고딕"/>
              </a:rPr>
              <a:t>게시판 관리</a:t>
            </a:r>
          </a:p>
        </p:txBody>
      </p:sp>
      <p:cxnSp>
        <p:nvCxnSpPr>
          <p:cNvPr id="24" name="직선 연결선 23"/>
          <p:cNvCxnSpPr/>
          <p:nvPr/>
        </p:nvCxnSpPr>
        <p:spPr>
          <a:xfrm>
            <a:off x="344488" y="2286149"/>
            <a:ext cx="6739607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26" name="TextBox 25"/>
          <p:cNvSpPr txBox="1"/>
          <p:nvPr/>
        </p:nvSpPr>
        <p:spPr>
          <a:xfrm>
            <a:off x="301625" y="2321893"/>
            <a:ext cx="167427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 sz="1500">
                <a:latin typeface="나눔바른고딕"/>
                <a:ea typeface="나눔바른고딕"/>
              </a:rPr>
              <a:t>최근 게시글 리스트</a:t>
            </a:r>
          </a:p>
        </p:txBody>
      </p:sp>
      <p:sp>
        <p:nvSpPr>
          <p:cNvPr id="66" name="직사각형 65"/>
          <p:cNvSpPr/>
          <p:nvPr/>
        </p:nvSpPr>
        <p:spPr>
          <a:xfrm>
            <a:off x="347346" y="2731286"/>
            <a:ext cx="3125280" cy="101111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400">
              <a:solidFill>
                <a:schemeClr val="tx1"/>
              </a:solidFill>
              <a:latin typeface="나눔바른고딕"/>
              <a:ea typeface="나눔바른고딕"/>
            </a:endParaRPr>
          </a:p>
        </p:txBody>
      </p:sp>
      <p:sp>
        <p:nvSpPr>
          <p:cNvPr id="69" name="TextBox 68"/>
          <p:cNvSpPr txBox="1"/>
          <p:nvPr/>
        </p:nvSpPr>
        <p:spPr>
          <a:xfrm>
            <a:off x="163242" y="2737279"/>
            <a:ext cx="12961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공지사항 </a:t>
            </a:r>
            <a:r>
              <a:rPr lang="en-US" altLang="ko-KR">
                <a:latin typeface="나눔바른고딕"/>
                <a:ea typeface="나눔바른고딕"/>
              </a:rPr>
              <a:t>0</a:t>
            </a:r>
            <a:r>
              <a:rPr lang="ko-KR" altLang="en-US">
                <a:latin typeface="나눔바른고딕"/>
                <a:ea typeface="나눔바른고딕"/>
              </a:rPr>
              <a:t>건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907290" y="3027332"/>
            <a:ext cx="57880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내용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192027" y="3023132"/>
            <a:ext cx="7036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작성자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2840642" y="3023132"/>
            <a:ext cx="7036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문의일</a:t>
            </a:r>
          </a:p>
        </p:txBody>
      </p:sp>
      <p:cxnSp>
        <p:nvCxnSpPr>
          <p:cNvPr id="7" name="직선 연결선 6"/>
          <p:cNvCxnSpPr/>
          <p:nvPr/>
        </p:nvCxnSpPr>
        <p:spPr>
          <a:xfrm>
            <a:off x="347346" y="3300131"/>
            <a:ext cx="312528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cxnSp>
        <p:nvCxnSpPr>
          <p:cNvPr id="94" name="직선 연결선 93"/>
          <p:cNvCxnSpPr/>
          <p:nvPr/>
        </p:nvCxnSpPr>
        <p:spPr>
          <a:xfrm>
            <a:off x="347346" y="3027332"/>
            <a:ext cx="312528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cxnSp>
        <p:nvCxnSpPr>
          <p:cNvPr id="9" name="직선 연결선 8"/>
          <p:cNvCxnSpPr/>
          <p:nvPr/>
        </p:nvCxnSpPr>
        <p:spPr>
          <a:xfrm>
            <a:off x="2192027" y="3063774"/>
            <a:ext cx="0" cy="20951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cxnSp>
        <p:nvCxnSpPr>
          <p:cNvPr id="95" name="직선 연결선 94"/>
          <p:cNvCxnSpPr/>
          <p:nvPr/>
        </p:nvCxnSpPr>
        <p:spPr>
          <a:xfrm>
            <a:off x="2840642" y="3056876"/>
            <a:ext cx="0" cy="24745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105" name="직사각형 104"/>
          <p:cNvSpPr/>
          <p:nvPr/>
        </p:nvSpPr>
        <p:spPr>
          <a:xfrm>
            <a:off x="3915952" y="2731286"/>
            <a:ext cx="3125280" cy="101111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400">
              <a:solidFill>
                <a:schemeClr val="tx1"/>
              </a:solidFill>
              <a:latin typeface="나눔바른고딕"/>
              <a:ea typeface="나눔바른고딕"/>
            </a:endParaRPr>
          </a:p>
        </p:txBody>
      </p:sp>
      <p:sp>
        <p:nvSpPr>
          <p:cNvPr id="106" name="TextBox 105"/>
          <p:cNvSpPr txBox="1"/>
          <p:nvPr/>
        </p:nvSpPr>
        <p:spPr>
          <a:xfrm>
            <a:off x="3731848" y="2737279"/>
            <a:ext cx="12961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>
                <a:latin typeface="나눔바른고딕"/>
                <a:ea typeface="나눔바른고딕"/>
              </a:rPr>
              <a:t>FAQ</a:t>
            </a:r>
            <a:r>
              <a:rPr lang="ko-KR" altLang="en-US">
                <a:latin typeface="나눔바른고딕"/>
                <a:ea typeface="나눔바른고딕"/>
              </a:rPr>
              <a:t> </a:t>
            </a:r>
            <a:r>
              <a:rPr lang="en-US" altLang="ko-KR">
                <a:latin typeface="나눔바른고딕"/>
                <a:ea typeface="나눔바른고딕"/>
              </a:rPr>
              <a:t>0</a:t>
            </a:r>
            <a:r>
              <a:rPr lang="ko-KR" altLang="en-US">
                <a:latin typeface="나눔바른고딕"/>
                <a:ea typeface="나눔바른고딕"/>
              </a:rPr>
              <a:t>건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475896" y="3027332"/>
            <a:ext cx="57880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내용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760633" y="3023132"/>
            <a:ext cx="7036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작성자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409248" y="3023132"/>
            <a:ext cx="7036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문의일</a:t>
            </a:r>
          </a:p>
        </p:txBody>
      </p:sp>
      <p:cxnSp>
        <p:nvCxnSpPr>
          <p:cNvPr id="110" name="직선 연결선 109"/>
          <p:cNvCxnSpPr/>
          <p:nvPr/>
        </p:nvCxnSpPr>
        <p:spPr>
          <a:xfrm>
            <a:off x="3915952" y="3300131"/>
            <a:ext cx="312528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cxnSp>
        <p:nvCxnSpPr>
          <p:cNvPr id="111" name="직선 연결선 110"/>
          <p:cNvCxnSpPr/>
          <p:nvPr/>
        </p:nvCxnSpPr>
        <p:spPr>
          <a:xfrm>
            <a:off x="3915952" y="3027332"/>
            <a:ext cx="312528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cxnSp>
        <p:nvCxnSpPr>
          <p:cNvPr id="112" name="직선 연결선 111"/>
          <p:cNvCxnSpPr/>
          <p:nvPr/>
        </p:nvCxnSpPr>
        <p:spPr>
          <a:xfrm>
            <a:off x="5760633" y="3063774"/>
            <a:ext cx="0" cy="20951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cxnSp>
        <p:nvCxnSpPr>
          <p:cNvPr id="113" name="직선 연결선 112"/>
          <p:cNvCxnSpPr/>
          <p:nvPr/>
        </p:nvCxnSpPr>
        <p:spPr>
          <a:xfrm>
            <a:off x="6409248" y="3056876"/>
            <a:ext cx="0" cy="24745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114" name="직사각형 113"/>
          <p:cNvSpPr/>
          <p:nvPr/>
        </p:nvSpPr>
        <p:spPr>
          <a:xfrm>
            <a:off x="347346" y="4006017"/>
            <a:ext cx="3125280" cy="101111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400">
              <a:solidFill>
                <a:schemeClr val="tx1"/>
              </a:solidFill>
              <a:latin typeface="나눔바른고딕"/>
              <a:ea typeface="나눔바른고딕"/>
            </a:endParaRPr>
          </a:p>
        </p:txBody>
      </p:sp>
      <p:sp>
        <p:nvSpPr>
          <p:cNvPr id="115" name="TextBox 114"/>
          <p:cNvSpPr txBox="1"/>
          <p:nvPr/>
        </p:nvSpPr>
        <p:spPr>
          <a:xfrm>
            <a:off x="163242" y="4012010"/>
            <a:ext cx="12961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en-US" altLang="ko-KR">
                <a:latin typeface="나눔바른고딕"/>
                <a:ea typeface="나눔바른고딕"/>
              </a:rPr>
              <a:t>Q&amp;A</a:t>
            </a:r>
            <a:r>
              <a:rPr lang="ko-KR" altLang="en-US">
                <a:latin typeface="나눔바른고딕"/>
                <a:ea typeface="나눔바른고딕"/>
              </a:rPr>
              <a:t> </a:t>
            </a:r>
            <a:r>
              <a:rPr lang="en-US" altLang="ko-KR">
                <a:latin typeface="나눔바른고딕"/>
                <a:ea typeface="나눔바른고딕"/>
              </a:rPr>
              <a:t>0</a:t>
            </a:r>
            <a:r>
              <a:rPr lang="ko-KR" altLang="en-US">
                <a:latin typeface="나눔바른고딕"/>
                <a:ea typeface="나눔바른고딕"/>
              </a:rPr>
              <a:t>건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907290" y="4302063"/>
            <a:ext cx="57880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내용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2192027" y="4297863"/>
            <a:ext cx="7036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작성자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2840642" y="4297863"/>
            <a:ext cx="7036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문의일</a:t>
            </a:r>
          </a:p>
        </p:txBody>
      </p:sp>
      <p:cxnSp>
        <p:nvCxnSpPr>
          <p:cNvPr id="119" name="직선 연결선 118"/>
          <p:cNvCxnSpPr/>
          <p:nvPr/>
        </p:nvCxnSpPr>
        <p:spPr>
          <a:xfrm>
            <a:off x="347346" y="4574862"/>
            <a:ext cx="312528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cxnSp>
        <p:nvCxnSpPr>
          <p:cNvPr id="120" name="직선 연결선 119"/>
          <p:cNvCxnSpPr/>
          <p:nvPr/>
        </p:nvCxnSpPr>
        <p:spPr>
          <a:xfrm>
            <a:off x="347346" y="4302063"/>
            <a:ext cx="312528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cxnSp>
        <p:nvCxnSpPr>
          <p:cNvPr id="121" name="직선 연결선 120"/>
          <p:cNvCxnSpPr/>
          <p:nvPr/>
        </p:nvCxnSpPr>
        <p:spPr>
          <a:xfrm>
            <a:off x="2192027" y="4338505"/>
            <a:ext cx="0" cy="20951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cxnSp>
        <p:nvCxnSpPr>
          <p:cNvPr id="122" name="직선 연결선 121"/>
          <p:cNvCxnSpPr/>
          <p:nvPr/>
        </p:nvCxnSpPr>
        <p:spPr>
          <a:xfrm>
            <a:off x="2840642" y="4331607"/>
            <a:ext cx="0" cy="24745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123" name="직사각형 122"/>
          <p:cNvSpPr/>
          <p:nvPr/>
        </p:nvSpPr>
        <p:spPr>
          <a:xfrm>
            <a:off x="3939679" y="4006017"/>
            <a:ext cx="3125280" cy="1011113"/>
          </a:xfrm>
          <a:prstGeom prst="rect">
            <a:avLst/>
          </a:prstGeom>
          <a:noFill/>
          <a:ln w="31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 sz="1400">
              <a:solidFill>
                <a:schemeClr val="tx1"/>
              </a:solidFill>
              <a:latin typeface="나눔바른고딕"/>
              <a:ea typeface="나눔바른고딕"/>
            </a:endParaRPr>
          </a:p>
        </p:txBody>
      </p:sp>
      <p:sp>
        <p:nvSpPr>
          <p:cNvPr id="124" name="TextBox 123"/>
          <p:cNvSpPr txBox="1"/>
          <p:nvPr/>
        </p:nvSpPr>
        <p:spPr>
          <a:xfrm>
            <a:off x="3755575" y="4012010"/>
            <a:ext cx="129614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상품 문의 </a:t>
            </a:r>
            <a:r>
              <a:rPr lang="en-US" altLang="ko-KR">
                <a:latin typeface="나눔바른고딕"/>
                <a:ea typeface="나눔바른고딕"/>
              </a:rPr>
              <a:t>0</a:t>
            </a:r>
            <a:r>
              <a:rPr lang="ko-KR" altLang="en-US">
                <a:latin typeface="나눔바른고딕"/>
                <a:ea typeface="나눔바른고딕"/>
              </a:rPr>
              <a:t>건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4499623" y="4302063"/>
            <a:ext cx="57880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내용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5784360" y="4297863"/>
            <a:ext cx="7036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작성자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6432975" y="4297863"/>
            <a:ext cx="70365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>
              <a:defRPr/>
            </a:pPr>
            <a:r>
              <a:rPr lang="ko-KR" altLang="en-US">
                <a:latin typeface="나눔바른고딕"/>
                <a:ea typeface="나눔바른고딕"/>
              </a:rPr>
              <a:t>문의일</a:t>
            </a:r>
          </a:p>
        </p:txBody>
      </p:sp>
      <p:cxnSp>
        <p:nvCxnSpPr>
          <p:cNvPr id="128" name="직선 연결선 127"/>
          <p:cNvCxnSpPr/>
          <p:nvPr/>
        </p:nvCxnSpPr>
        <p:spPr>
          <a:xfrm>
            <a:off x="3939679" y="4574862"/>
            <a:ext cx="312528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cxnSp>
        <p:nvCxnSpPr>
          <p:cNvPr id="129" name="직선 연결선 128"/>
          <p:cNvCxnSpPr/>
          <p:nvPr/>
        </p:nvCxnSpPr>
        <p:spPr>
          <a:xfrm>
            <a:off x="3939679" y="4302063"/>
            <a:ext cx="3125280" cy="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cxnSp>
        <p:nvCxnSpPr>
          <p:cNvPr id="130" name="직선 연결선 129"/>
          <p:cNvCxnSpPr/>
          <p:nvPr/>
        </p:nvCxnSpPr>
        <p:spPr>
          <a:xfrm>
            <a:off x="5784360" y="4338505"/>
            <a:ext cx="0" cy="209510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cxnSp>
        <p:nvCxnSpPr>
          <p:cNvPr id="131" name="직선 연결선 130"/>
          <p:cNvCxnSpPr/>
          <p:nvPr/>
        </p:nvCxnSpPr>
        <p:spPr>
          <a:xfrm>
            <a:off x="6432975" y="4331607"/>
            <a:ext cx="0" cy="247455"/>
          </a:xfrm>
          <a:prstGeom prst="line">
            <a:avLst/>
          </a:prstGeom>
          <a:solidFill>
            <a:schemeClr val="accent1"/>
          </a:solidFill>
          <a:ln w="9525" cap="flat" cmpd="sng" algn="ctr">
            <a:solidFill>
              <a:schemeClr val="tx1"/>
            </a:solidFill>
            <a:prstDash val="solid"/>
            <a:round/>
          </a:ln>
          <a:effectLst/>
        </p:spPr>
      </p:cxnSp>
      <p:sp>
        <p:nvSpPr>
          <p:cNvPr id="46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1.3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lang="ko-KR" altLang="en-US" sz="1800" b="1" kern="0" dirty="0" smtClean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관리자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r>
              <a:rPr lang="en-US" altLang="ko-KR"/>
              <a:t>- </a:t>
            </a:r>
            <a:fld id="{C901A90A-51E9-4B3D-970E-5E426F951B65}" type="slidenum">
              <a:rPr lang="en-US" altLang="ko-KR"/>
              <a:pPr>
                <a:defRPr/>
              </a:pPr>
              <a:t>40</a:t>
            </a:fld>
            <a:r>
              <a:rPr lang="en-US" altLang="ko-KR"/>
              <a:t> -</a:t>
            </a:r>
          </a:p>
        </p:txBody>
      </p:sp>
      <p:graphicFrame>
        <p:nvGraphicFramePr>
          <p:cNvPr id="3" name="표 4"/>
          <p:cNvGraphicFramePr>
            <a:graphicFrameLocks noGrp="1"/>
          </p:cNvGraphicFramePr>
          <p:nvPr/>
        </p:nvGraphicFramePr>
        <p:xfrm>
          <a:off x="560511" y="1052738"/>
          <a:ext cx="8928992" cy="5429409"/>
        </p:xfrm>
        <a:graphic>
          <a:graphicData uri="http://schemas.openxmlformats.org/drawingml/2006/table">
            <a:tbl>
              <a:tblPr/>
              <a:tblGrid>
                <a:gridCol w="9964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24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108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10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6846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1949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187221"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alt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I/</a:t>
                      </a: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O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한글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영문 명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필수여부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en-US" sz="1100" b="1" kern="100">
                          <a:latin typeface="맑은 고딕"/>
                          <a:ea typeface="맑은 고딕"/>
                          <a:cs typeface="Times New Roman"/>
                        </a:rPr>
                        <a:t>I/O </a:t>
                      </a: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유형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r>
                        <a:rPr lang="ko-KR" sz="1100" b="1" kern="100">
                          <a:latin typeface="맑은 고딕"/>
                          <a:ea typeface="맑은 고딕"/>
                          <a:cs typeface="Times New Roman"/>
                        </a:rPr>
                        <a:t>초기값</a:t>
                      </a: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  <a:solidFill>
                      <a:srgbClr val="E6E6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관리자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ID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adminId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회원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ID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memberId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내용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(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공지게시판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content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  <a:endParaRPr lang="en-US" altLang="ko-KR" sz="1100" b="0" i="0" u="none" strike="noStrike">
                        <a:solidFill>
                          <a:srgbClr val="000000"/>
                        </a:solidFill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내용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(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문의사항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content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marL="0" marR="0" indent="0" algn="ctr" defTabSz="914400" rtl="0" eaLnBrk="1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FontTx/>
                        <a:buNone/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등록일자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(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공지게시판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regdate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등록일자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(</a:t>
                      </a:r>
                      <a:r>
                        <a:rPr lang="ko-KR" alt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문의사항</a:t>
                      </a: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)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regdate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Y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r>
                        <a:rPr lang="en-US" altLang="ko-KR" sz="1100" b="0" i="0" u="none" strike="noStrike">
                          <a:solidFill>
                            <a:srgbClr val="000000"/>
                          </a:solidFill>
                          <a:effectLst/>
                          <a:latin typeface="맑은 고딕"/>
                        </a:rPr>
                        <a:t>O</a:t>
                      </a: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altLang="ko-KR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3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4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5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6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7"/>
                  </a:ext>
                </a:extLst>
              </a:tr>
              <a:tr h="187221"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ko-KR" alt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defRPr/>
                      </a:pP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맑은 고딕"/>
                      </a:endParaRPr>
                    </a:p>
                  </a:txBody>
                  <a:tcPr marL="9525" marR="9525" marT="9525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ko-KR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ts val="1400"/>
                        </a:lnSpc>
                        <a:spcAft>
                          <a:spcPts val="0"/>
                        </a:spcAft>
                        <a:defRPr/>
                      </a:pPr>
                      <a:endParaRPr lang="en-US" sz="1100" kern="100">
                        <a:latin typeface="맑은 고딕"/>
                        <a:ea typeface="맑은 고딕"/>
                        <a:cs typeface="Times New Roman"/>
                      </a:endParaRPr>
                    </a:p>
                  </a:txBody>
                  <a:tcPr marL="62865" marR="62865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28"/>
                  </a:ext>
                </a:extLst>
              </a:tr>
            </a:tbl>
          </a:graphicData>
        </a:graphic>
      </p:graphicFrame>
      <p:sp>
        <p:nvSpPr>
          <p:cNvPr id="5" name="직사각형 6"/>
          <p:cNvSpPr/>
          <p:nvPr/>
        </p:nvSpPr>
        <p:spPr>
          <a:xfrm>
            <a:off x="425987" y="703729"/>
            <a:ext cx="1386919" cy="27699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>
              <a:defRPr/>
            </a:pPr>
            <a:r>
              <a:rPr lang="en-US" altLang="ko-KR" b="1">
                <a:latin typeface="맑은 고딕"/>
                <a:ea typeface="맑은 고딕"/>
              </a:rPr>
              <a:t>* </a:t>
            </a:r>
            <a:r>
              <a:rPr lang="ko-KR" altLang="ko-KR" b="1">
                <a:latin typeface="맑은 고딕"/>
                <a:ea typeface="맑은 고딕"/>
              </a:rPr>
              <a:t>화면입출력정보</a:t>
            </a:r>
          </a:p>
        </p:txBody>
      </p:sp>
      <p:sp>
        <p:nvSpPr>
          <p:cNvPr id="9" name="Rectangle 3"/>
          <p:cNvSpPr txBox="1">
            <a:spLocks noChangeArrowheads="1"/>
          </p:cNvSpPr>
          <p:nvPr/>
        </p:nvSpPr>
        <p:spPr>
          <a:xfrm>
            <a:off x="301625" y="1714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>
            <a:lvl1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  <a:lvl2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2pPr>
            <a:lvl3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3pPr>
            <a:lvl4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4pPr>
            <a:lvl5pPr algn="l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b="1">
                <a:solidFill>
                  <a:schemeClr val="bg1"/>
                </a:solidFill>
              </a:defRPr>
            </a:lvl9pPr>
          </a:lstStyle>
          <a:p>
            <a:pPr lvl="0">
              <a:defRPr/>
            </a:pPr>
            <a:r>
              <a:rPr lang="en-US" altLang="ko-KR" sz="1800"/>
              <a:t>1. UI </a:t>
            </a:r>
            <a:r>
              <a:rPr lang="ko-KR" altLang="en-US" sz="1800"/>
              <a:t> 설계</a:t>
            </a:r>
          </a:p>
        </p:txBody>
      </p:sp>
      <p:sp>
        <p:nvSpPr>
          <p:cNvPr id="7" name="Rectangle 94"/>
          <p:cNvSpPr txBox="1">
            <a:spLocks noChangeArrowheads="1"/>
          </p:cNvSpPr>
          <p:nvPr/>
        </p:nvSpPr>
        <p:spPr>
          <a:xfrm>
            <a:off x="5902325" y="323850"/>
            <a:ext cx="4003675" cy="304800"/>
          </a:xfrm>
          <a:prstGeom prst="rect">
            <a:avLst/>
          </a:prstGeom>
          <a:noFill/>
          <a:ln w="9525">
            <a:noFill/>
            <a:miter/>
          </a:ln>
        </p:spPr>
        <p:txBody>
          <a:bodyPr vert="horz" wrap="square" lIns="91440" tIns="45720" rIns="91440" bIns="45720" anchor="ctr" anchorCtr="0">
            <a:prstTxWarp prst="textNoShape">
              <a:avLst/>
            </a:prstTxWarp>
          </a:bodyPr>
          <a:lstStyle/>
          <a:p>
            <a:pPr marL="0" marR="0" lvl="0" indent="0" algn="r" defTabSz="914400" rtl="0" eaLnBrk="0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None/>
              <a:defRPr/>
            </a:pP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1.3</a:t>
            </a:r>
            <a:r>
              <a:rPr kumimoji="0" lang="en-US" altLang="ko-KR" sz="1800" b="1" i="0" u="none" strike="noStrike" kern="0" cap="none" spc="0" normalizeH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kumimoji="0" lang="en-US" altLang="ko-KR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 </a:t>
            </a:r>
            <a:r>
              <a:rPr lang="ko-KR" altLang="en-US" sz="1800" b="1" kern="0" dirty="0" smtClean="0">
                <a:solidFill>
                  <a:schemeClr val="bg1"/>
                </a:solidFill>
                <a:latin typeface="+mj-lt"/>
                <a:ea typeface="+mj-ea"/>
                <a:cs typeface="+mj-cs"/>
              </a:rPr>
              <a:t>관리자 </a:t>
            </a:r>
            <a:r>
              <a:rPr kumimoji="0" lang="ko-KR" altLang="en-US" sz="1800" b="1" i="0" u="none" strike="noStrike" kern="0" cap="none" spc="0" normalizeH="0" baseline="0" dirty="0" smtClean="0">
                <a:solidFill>
                  <a:schemeClr val="bg1"/>
                </a:solidFill>
                <a:effectLst/>
                <a:uLnTx/>
                <a:uFillTx/>
                <a:latin typeface="+mj-lt"/>
                <a:ea typeface="+mj-ea"/>
                <a:cs typeface="+mj-cs"/>
              </a:rPr>
              <a:t>화면</a:t>
            </a:r>
            <a:endParaRPr kumimoji="0" lang="ko-KR" altLang="en-US" sz="1800" b="1" i="0" u="none" strike="noStrike" kern="0" cap="none" spc="0" normalizeH="0" baseline="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/>
    </mc:Choice>
    <mc:Fallback xmlns:dsp="http://schemas.microsoft.com/office/drawing/2008/diagram" xmlns:dgm="http://schemas.openxmlformats.org/drawingml/2006/diagram" xmlns:c="http://schemas.openxmlformats.org/drawingml/2006/chart" xmlns="">
      <p:transition/>
    </mc:Fallback>
  </mc:AlternateContent>
</p:sld>
</file>

<file path=ppt/theme/theme1.xml><?xml version="1.0" encoding="utf-8"?>
<a:theme xmlns:a="http://schemas.openxmlformats.org/drawingml/2006/main" name="AC Photograph - Innovator">
  <a:themeElements>
    <a:clrScheme name="">
      <a:dk1>
        <a:srgbClr val="000000"/>
      </a:dk1>
      <a:lt1>
        <a:srgbClr val="FFFFFF"/>
      </a:lt1>
      <a:dk2>
        <a:srgbClr val="FFFFFF"/>
      </a:dk2>
      <a:lt2>
        <a:srgbClr val="C0C0C0"/>
      </a:lt2>
      <a:accent1>
        <a:srgbClr val="0066FF"/>
      </a:accent1>
      <a:accent2>
        <a:srgbClr val="33CCCC"/>
      </a:accent2>
      <a:accent3>
        <a:srgbClr val="FFFFFF"/>
      </a:accent3>
      <a:accent4>
        <a:srgbClr val="000000"/>
      </a:accent4>
      <a:accent5>
        <a:srgbClr val="AAB8FF"/>
      </a:accent5>
      <a:accent6>
        <a:srgbClr val="2DB9B9"/>
      </a:accent6>
      <a:hlink>
        <a:srgbClr val="FF9433"/>
      </a:hlink>
      <a:folHlink>
        <a:srgbClr val="00CC66"/>
      </a:folHlink>
    </a:clrScheme>
    <a:fontScheme name="AC Photograph - Innovator">
      <a:majorFont>
        <a:latin typeface="Arial"/>
        <a:ea typeface="굴림"/>
        <a:cs typeface=""/>
      </a:majorFont>
      <a:minorFont>
        <a:latin typeface="Arial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</a:ln>
        <a:effectLst/>
      </a:spPr>
      <a:bodyPr vert="horz" wrap="none" lIns="90000" tIns="46800" rIns="90000" bIns="46800" numCol="1" anchor="t" anchorCtr="0" compatLnSpc="1">
        <a:prstTxWarp prst="textNoShape">
          <a:avLst/>
        </a:prstTxWarp>
        <a:spAutoFit/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25000"/>
          </a:spcBef>
          <a:spcAft>
            <a:spcPct val="25000"/>
          </a:spcAft>
          <a:buClr>
            <a:schemeClr val="bg1"/>
          </a:buClr>
          <a:buFont typeface="Wingdings"/>
          <a:buNone/>
          <a:defRPr kumimoji="0" lang="en-US" sz="1200" b="0" i="0" u="none" strike="noStrike" cap="none" normalizeH="0" baseline="0" smtClean="0">
            <a:solidFill>
              <a:schemeClr val="tx1"/>
            </a:solidFill>
            <a:effectLst/>
            <a:latin typeface="Arial"/>
            <a:ea typeface="굴림"/>
          </a:defRPr>
        </a:defPPr>
      </a:lstStyle>
    </a:spDef>
    <a:lnDef>
      <a:spPr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</a:ln>
        <a:effectLst/>
      </a:spPr>
      <a:bodyPr vert="horz" wrap="none" lIns="90000" tIns="46800" rIns="90000" bIns="46800" numCol="1" anchor="t" anchorCtr="0" compatLnSpc="1">
        <a:prstTxWarp prst="textNoShape">
          <a:avLst/>
        </a:prstTxWarp>
        <a:spAutoFit/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25000"/>
          </a:spcBef>
          <a:spcAft>
            <a:spcPct val="25000"/>
          </a:spcAft>
          <a:buClr>
            <a:schemeClr val="bg1"/>
          </a:buClr>
          <a:buFont typeface="Wingdings"/>
          <a:buNone/>
          <a:defRPr kumimoji="0" lang="en-US" sz="1200" b="0" i="0" u="none" strike="noStrike" cap="none" normalizeH="0" baseline="0" smtClean="0">
            <a:solidFill>
              <a:schemeClr val="tx1"/>
            </a:solidFill>
            <a:effectLst/>
            <a:latin typeface="Arial"/>
            <a:ea typeface="굴림"/>
          </a:defRPr>
        </a:defPPr>
      </a:lstStyle>
    </a:lnDef>
    <a:txDef>
      <a:spPr/>
      <a:bodyPr/>
      <a:lstStyle/>
    </a:txDef>
  </a:objectDefaults>
  <a:extraClrSchemeLst/>
</a:theme>
</file>

<file path=ppt/theme/theme2.xml><?xml version="1.0" encoding="utf-8"?>
<a:theme xmlns:a="http://schemas.openxmlformats.org/drawingml/2006/main" name="1_AC Photograph - Innovator">
  <a:themeElements>
    <a:clrScheme name="">
      <a:dk1>
        <a:srgbClr val="000000"/>
      </a:dk1>
      <a:lt1>
        <a:srgbClr val="FFFFFF"/>
      </a:lt1>
      <a:dk2>
        <a:srgbClr val="FFFFFF"/>
      </a:dk2>
      <a:lt2>
        <a:srgbClr val="C0C0C0"/>
      </a:lt2>
      <a:accent1>
        <a:srgbClr val="0066FF"/>
      </a:accent1>
      <a:accent2>
        <a:srgbClr val="33CCCC"/>
      </a:accent2>
      <a:accent3>
        <a:srgbClr val="FFFFFF"/>
      </a:accent3>
      <a:accent4>
        <a:srgbClr val="000000"/>
      </a:accent4>
      <a:accent5>
        <a:srgbClr val="AAB8FF"/>
      </a:accent5>
      <a:accent6>
        <a:srgbClr val="2DB9B9"/>
      </a:accent6>
      <a:hlink>
        <a:srgbClr val="FF9433"/>
      </a:hlink>
      <a:folHlink>
        <a:srgbClr val="00CC66"/>
      </a:folHlink>
    </a:clrScheme>
    <a:fontScheme name="AC Photograph - Innovator">
      <a:majorFont>
        <a:latin typeface="Arial"/>
        <a:ea typeface="굴림"/>
        <a:cs typeface=""/>
      </a:majorFont>
      <a:minorFont>
        <a:latin typeface="Arial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</a:ln>
        <a:effectLst/>
      </a:spPr>
      <a:bodyPr vert="horz" wrap="none" lIns="90000" tIns="46800" rIns="90000" bIns="46800" numCol="1" anchor="t" anchorCtr="0" compatLnSpc="1">
        <a:prstTxWarp prst="textNoShape">
          <a:avLst/>
        </a:prstTxWarp>
        <a:spAutoFit/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25000"/>
          </a:spcBef>
          <a:spcAft>
            <a:spcPct val="25000"/>
          </a:spcAft>
          <a:buClr>
            <a:schemeClr val="bg1"/>
          </a:buClr>
          <a:buFont typeface="Wingdings"/>
          <a:buNone/>
          <a:defRPr kumimoji="0" lang="en-US" sz="1200" b="0" i="0" u="none" strike="noStrike" cap="none" normalizeH="0" baseline="0" smtClean="0">
            <a:solidFill>
              <a:schemeClr val="tx1"/>
            </a:solidFill>
            <a:effectLst/>
            <a:latin typeface="Arial"/>
            <a:ea typeface="굴림"/>
          </a:defRPr>
        </a:defPPr>
      </a:lstStyle>
    </a:spDef>
    <a:lnDef>
      <a:spPr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</a:ln>
        <a:effectLst/>
      </a:spPr>
      <a:bodyPr vert="horz" wrap="none" lIns="90000" tIns="46800" rIns="90000" bIns="46800" numCol="1" anchor="t" anchorCtr="0" compatLnSpc="1">
        <a:prstTxWarp prst="textNoShape">
          <a:avLst/>
        </a:prstTxWarp>
        <a:spAutoFit/>
      </a:bodyPr>
      <a:lstStyle>
        <a:defPPr marL="0" marR="0" indent="0" algn="ctr" defTabSz="914400" rtl="0" eaLnBrk="0" fontAlgn="base" latinLnBrk="0" hangingPunct="0">
          <a:lnSpc>
            <a:spcPct val="100000"/>
          </a:lnSpc>
          <a:spcBef>
            <a:spcPct val="25000"/>
          </a:spcBef>
          <a:spcAft>
            <a:spcPct val="25000"/>
          </a:spcAft>
          <a:buClr>
            <a:schemeClr val="bg1"/>
          </a:buClr>
          <a:buFont typeface="Wingdings"/>
          <a:buNone/>
          <a:defRPr kumimoji="0" lang="en-US" sz="1200" b="0" i="0" u="none" strike="noStrike" cap="none" normalizeH="0" baseline="0" smtClean="0">
            <a:solidFill>
              <a:schemeClr val="tx1"/>
            </a:solidFill>
            <a:effectLst/>
            <a:latin typeface="Arial"/>
            <a:ea typeface="굴림"/>
          </a:defRPr>
        </a:defPPr>
      </a:lstStyle>
    </a:lnDef>
    <a:txDef>
      <a:spPr/>
      <a:bodyPr/>
      <a:lstStyle/>
    </a:txDef>
  </a:objectDefaults>
  <a:extraClrSchemeLst/>
</a:theme>
</file>

<file path=ppt/theme/theme3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맑은 고딕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맑은 고딕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MS PGothic"/>
        <a:font script="Hang" typeface="맑은 고딕"/>
        <a:font script="Hans" typeface="SimSu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168</TotalTime>
  <Words>2932</Words>
  <Application>Microsoft Office PowerPoint</Application>
  <PresentationFormat>A4 용지(210x297mm)</PresentationFormat>
  <Paragraphs>1431</Paragraphs>
  <Slides>41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8</vt:i4>
      </vt:variant>
      <vt:variant>
        <vt:lpstr>테마</vt:lpstr>
      </vt:variant>
      <vt:variant>
        <vt:i4>2</vt:i4>
      </vt:variant>
      <vt:variant>
        <vt:lpstr>슬라이드 제목</vt:lpstr>
      </vt:variant>
      <vt:variant>
        <vt:i4>41</vt:i4>
      </vt:variant>
    </vt:vector>
  </HeadingPairs>
  <TitlesOfParts>
    <vt:vector size="51" baseType="lpstr">
      <vt:lpstr>굴림</vt:lpstr>
      <vt:lpstr>나눔바른고딕</vt:lpstr>
      <vt:lpstr>돋움</vt:lpstr>
      <vt:lpstr>맑은 고딕</vt:lpstr>
      <vt:lpstr>바탕체</vt:lpstr>
      <vt:lpstr>Arial</vt:lpstr>
      <vt:lpstr>Times New Roman</vt:lpstr>
      <vt:lpstr>Wingdings</vt:lpstr>
      <vt:lpstr>AC Photograph - Innovator</vt:lpstr>
      <vt:lpstr>1_AC Photograph - Innovator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No Slide Title</dc:title>
  <dc:creator>URIELSOFT</dc:creator>
  <cp:lastModifiedBy>kim soohye</cp:lastModifiedBy>
  <cp:revision>2564</cp:revision>
  <dcterms:created xsi:type="dcterms:W3CDTF">1999-02-15T10:43:20Z</dcterms:created>
  <dcterms:modified xsi:type="dcterms:W3CDTF">2022-07-04T05:55:53Z</dcterms:modified>
  <cp:version>0906.0100.01</cp:version>
</cp:coreProperties>
</file>