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700" r:id="rId1"/>
    <p:sldMasterId id="2147483701" r:id="rId2"/>
  </p:sldMasterIdLst>
  <p:notesMasterIdLst>
    <p:notesMasterId r:id="rId46"/>
  </p:notesMasterIdLst>
  <p:handoutMasterIdLst>
    <p:handoutMasterId r:id="rId47"/>
  </p:handout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8" r:id="rId15"/>
    <p:sldId id="29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9" r:id="rId26"/>
    <p:sldId id="300" r:id="rId27"/>
    <p:sldId id="279" r:id="rId28"/>
    <p:sldId id="280" r:id="rId29"/>
    <p:sldId id="281" r:id="rId30"/>
    <p:sldId id="301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3" r:id="rId40"/>
    <p:sldId id="294" r:id="rId41"/>
    <p:sldId id="302" r:id="rId42"/>
    <p:sldId id="303" r:id="rId43"/>
    <p:sldId id="295" r:id="rId44"/>
    <p:sldId id="296" r:id="rId45"/>
  </p:sldIdLst>
  <p:sldSz cx="9906000" cy="6858000" type="A4"/>
  <p:notesSz cx="6797675" cy="9926638"/>
  <p:defaultTextStyle>
    <a:defPPr>
      <a:defRPr lang="en-US"/>
    </a:defPPr>
    <a:lvl1pPr algn="ctr" rtl="0" eaLnBrk="0" fontAlgn="base" hangingPunct="0">
      <a:spcBef>
        <a:spcPct val="25000"/>
      </a:spcBef>
      <a:spcAft>
        <a:spcPct val="25000"/>
      </a:spcAft>
      <a:buClr>
        <a:schemeClr val="bg1"/>
      </a:buClr>
      <a:buFont typeface="Wingdings"/>
      <a:defRPr sz="1200" kern="1200">
        <a:solidFill>
          <a:schemeClr val="tx1"/>
        </a:solidFill>
        <a:latin typeface="Arial"/>
        <a:ea typeface="굴림"/>
        <a:cs typeface="+mn-cs"/>
      </a:defRPr>
    </a:lvl1pPr>
    <a:lvl2pPr marL="457200" algn="ctr" rtl="0" eaLnBrk="0" fontAlgn="base" hangingPunct="0">
      <a:spcBef>
        <a:spcPct val="25000"/>
      </a:spcBef>
      <a:spcAft>
        <a:spcPct val="25000"/>
      </a:spcAft>
      <a:buClr>
        <a:schemeClr val="bg1"/>
      </a:buClr>
      <a:buFont typeface="Wingdings"/>
      <a:defRPr sz="1200" kern="1200">
        <a:solidFill>
          <a:schemeClr val="tx1"/>
        </a:solidFill>
        <a:latin typeface="Arial"/>
        <a:ea typeface="굴림"/>
        <a:cs typeface="+mn-cs"/>
      </a:defRPr>
    </a:lvl2pPr>
    <a:lvl3pPr marL="914400" algn="ctr" rtl="0" eaLnBrk="0" fontAlgn="base" hangingPunct="0">
      <a:spcBef>
        <a:spcPct val="25000"/>
      </a:spcBef>
      <a:spcAft>
        <a:spcPct val="25000"/>
      </a:spcAft>
      <a:buClr>
        <a:schemeClr val="bg1"/>
      </a:buClr>
      <a:buFont typeface="Wingdings"/>
      <a:defRPr sz="1200" kern="1200">
        <a:solidFill>
          <a:schemeClr val="tx1"/>
        </a:solidFill>
        <a:latin typeface="Arial"/>
        <a:ea typeface="굴림"/>
        <a:cs typeface="+mn-cs"/>
      </a:defRPr>
    </a:lvl3pPr>
    <a:lvl4pPr marL="1371600" algn="ctr" rtl="0" eaLnBrk="0" fontAlgn="base" hangingPunct="0">
      <a:spcBef>
        <a:spcPct val="25000"/>
      </a:spcBef>
      <a:spcAft>
        <a:spcPct val="25000"/>
      </a:spcAft>
      <a:buClr>
        <a:schemeClr val="bg1"/>
      </a:buClr>
      <a:buFont typeface="Wingdings"/>
      <a:defRPr sz="1200" kern="1200">
        <a:solidFill>
          <a:schemeClr val="tx1"/>
        </a:solidFill>
        <a:latin typeface="Arial"/>
        <a:ea typeface="굴림"/>
        <a:cs typeface="+mn-cs"/>
      </a:defRPr>
    </a:lvl4pPr>
    <a:lvl5pPr marL="1828800" algn="ctr" rtl="0" eaLnBrk="0" fontAlgn="base" hangingPunct="0">
      <a:spcBef>
        <a:spcPct val="25000"/>
      </a:spcBef>
      <a:spcAft>
        <a:spcPct val="25000"/>
      </a:spcAft>
      <a:buClr>
        <a:schemeClr val="bg1"/>
      </a:buClr>
      <a:buFont typeface="Wingdings"/>
      <a:defRPr sz="1200" kern="1200">
        <a:solidFill>
          <a:schemeClr val="tx1"/>
        </a:solidFill>
        <a:latin typeface="Arial"/>
        <a:ea typeface="굴림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Arial"/>
        <a:ea typeface="굴림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Arial"/>
        <a:ea typeface="굴림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Arial"/>
        <a:ea typeface="굴림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Arial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556" autoAdjust="0"/>
  </p:normalViewPr>
  <p:slideViewPr>
    <p:cSldViewPr snapToObjects="1">
      <p:cViewPr varScale="1">
        <p:scale>
          <a:sx n="93" d="100"/>
          <a:sy n="93" d="100"/>
        </p:scale>
        <p:origin x="946" y="67"/>
      </p:cViewPr>
      <p:guideLst>
        <p:guide orient="horz" pos="2159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0098"/>
    </p:cViewPr>
  </p:sorterViewPr>
  <p:notesViewPr>
    <p:cSldViewPr snapToObjects="1">
      <p:cViewPr varScale="1">
        <p:scale>
          <a:sx n="68" d="100"/>
          <a:sy n="68" d="100"/>
        </p:scale>
        <p:origin x="-2874" y="-102"/>
      </p:cViewPr>
      <p:guideLst>
        <p:guide orient="horz" pos="3125"/>
        <p:guide pos="213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t" anchorCtr="0">
            <a:prstTxWarp prst="textNoShape">
              <a:avLst/>
            </a:prstTxWarp>
          </a:bodyPr>
          <a:lstStyle>
            <a:lvl1pPr algn="l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t" anchorCtr="0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b" anchorCtr="0">
            <a:prstTxWarp prst="textNoShape">
              <a:avLst/>
            </a:prstTxWarp>
          </a:bodyPr>
          <a:lstStyle>
            <a:lvl1pPr algn="l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b" anchorCtr="0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fld id="{C121CBEC-F840-47FB-B16F-1609A90E49E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t" anchorCtr="0">
            <a:prstTxWarp prst="textNoShape">
              <a:avLst/>
            </a:prstTxWarp>
          </a:bodyPr>
          <a:lstStyle>
            <a:lvl1pPr algn="l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t" anchorCtr="0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20725" y="744538"/>
            <a:ext cx="5376863" cy="3722687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904875" y="4714875"/>
            <a:ext cx="4987925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b" anchorCtr="0">
            <a:prstTxWarp prst="textNoShape">
              <a:avLst/>
            </a:prstTxWarp>
          </a:bodyPr>
          <a:lstStyle>
            <a:lvl1pPr algn="l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2217" tIns="46112" rIns="92217" bIns="46112" anchor="b" anchorCtr="0">
            <a:prstTxWarp prst="textNoShape">
              <a:avLst/>
            </a:prstTxWarp>
          </a:bodyPr>
          <a:lstStyle>
            <a:lvl1pPr algn="r" defTabSz="915988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Times New Roman"/>
              </a:defRPr>
            </a:lvl1pPr>
          </a:lstStyle>
          <a:p>
            <a:pPr>
              <a:defRPr/>
            </a:pPr>
            <a:fld id="{4585C176-5A44-4510-BA21-8BE7765042F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굴림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굴림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굴림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굴림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굴림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85C176-5A44-4510-BA21-8BE7765042F7}" type="slidenum">
              <a:rPr lang="ko-KR" altLang="en-US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072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ChangeArrowheads="1"/>
          </p:cNvSpPr>
          <p:nvPr/>
        </p:nvSpPr>
        <p:spPr bwMode="auto">
          <a:xfrm>
            <a:off x="0" y="0"/>
            <a:ext cx="9906000" cy="35052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B86BCDD-ABA8-4226-A02C-A51F0A9A3C5A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49405D00-FD90-4D7E-AFF7-343B92A0E327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61938" y="685800"/>
            <a:ext cx="4637087" cy="579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51425" y="685800"/>
            <a:ext cx="4638675" cy="579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AE2039CC-F135-4024-9C74-145FE4B0521B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D07F3723-A331-4FFC-B3F9-1D7916814FF3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872880" y="6523428"/>
            <a:ext cx="2063750" cy="287566"/>
          </a:xfrm>
          <a:ln/>
        </p:spPr>
        <p:txBody>
          <a:bodyPr/>
          <a:lstStyle>
            <a:lvl1pPr>
              <a:defRPr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ko-KR" dirty="0"/>
              <a:t>- </a:t>
            </a:r>
            <a:fld id="{C901A90A-51E9-4B3D-970E-5E426F951B65}" type="slidenum">
              <a:rPr lang="en-US" altLang="ko-KR" smtClean="0"/>
              <a:pPr>
                <a:defRPr/>
              </a:pPr>
              <a:t>‹#›</a:t>
            </a:fld>
            <a:r>
              <a:rPr lang="en-US" altLang="ko-KR" dirty="0"/>
              <a:t> -</a:t>
            </a:r>
            <a:endParaRPr lang="ko-KR" altLang="ko-KR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872880" y="6523428"/>
            <a:ext cx="2063750" cy="287566"/>
          </a:xfrm>
          <a:ln/>
        </p:spPr>
        <p:txBody>
          <a:bodyPr/>
          <a:lstStyle>
            <a:lvl1pPr>
              <a:defRPr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ko-KR" dirty="0"/>
              <a:t>- </a:t>
            </a:r>
            <a:fld id="{C901A90A-51E9-4B3D-970E-5E426F951B65}" type="slidenum">
              <a:rPr lang="en-US" altLang="ko-KR" smtClean="0"/>
              <a:pPr>
                <a:defRPr/>
              </a:pPr>
              <a:t>‹#›</a:t>
            </a:fld>
            <a:r>
              <a:rPr lang="en-US" altLang="ko-KR" dirty="0"/>
              <a:t> -</a:t>
            </a:r>
            <a:endParaRPr lang="ko-KR" altLang="ko-KR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BA2DA32A-F3BB-41DF-AC56-86AF8C1BCFEF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Page </a:t>
            </a:r>
            <a:fld id="{7902C462-9337-4C59-AF74-2545D7D57676}" type="slidenum">
              <a:rPr lang="en-US" altLang="ko-KR"/>
              <a:pPr>
                <a:defRPr/>
              </a:pPr>
              <a:t>‹#›</a:t>
            </a:fld>
            <a:r>
              <a:rPr lang="en-US" altLang="ko-KR" dirty="0"/>
              <a:t> / Total Pages</a:t>
            </a:r>
            <a:endParaRPr lang="ko-KR" altLang="ko-KR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CFBBC4A9-88BB-4C13-8EB2-E6F440D15E7E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4250" y="171450"/>
            <a:ext cx="2355850" cy="10937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61938" y="171450"/>
            <a:ext cx="6919912" cy="10937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8904" y="6309320"/>
            <a:ext cx="206375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0FFB40B7-F975-44E4-973C-A72FED32264E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ChangeArrowheads="1"/>
          </p:cNvSpPr>
          <p:nvPr/>
        </p:nvSpPr>
        <p:spPr>
          <a:xfrm>
            <a:off x="0" y="0"/>
            <a:ext cx="9906000" cy="3505200"/>
          </a:xfrm>
          <a:prstGeom prst="rect">
            <a:avLst/>
          </a:prstGeom>
          <a:solidFill>
            <a:srgbClr val="006699"/>
          </a:solidFill>
          <a:ln w="9525">
            <a:noFill/>
            <a:miter/>
          </a:ln>
          <a:effectLst/>
        </p:spPr>
        <p:txBody>
          <a:bodyPr wrap="none" lIns="89999" tIns="46800" rIns="89999" bIns="46800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5B86BCDD-ABA8-4226-A02C-A51F0A9A3C5A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49405D00-FD90-4D7E-AFF7-343B92A0E327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61938" y="685800"/>
            <a:ext cx="4637087" cy="579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51425" y="685800"/>
            <a:ext cx="4638675" cy="579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AE2039CC-F135-4024-9C74-145FE4B0521B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D07F3723-A331-4FFC-B3F9-1D7916814FF3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872880" y="6523428"/>
            <a:ext cx="2063750" cy="287566"/>
          </a:xfrm>
          <a:ln/>
        </p:spPr>
        <p:txBody>
          <a:bodyPr/>
          <a:lstStyle>
            <a:lvl1pPr>
              <a:defRPr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872880" y="6523428"/>
            <a:ext cx="2063750" cy="287566"/>
          </a:xfrm>
          <a:ln/>
        </p:spPr>
        <p:txBody>
          <a:bodyPr/>
          <a:lstStyle>
            <a:lvl1pPr>
              <a:defRPr>
                <a:solidFill>
                  <a:srgbClr val="80808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BA2DA32A-F3BB-41DF-AC56-86AF8C1BCFEF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7902C462-9337-4C59-AF74-2545D7D57676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CFBBC4A9-88BB-4C13-8EB2-E6F440D15E7E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4250" y="171450"/>
            <a:ext cx="2355850" cy="109378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61938" y="171450"/>
            <a:ext cx="6919912" cy="109378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8904" y="6309320"/>
            <a:ext cx="206375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</a:t>
            </a:r>
            <a:fld id="{0FFB40B7-F975-44E4-973C-A72FED32264E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7" name="Rectangle 71"/>
          <p:cNvSpPr>
            <a:spLocks noChangeArrowheads="1"/>
          </p:cNvSpPr>
          <p:nvPr/>
        </p:nvSpPr>
        <p:spPr bwMode="auto">
          <a:xfrm>
            <a:off x="0" y="0"/>
            <a:ext cx="9906000" cy="609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97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21125" y="6249988"/>
            <a:ext cx="2063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+mn-ea"/>
              </a:defRPr>
            </a:lvl1pPr>
          </a:lstStyle>
          <a:p>
            <a:pPr>
              <a:defRPr/>
            </a:pPr>
            <a:r>
              <a:rPr lang="en-US" altLang="ko-KR"/>
              <a:t>Page </a:t>
            </a:r>
            <a:fld id="{61EB4193-1A60-460E-9584-6872C09CD98C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633413" y="1843088"/>
            <a:ext cx="8747125" cy="4316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 sz="1600" b="1"/>
          </a:p>
        </p:txBody>
      </p:sp>
      <p:sp>
        <p:nvSpPr>
          <p:cNvPr id="1029" name="Rectangle 6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1938" y="685800"/>
            <a:ext cx="94281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유형을 편집하려면 누르십시오.</a:t>
            </a:r>
          </a:p>
        </p:txBody>
      </p:sp>
      <p:sp>
        <p:nvSpPr>
          <p:cNvPr id="29761" name="Text Box 65"/>
          <p:cNvSpPr txBox="1">
            <a:spLocks noChangeArrowheads="1"/>
          </p:cNvSpPr>
          <p:nvPr/>
        </p:nvSpPr>
        <p:spPr bwMode="auto">
          <a:xfrm>
            <a:off x="279400" y="698500"/>
            <a:ext cx="9410700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 sz="1600" b="1"/>
          </a:p>
        </p:txBody>
      </p:sp>
      <p:sp>
        <p:nvSpPr>
          <p:cNvPr id="1031" name="Rectangle 70"/>
          <p:cNvSpPr>
            <a:spLocks noGrp="1" noChangeArrowheads="1"/>
          </p:cNvSpPr>
          <p:nvPr>
            <p:ph type="title"/>
          </p:nvPr>
        </p:nvSpPr>
        <p:spPr bwMode="auto"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charset="0"/>
          <a:ea typeface="굴림" pitchFamily="50" charset="-127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</a:defRPr>
      </a:lvl3pPr>
      <a:lvl4pPr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4pPr>
      <a:lvl5pPr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5pPr>
      <a:lvl6pPr marL="4572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6pPr>
      <a:lvl7pPr marL="9144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7pPr>
      <a:lvl8pPr marL="1371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8pPr>
      <a:lvl9pPr marL="1828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q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1_AC Photograph - Innovato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7" name="Rectangle 71"/>
          <p:cNvSpPr>
            <a:spLocks noChangeArrowheads="1"/>
          </p:cNvSpPr>
          <p:nvPr/>
        </p:nvSpPr>
        <p:spPr>
          <a:xfrm>
            <a:off x="0" y="0"/>
            <a:ext cx="9906000" cy="609600"/>
          </a:xfrm>
          <a:prstGeom prst="rect">
            <a:avLst/>
          </a:prstGeom>
          <a:solidFill>
            <a:srgbClr val="006699"/>
          </a:solidFill>
          <a:ln w="9525">
            <a:noFill/>
            <a:miter/>
          </a:ln>
          <a:effectLst/>
        </p:spPr>
        <p:txBody>
          <a:bodyPr wrap="none" lIns="89999" tIns="46800" rIns="89999" bIns="46800" anchor="ctr"/>
          <a:lstStyle/>
          <a:p>
            <a:pPr>
              <a:defRPr/>
            </a:pPr>
            <a:endParaRPr lang="ko-KR" altLang="en-US"/>
          </a:p>
        </p:txBody>
      </p:sp>
      <p:sp>
        <p:nvSpPr>
          <p:cNvPr id="29704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921125" y="6249988"/>
            <a:ext cx="2063750" cy="457200"/>
          </a:xfrm>
          <a:prstGeom prst="rect">
            <a:avLst/>
          </a:prstGeom>
          <a:noFill/>
          <a:ln w="12700">
            <a:noFill/>
            <a:miter/>
          </a:ln>
          <a:effectLst/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mtClean="0">
                <a:latin typeface="+mn-ea"/>
              </a:defRPr>
            </a:lvl1pPr>
          </a:lstStyle>
          <a:p>
            <a:pPr>
              <a:defRPr/>
            </a:pPr>
            <a:r>
              <a:rPr lang="en-US" altLang="ko-KR"/>
              <a:t>Page </a:t>
            </a:r>
            <a:fld id="{61EB4193-1A60-460E-9584-6872C09CD98C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/ Total Pages</a:t>
            </a:r>
            <a:endParaRPr lang="ko-KR" altLang="ko-KR"/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>
          <a:xfrm>
            <a:off x="633413" y="1843088"/>
            <a:ext cx="8747125" cy="4316412"/>
          </a:xfrm>
          <a:prstGeom prst="rect">
            <a:avLst/>
          </a:prstGeom>
          <a:noFill/>
          <a:ln w="12700">
            <a:noFill/>
            <a:miter/>
          </a:ln>
          <a:effectLst/>
        </p:spPr>
        <p:txBody>
          <a:bodyPr lIns="90488" tIns="44450" rIns="90488" bIns="44450"/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 sz="1600" b="1"/>
          </a:p>
        </p:txBody>
      </p:sp>
      <p:sp>
        <p:nvSpPr>
          <p:cNvPr id="1029" name="Rectangle 64"/>
          <p:cNvSpPr>
            <a:spLocks noGrp="1" noChangeArrowheads="1"/>
          </p:cNvSpPr>
          <p:nvPr>
            <p:ph type="body" idx="1"/>
          </p:nvPr>
        </p:nvSpPr>
        <p:spPr>
          <a:xfrm>
            <a:off x="261938" y="685800"/>
            <a:ext cx="9428162" cy="5794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문자열 유형을 편집하려면 누르십시오.</a:t>
            </a:r>
          </a:p>
        </p:txBody>
      </p:sp>
      <p:sp>
        <p:nvSpPr>
          <p:cNvPr id="29761" name="Text Box 65"/>
          <p:cNvSpPr txBox="1">
            <a:spLocks noChangeArrowheads="1"/>
          </p:cNvSpPr>
          <p:nvPr/>
        </p:nvSpPr>
        <p:spPr>
          <a:xfrm>
            <a:off x="279400" y="698500"/>
            <a:ext cx="9410700" cy="56832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/>
          <a:lstStyle/>
          <a:p>
            <a:pPr algn="l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 sz="1600" b="1"/>
          </a:p>
        </p:txBody>
      </p:sp>
      <p:sp>
        <p:nvSpPr>
          <p:cNvPr id="1031" name="Rectangle 70"/>
          <p:cNvSpPr>
            <a:spLocks noGrp="1" noChangeArrowheads="1"/>
          </p:cNvSpPr>
          <p:nvPr>
            <p:ph type="title"/>
          </p:nvPr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2pPr>
      <a:lvl3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3pPr>
      <a:lvl4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4pPr>
      <a:lvl5pPr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/>
          <a:ea typeface="굴림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+mn-lt"/>
          <a:ea typeface="+mn-ea"/>
        </a:defRPr>
      </a:lvl3pPr>
      <a:lvl4pPr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4pPr>
      <a:lvl5pPr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5pPr>
      <a:lvl6pPr marL="4572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6pPr>
      <a:lvl7pPr marL="9144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7pPr>
      <a:lvl8pPr marL="1371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8pPr>
      <a:lvl9pPr marL="18288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/>
        <a:buChar char="q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8"/>
          <p:cNvSpPr>
            <a:spLocks noChangeArrowheads="1"/>
          </p:cNvSpPr>
          <p:nvPr/>
        </p:nvSpPr>
        <p:spPr bwMode="auto">
          <a:xfrm>
            <a:off x="3658237" y="1816100"/>
            <a:ext cx="59747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ko-KR" altLang="en-US" sz="2800" b="1" dirty="0">
                <a:latin typeface="맑은 고딕" pitchFamily="50" charset="-127"/>
                <a:ea typeface="맑은 고딕" pitchFamily="50" charset="-127"/>
              </a:rPr>
              <a:t>팔도주류 </a:t>
            </a:r>
            <a:r>
              <a:rPr lang="en-US" altLang="ko-KR" sz="28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800" b="1" dirty="0">
                <a:latin typeface="맑은 고딕" pitchFamily="50" charset="-127"/>
                <a:ea typeface="맑은 고딕" pitchFamily="50" charset="-127"/>
              </a:rPr>
              <a:t>주류 유통 관리</a:t>
            </a:r>
            <a:r>
              <a:rPr lang="en-US" altLang="ko-KR" sz="28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2800" b="1" dirty="0">
                <a:latin typeface="맑은 고딕" pitchFamily="50" charset="-127"/>
                <a:ea typeface="맑은 고딕" pitchFamily="50" charset="-127"/>
              </a:rPr>
              <a:t> 프로젝트</a:t>
            </a:r>
          </a:p>
        </p:txBody>
      </p:sp>
      <p:sp>
        <p:nvSpPr>
          <p:cNvPr id="3076" name="Rectangle 476"/>
          <p:cNvSpPr>
            <a:spLocks noChangeArrowheads="1"/>
          </p:cNvSpPr>
          <p:nvPr/>
        </p:nvSpPr>
        <p:spPr bwMode="auto">
          <a:xfrm>
            <a:off x="6969125" y="3141663"/>
            <a:ext cx="2808288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latinLnBrk="1">
              <a:lnSpc>
                <a:spcPct val="110000"/>
              </a:lnSpc>
              <a:spcBef>
                <a:spcPct val="10000"/>
              </a:spcBef>
              <a:tabLst>
                <a:tab pos="5588000" algn="r"/>
              </a:tabLst>
            </a:pP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693429" y="2394029"/>
            <a:ext cx="4953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eaLnBrk="1" latinLnBrk="1" hangingPunct="1"/>
            <a:r>
              <a:rPr lang="en-US" altLang="ko-KR" b="1" dirty="0"/>
              <a:t>Version :</a:t>
            </a:r>
            <a:r>
              <a:rPr lang="ko-KR" altLang="en-US" b="1" dirty="0"/>
              <a:t> </a:t>
            </a:r>
            <a:r>
              <a:rPr lang="en-US" altLang="ko-KR" b="1" dirty="0"/>
              <a:t>1.0</a:t>
            </a:r>
          </a:p>
          <a:p>
            <a:pPr algn="r" eaLnBrk="1" latinLnBrk="1" hangingPunct="1"/>
            <a:r>
              <a:rPr lang="ko-KR" altLang="en-US" b="1" dirty="0" err="1"/>
              <a:t>최초작성일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2022</a:t>
            </a:r>
            <a:r>
              <a:rPr lang="ko-KR" altLang="en-US" b="1" dirty="0"/>
              <a:t>년 </a:t>
            </a:r>
            <a:r>
              <a:rPr lang="en-US" altLang="ko-KR" b="1" dirty="0" smtClean="0"/>
              <a:t>07</a:t>
            </a:r>
            <a:r>
              <a:rPr lang="ko-KR" altLang="en-US" b="1" dirty="0" smtClean="0"/>
              <a:t>월 </a:t>
            </a:r>
            <a:r>
              <a:rPr lang="en-US" altLang="ko-KR" b="1" dirty="0" smtClean="0"/>
              <a:t>04</a:t>
            </a:r>
            <a:r>
              <a:rPr lang="ko-KR" altLang="en-US" b="1" dirty="0" smtClean="0"/>
              <a:t>일</a:t>
            </a:r>
            <a:endParaRPr lang="en-US" altLang="ko-KR" b="1" dirty="0" smtClean="0"/>
          </a:p>
          <a:p>
            <a:pPr algn="r" eaLnBrk="1" latinLnBrk="1" hangingPunct="1"/>
            <a:r>
              <a:rPr lang="ko-KR" altLang="en-US" b="1" dirty="0" err="1" smtClean="0"/>
              <a:t>최종수성일</a:t>
            </a:r>
            <a:r>
              <a:rPr lang="ko-KR" altLang="en-US" b="1" dirty="0" smtClean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2022</a:t>
            </a:r>
            <a:r>
              <a:rPr lang="ko-KR" altLang="en-US" b="1" dirty="0"/>
              <a:t>년 </a:t>
            </a:r>
            <a:r>
              <a:rPr lang="en-US" altLang="ko-KR" b="1" dirty="0"/>
              <a:t>07</a:t>
            </a:r>
            <a:r>
              <a:rPr lang="ko-KR" altLang="en-US" b="1" dirty="0"/>
              <a:t>월 </a:t>
            </a:r>
            <a:r>
              <a:rPr lang="en-US" altLang="ko-KR" b="1" dirty="0"/>
              <a:t>04</a:t>
            </a:r>
            <a:r>
              <a:rPr lang="ko-KR" altLang="en-US" b="1" dirty="0"/>
              <a:t>일</a:t>
            </a:r>
            <a:r>
              <a:rPr lang="ko-KR" altLang="en-US" b="1" dirty="0" smtClean="0"/>
              <a:t> </a:t>
            </a:r>
            <a:endParaRPr lang="en-US" altLang="ko-KR" b="1" dirty="0"/>
          </a:p>
          <a:p>
            <a:pPr algn="r" eaLnBrk="1" latinLnBrk="1" hangingPunct="1"/>
            <a:r>
              <a:rPr lang="ko-KR" altLang="en-US" b="1" dirty="0"/>
              <a:t>작성자 </a:t>
            </a:r>
            <a:r>
              <a:rPr lang="en-US" altLang="ko-KR" b="1" dirty="0"/>
              <a:t>:</a:t>
            </a:r>
            <a:r>
              <a:rPr lang="ko-KR" altLang="en-US" b="1" dirty="0"/>
              <a:t>  </a:t>
            </a:r>
            <a:r>
              <a:rPr lang="ko-KR" altLang="en-US" b="1" dirty="0" smtClean="0"/>
              <a:t>최민지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김현동</a:t>
            </a:r>
            <a:r>
              <a:rPr lang="en-US" altLang="ko-KR" b="1" dirty="0" smtClean="0"/>
              <a:t>, </a:t>
            </a:r>
            <a:r>
              <a:rPr lang="ko-KR" altLang="en-US" b="1" dirty="0" err="1" smtClean="0"/>
              <a:t>김수혜</a:t>
            </a:r>
            <a:endParaRPr lang="en-US" altLang="ko-KR" b="1" dirty="0" smtClean="0"/>
          </a:p>
          <a:p>
            <a:pPr algn="r" eaLnBrk="1" latinLnBrk="1" hangingPunct="1"/>
            <a:endParaRPr lang="en-US" altLang="ko-KR" b="1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87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- </a:t>
            </a:r>
            <a:fld id="{C901A90A-51E9-4B3D-970E-5E426F951B65}" type="slidenum">
              <a:rPr lang="en-US" altLang="ko-KR" smtClean="0"/>
              <a:pPr>
                <a:defRPr/>
              </a:pPr>
              <a:t>1</a:t>
            </a:fld>
            <a:r>
              <a:rPr lang="en-US" altLang="ko-KR" dirty="0"/>
              <a:t> -</a:t>
            </a:r>
            <a:endParaRPr lang="ko-KR" altLang="ko-KR" dirty="0"/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 bwMode="auto"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9pPr>
          </a:lstStyle>
          <a:p>
            <a:r>
              <a:rPr lang="en-US" altLang="ko-KR" sz="1800" dirty="0"/>
              <a:t>1. UI </a:t>
            </a:r>
            <a:r>
              <a:rPr lang="ko-KR" altLang="en-US" sz="1800" dirty="0"/>
              <a:t> 설계</a:t>
            </a:r>
          </a:p>
        </p:txBody>
      </p:sp>
      <p:sp>
        <p:nvSpPr>
          <p:cNvPr id="4" name="Rectangle 94"/>
          <p:cNvSpPr txBox="1">
            <a:spLocks noChangeArrowheads="1"/>
          </p:cNvSpPr>
          <p:nvPr/>
        </p:nvSpPr>
        <p:spPr bwMode="auto"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1.1</a:t>
            </a:r>
            <a:r>
              <a:rPr kumimoji="0" lang="en-US" altLang="ko-KR" sz="1800" b="1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공통 화면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289065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Level1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Level2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공통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UI_PD4_011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메인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페이지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화면개요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사이트의 메인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로고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 창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장바구니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추천 상품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판매하는 상품들을 조회할 수 있다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 메인 화면 중 로고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검색창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장바구니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회원가입이 화면에 조회된다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회원가입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찾기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패스워드 찾기를 누르면 각각 의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사이트의 상품 목록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커뮤니티 게시판의 카테고리를 누르면 각각의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추천 상품이 조회된다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사이트에서 판매하는 상품들이 나열된다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 상품을 클릭하면 상세정보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29FAED81-6482-F4DC-F37C-025105797D53}"/>
              </a:ext>
            </a:extLst>
          </p:cNvPr>
          <p:cNvGrpSpPr/>
          <p:nvPr/>
        </p:nvGrpSpPr>
        <p:grpSpPr>
          <a:xfrm>
            <a:off x="567210" y="1976160"/>
            <a:ext cx="6395746" cy="4511422"/>
            <a:chOff x="198449" y="610796"/>
            <a:chExt cx="8348954" cy="6048672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E01C8B0-7AF4-3AF6-8306-4B632E9813B0}"/>
                </a:ext>
              </a:extLst>
            </p:cNvPr>
            <p:cNvSpPr/>
            <p:nvPr/>
          </p:nvSpPr>
          <p:spPr>
            <a:xfrm>
              <a:off x="236816" y="610796"/>
              <a:ext cx="8136904" cy="60486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03BFF3E-DA5A-67C8-718F-4306B5CD4829}"/>
                </a:ext>
              </a:extLst>
            </p:cNvPr>
            <p:cNvSpPr/>
            <p:nvPr/>
          </p:nvSpPr>
          <p:spPr>
            <a:xfrm>
              <a:off x="236816" y="975779"/>
              <a:ext cx="8136904" cy="533848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7856568-B3D5-9CE0-983D-E4E41158B450}"/>
                </a:ext>
              </a:extLst>
            </p:cNvPr>
            <p:cNvSpPr/>
            <p:nvPr/>
          </p:nvSpPr>
          <p:spPr>
            <a:xfrm>
              <a:off x="355112" y="1062802"/>
              <a:ext cx="1162948" cy="29701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로고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7A548E9-ADC2-91E0-F819-774E6339DA97}"/>
                </a:ext>
              </a:extLst>
            </p:cNvPr>
            <p:cNvSpPr/>
            <p:nvPr/>
          </p:nvSpPr>
          <p:spPr>
            <a:xfrm>
              <a:off x="2446019" y="1056378"/>
              <a:ext cx="1961677" cy="2880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검색 창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C28FCA2-8574-1407-A473-07D2AC1D73ED}"/>
                </a:ext>
              </a:extLst>
            </p:cNvPr>
            <p:cNvSpPr/>
            <p:nvPr/>
          </p:nvSpPr>
          <p:spPr>
            <a:xfrm>
              <a:off x="2632758" y="2692104"/>
              <a:ext cx="5534307" cy="336789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A1B65F2-6F37-C806-96CB-BA306D038DF2}"/>
                </a:ext>
              </a:extLst>
            </p:cNvPr>
            <p:cNvSpPr/>
            <p:nvPr/>
          </p:nvSpPr>
          <p:spPr>
            <a:xfrm>
              <a:off x="3658276" y="3262551"/>
              <a:ext cx="1512168" cy="2080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4281866-1AF4-0878-23E0-1F0FDA482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5716" y="4025875"/>
              <a:ext cx="598901" cy="598901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79C9DC9-5B1C-BE5E-D322-D26AEEC9D062}"/>
                </a:ext>
              </a:extLst>
            </p:cNvPr>
            <p:cNvSpPr/>
            <p:nvPr/>
          </p:nvSpPr>
          <p:spPr>
            <a:xfrm>
              <a:off x="5661374" y="3281641"/>
              <a:ext cx="1512168" cy="2080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52FFB3BF-8BCD-4DBB-8FBE-0BA3D48AD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8814" y="4044965"/>
              <a:ext cx="598901" cy="59890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8AA9205-6955-8518-FC8C-5C0120D1C3DE}"/>
                </a:ext>
              </a:extLst>
            </p:cNvPr>
            <p:cNvSpPr txBox="1"/>
            <p:nvPr/>
          </p:nvSpPr>
          <p:spPr>
            <a:xfrm>
              <a:off x="7103625" y="1057421"/>
              <a:ext cx="144377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마이페이지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96C9F7FB-7383-089E-6E93-596C9D9F87B5}"/>
                </a:ext>
              </a:extLst>
            </p:cNvPr>
            <p:cNvGrpSpPr/>
            <p:nvPr/>
          </p:nvGrpSpPr>
          <p:grpSpPr>
            <a:xfrm>
              <a:off x="4591999" y="3404529"/>
              <a:ext cx="428160" cy="415721"/>
              <a:chOff x="2819501" y="1729949"/>
              <a:chExt cx="576857" cy="503788"/>
            </a:xfrm>
          </p:grpSpPr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D9ED5C2E-4413-D954-0484-773FCDBA9C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6035" y="1729949"/>
                <a:ext cx="503788" cy="503788"/>
              </a:xfrm>
              <a:prstGeom prst="rect">
                <a:avLst/>
              </a:prstGeom>
            </p:spPr>
          </p:pic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0071F799-D5FC-6B59-ECFB-51B867809B3F}"/>
                  </a:ext>
                </a:extLst>
              </p:cNvPr>
              <p:cNvSpPr/>
              <p:nvPr/>
            </p:nvSpPr>
            <p:spPr>
              <a:xfrm>
                <a:off x="2819501" y="1729949"/>
                <a:ext cx="576857" cy="4621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0D94098-9EDF-E08C-0511-8EBFED6D9E92}"/>
                </a:ext>
              </a:extLst>
            </p:cNvPr>
            <p:cNvGrpSpPr/>
            <p:nvPr/>
          </p:nvGrpSpPr>
          <p:grpSpPr>
            <a:xfrm>
              <a:off x="6602570" y="3404529"/>
              <a:ext cx="428160" cy="415721"/>
              <a:chOff x="2819501" y="1729949"/>
              <a:chExt cx="576857" cy="503788"/>
            </a:xfrm>
          </p:grpSpPr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CEE147E8-FEE7-ED24-25FF-7D15106C3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6035" y="1729949"/>
                <a:ext cx="503788" cy="503788"/>
              </a:xfrm>
              <a:prstGeom prst="rect">
                <a:avLst/>
              </a:prstGeom>
            </p:spPr>
          </p:pic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BD50A67D-373C-4E27-2AC6-F2DC8FBA6DF9}"/>
                  </a:ext>
                </a:extLst>
              </p:cNvPr>
              <p:cNvSpPr/>
              <p:nvPr/>
            </p:nvSpPr>
            <p:spPr>
              <a:xfrm>
                <a:off x="2819501" y="1729949"/>
                <a:ext cx="576857" cy="4621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ED871DF-413A-C440-3143-F9D83EBEB80B}"/>
                </a:ext>
              </a:extLst>
            </p:cNvPr>
            <p:cNvSpPr txBox="1"/>
            <p:nvPr/>
          </p:nvSpPr>
          <p:spPr>
            <a:xfrm>
              <a:off x="6245208" y="1075550"/>
              <a:ext cx="144377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장바구니</a:t>
              </a: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2150BA31-15E1-44E0-1125-5824DCDA0460}"/>
                </a:ext>
              </a:extLst>
            </p:cNvPr>
            <p:cNvGrpSpPr/>
            <p:nvPr/>
          </p:nvGrpSpPr>
          <p:grpSpPr>
            <a:xfrm>
              <a:off x="198449" y="1512869"/>
              <a:ext cx="2381260" cy="1009647"/>
              <a:chOff x="209382" y="1439192"/>
              <a:chExt cx="2381260" cy="1009647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D3813C71-DEC2-C390-313D-B58569F2D253}"/>
                  </a:ext>
                </a:extLst>
              </p:cNvPr>
              <p:cNvSpPr/>
              <p:nvPr/>
            </p:nvSpPr>
            <p:spPr>
              <a:xfrm>
                <a:off x="356938" y="1439192"/>
                <a:ext cx="2100550" cy="1003888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52F7DB99-27EA-BAD1-78D8-576B09BF458E}"/>
                  </a:ext>
                </a:extLst>
              </p:cNvPr>
              <p:cNvSpPr/>
              <p:nvPr/>
            </p:nvSpPr>
            <p:spPr>
              <a:xfrm>
                <a:off x="407368" y="1488909"/>
                <a:ext cx="882926" cy="29850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C4BEFD41-1A40-14B7-0B77-D2959393C955}"/>
                  </a:ext>
                </a:extLst>
              </p:cNvPr>
              <p:cNvSpPr/>
              <p:nvPr/>
            </p:nvSpPr>
            <p:spPr>
              <a:xfrm>
                <a:off x="407368" y="1793738"/>
                <a:ext cx="882926" cy="29850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1392CA0A-5584-394A-056B-333654C9CF6C}"/>
                  </a:ext>
                </a:extLst>
              </p:cNvPr>
              <p:cNvSpPr/>
              <p:nvPr/>
            </p:nvSpPr>
            <p:spPr>
              <a:xfrm>
                <a:off x="1365718" y="1507159"/>
                <a:ext cx="1020849" cy="592861"/>
              </a:xfrm>
              <a:prstGeom prst="rect">
                <a:avLst/>
              </a:prstGeom>
              <a:solidFill>
                <a:srgbClr val="64C07A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LOGIN</a:t>
                </a:r>
              </a:p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로그인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279ABA-A5DF-9A16-1DF9-8D36E133B7F5}"/>
                  </a:ext>
                </a:extLst>
              </p:cNvPr>
              <p:cNvSpPr txBox="1"/>
              <p:nvPr/>
            </p:nvSpPr>
            <p:spPr>
              <a:xfrm>
                <a:off x="209382" y="2149381"/>
                <a:ext cx="882928" cy="288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회원가입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43D01C-235E-EAAF-6BD3-863EE1124F83}"/>
                  </a:ext>
                </a:extLst>
              </p:cNvPr>
              <p:cNvSpPr txBox="1"/>
              <p:nvPr/>
            </p:nvSpPr>
            <p:spPr>
              <a:xfrm>
                <a:off x="766532" y="2150840"/>
                <a:ext cx="1020849" cy="288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아이디 찾기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42D717-2715-AE01-8DD6-AC813AAA5A8A}"/>
                  </a:ext>
                </a:extLst>
              </p:cNvPr>
              <p:cNvSpPr txBox="1"/>
              <p:nvPr/>
            </p:nvSpPr>
            <p:spPr>
              <a:xfrm>
                <a:off x="1507788" y="2159983"/>
                <a:ext cx="1082854" cy="288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8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패스워드 찾기</a:t>
                </a:r>
              </a:p>
            </p:txBody>
          </p:sp>
        </p:grp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AAAC944-689B-93F0-6402-659C73598A80}"/>
                </a:ext>
              </a:extLst>
            </p:cNvPr>
            <p:cNvSpPr/>
            <p:nvPr/>
          </p:nvSpPr>
          <p:spPr>
            <a:xfrm>
              <a:off x="2632759" y="1512869"/>
              <a:ext cx="5534308" cy="100388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881AE24-FECB-64A4-2AF5-33B8DDB92A20}"/>
                </a:ext>
              </a:extLst>
            </p:cNvPr>
            <p:cNvSpPr txBox="1"/>
            <p:nvPr/>
          </p:nvSpPr>
          <p:spPr>
            <a:xfrm>
              <a:off x="4763623" y="1850685"/>
              <a:ext cx="1296144" cy="30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추천 상품</a:t>
              </a: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C61F6908-2017-97C5-8577-1EBDD2FB588A}"/>
                </a:ext>
              </a:extLst>
            </p:cNvPr>
            <p:cNvGrpSpPr/>
            <p:nvPr/>
          </p:nvGrpSpPr>
          <p:grpSpPr>
            <a:xfrm>
              <a:off x="317382" y="2746705"/>
              <a:ext cx="2146857" cy="3330109"/>
              <a:chOff x="320418" y="2465089"/>
              <a:chExt cx="2146857" cy="3330109"/>
            </a:xfrm>
          </p:grpSpPr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F65ADA7C-92B2-2376-DE21-6C8826F74E6D}"/>
                  </a:ext>
                </a:extLst>
              </p:cNvPr>
              <p:cNvSpPr/>
              <p:nvPr/>
            </p:nvSpPr>
            <p:spPr>
              <a:xfrm>
                <a:off x="380235" y="2465089"/>
                <a:ext cx="2087040" cy="3330109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0FA7D50-8181-91FE-766D-D71EAF4BC7C1}"/>
                  </a:ext>
                </a:extLst>
              </p:cNvPr>
              <p:cNvSpPr txBox="1"/>
              <p:nvPr/>
            </p:nvSpPr>
            <p:spPr>
              <a:xfrm>
                <a:off x="422521" y="3838387"/>
                <a:ext cx="1160767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공지사항</a:t>
                </a: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4C9784AE-72B6-ABE7-E243-2F9E58DFF29A}"/>
                  </a:ext>
                </a:extLst>
              </p:cNvPr>
              <p:cNvSpPr/>
              <p:nvPr/>
            </p:nvSpPr>
            <p:spPr>
              <a:xfrm>
                <a:off x="422521" y="2524036"/>
                <a:ext cx="1961677" cy="28803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상품 카테고리</a:t>
                </a:r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422178D9-ADD9-FC17-95C4-83DC8C03ED7C}"/>
                  </a:ext>
                </a:extLst>
              </p:cNvPr>
              <p:cNvSpPr/>
              <p:nvPr/>
            </p:nvSpPr>
            <p:spPr>
              <a:xfrm>
                <a:off x="430762" y="3497845"/>
                <a:ext cx="1961677" cy="288032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커뮤니티 게시판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6A9DA86-E85B-C2E5-FA82-E240AA797090}"/>
                  </a:ext>
                </a:extLst>
              </p:cNvPr>
              <p:cNvSpPr txBox="1"/>
              <p:nvPr/>
            </p:nvSpPr>
            <p:spPr>
              <a:xfrm>
                <a:off x="481504" y="2883559"/>
                <a:ext cx="11607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ko-KR" altLang="en-US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A21115E-8211-C197-B468-7FD6A8F72B2B}"/>
                  </a:ext>
                </a:extLst>
              </p:cNvPr>
              <p:cNvSpPr txBox="1"/>
              <p:nvPr/>
            </p:nvSpPr>
            <p:spPr>
              <a:xfrm>
                <a:off x="320418" y="4194842"/>
                <a:ext cx="1311880" cy="30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찜 목록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582B3B6-9644-A95A-71DC-FC29F66E3302}"/>
                </a:ext>
              </a:extLst>
            </p:cNvPr>
            <p:cNvSpPr txBox="1"/>
            <p:nvPr/>
          </p:nvSpPr>
          <p:spPr>
            <a:xfrm>
              <a:off x="446362" y="3130190"/>
              <a:ext cx="571707" cy="30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1.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9AD2BAD-C56E-07F7-B26F-F27DA4ADC1DC}"/>
                </a:ext>
              </a:extLst>
            </p:cNvPr>
            <p:cNvSpPr txBox="1"/>
            <p:nvPr/>
          </p:nvSpPr>
          <p:spPr>
            <a:xfrm>
              <a:off x="446362" y="3446000"/>
              <a:ext cx="571707" cy="30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2.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7EA098F-DE00-A371-34D2-5B1E1969AD78}"/>
              </a:ext>
            </a:extLst>
          </p:cNvPr>
          <p:cNvSpPr txBox="1"/>
          <p:nvPr/>
        </p:nvSpPr>
        <p:spPr>
          <a:xfrm>
            <a:off x="540790" y="1986994"/>
            <a:ext cx="40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</a:t>
            </a:r>
            <a:endParaRPr lang="ko-KR" altLang="en-US" sz="2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E16038D-A23E-B12F-754C-E88884DD93A6}"/>
              </a:ext>
            </a:extLst>
          </p:cNvPr>
          <p:cNvSpPr txBox="1"/>
          <p:nvPr/>
        </p:nvSpPr>
        <p:spPr>
          <a:xfrm>
            <a:off x="1985747" y="2387104"/>
            <a:ext cx="40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</a:t>
            </a:r>
            <a:endParaRPr lang="ko-KR" altLang="en-US" sz="2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000EFD-8A9B-E978-8DF3-8BBCEBE3BA22}"/>
              </a:ext>
            </a:extLst>
          </p:cNvPr>
          <p:cNvSpPr txBox="1"/>
          <p:nvPr/>
        </p:nvSpPr>
        <p:spPr>
          <a:xfrm>
            <a:off x="2305651" y="2448639"/>
            <a:ext cx="40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④</a:t>
            </a:r>
            <a:endParaRPr lang="ko-KR" altLang="en-US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EE193D-AB62-AF57-9720-DD5040994DF9}"/>
              </a:ext>
            </a:extLst>
          </p:cNvPr>
          <p:cNvSpPr txBox="1"/>
          <p:nvPr/>
        </p:nvSpPr>
        <p:spPr>
          <a:xfrm>
            <a:off x="465143" y="3319036"/>
            <a:ext cx="40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</a:t>
            </a:r>
            <a:endParaRPr lang="ko-KR" altLang="en-US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61868E-B582-4385-1E96-0022ECF52EDB}"/>
              </a:ext>
            </a:extLst>
          </p:cNvPr>
          <p:cNvSpPr txBox="1"/>
          <p:nvPr/>
        </p:nvSpPr>
        <p:spPr>
          <a:xfrm>
            <a:off x="2176227" y="3290519"/>
            <a:ext cx="404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⑤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571588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</a:t>
            </a:fld>
            <a:r>
              <a:rPr lang="en-US" altLang="ko-KR"/>
              <a:t> -</a:t>
            </a:r>
            <a:endParaRPr lang="ko-KR" altLang="ko-KR"/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회원비밀번호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memberPw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이미지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image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가격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8" name="Rectangle 94"/>
          <p:cNvSpPr txBox="1">
            <a:spLocks noChangeArrowheads="1"/>
          </p:cNvSpPr>
          <p:nvPr/>
        </p:nvSpPr>
        <p:spPr bwMode="auto"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1.1</a:t>
            </a:r>
            <a:r>
              <a:rPr kumimoji="0" lang="en-US" altLang="ko-KR" sz="1800" b="1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공통 화면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</a:t>
            </a:fld>
            <a:r>
              <a:rPr lang="en-US" altLang="ko-KR"/>
              <a:t> -</a:t>
            </a:r>
            <a:endParaRPr lang="ko-KR" altLang="ko-KR"/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55928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공통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로그인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가입</a:t>
                      </a:r>
                      <a:r>
                        <a:rPr lang="en-US" altLang="ko-KR" sz="10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페이지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로그인과 회원가입을 할 수 있는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아이디와 비밀번호를 입력하고 로그인 버튼을 누르면 회원 정보를 확인한 후 정보가 일치하면 로그인 후 메인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아이디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비밀번호 찾기를 누르면 회원정보 확인 하고 그 정보가 일치하면 비밀번호를 이메일로 전송한다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회원가입에 필요한 정보를 입력하고 가입하기 버튼을 누른다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회원 정보 등록 여부에 오류처리가 생기면 다시 작성한다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등록여부에 성공하면 회원가입이 완료된다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469400" y="1890649"/>
            <a:ext cx="2390704" cy="2323263"/>
            <a:chOff x="430545" y="1296082"/>
            <a:chExt cx="3649231" cy="3717094"/>
          </a:xfrm>
        </p:grpSpPr>
        <p:sp>
          <p:nvSpPr>
            <p:cNvPr id="28" name="TextBox 27"/>
            <p:cNvSpPr txBox="1"/>
            <p:nvPr/>
          </p:nvSpPr>
          <p:spPr>
            <a:xfrm>
              <a:off x="593530" y="2394320"/>
              <a:ext cx="1080120" cy="443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아이디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6043" y="3019559"/>
              <a:ext cx="1224136" cy="443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비밀번호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50466" y="1296082"/>
              <a:ext cx="3529310" cy="37170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88112" y="1418311"/>
              <a:ext cx="2315599" cy="443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로그인</a:t>
              </a:r>
              <a:r>
                <a:rPr lang="en-US" altLang="ko-KR">
                  <a:latin typeface="나눔바른고딕"/>
                  <a:ea typeface="나눔바른고딕"/>
                </a:rPr>
                <a:t>(</a:t>
              </a:r>
              <a:r>
                <a:rPr lang="ko-KR" altLang="en-US">
                  <a:latin typeface="나눔바른고딕"/>
                  <a:ea typeface="나눔바른고딕"/>
                </a:rPr>
                <a:t>일반</a:t>
              </a:r>
              <a:r>
                <a:rPr lang="en-US" altLang="ko-KR">
                  <a:latin typeface="나눔바른고딕"/>
                  <a:ea typeface="나눔바른고딕"/>
                </a:rPr>
                <a:t>/</a:t>
              </a:r>
              <a:r>
                <a:rPr lang="ko-KR" altLang="en-US">
                  <a:latin typeface="나눔바른고딕"/>
                  <a:ea typeface="나눔바른고딕"/>
                </a:rPr>
                <a:t>관리자</a:t>
              </a:r>
              <a:r>
                <a:rPr lang="en-US" altLang="ko-KR">
                  <a:latin typeface="나눔바른고딕"/>
                  <a:ea typeface="나눔바른고딕"/>
                </a:rPr>
                <a:t>)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719708" y="2426395"/>
              <a:ext cx="2016224" cy="3693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719708" y="2994702"/>
              <a:ext cx="2016224" cy="3693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05587" y="4319945"/>
              <a:ext cx="1480646" cy="4678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나눔바른고딕"/>
                  <a:ea typeface="나눔바른고딕"/>
                </a:rPr>
                <a:t>로그인</a:t>
              </a:r>
              <a:endParaRPr lang="en-US" altLang="ko-KR" sz="1300">
                <a:latin typeface="나눔바른고딕"/>
                <a:ea typeface="나눔바른고딕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0545" y="3472781"/>
              <a:ext cx="1480645" cy="393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00">
                  <a:latin typeface="나눔바른고딕"/>
                  <a:ea typeface="나눔바른고딕"/>
                </a:rPr>
                <a:t>아이디 찾기</a:t>
              </a:r>
              <a:endParaRPr lang="en-US" altLang="ko-KR" sz="1000">
                <a:latin typeface="나눔바른고딕"/>
                <a:ea typeface="나눔바른고딕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504600" y="3478116"/>
              <a:ext cx="1703942" cy="3939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00">
                  <a:latin typeface="나눔바른고딕"/>
                  <a:ea typeface="나눔바른고딕"/>
                </a:rPr>
                <a:t>비밀번호 찾기</a:t>
              </a:r>
              <a:endParaRPr lang="en-US" altLang="ko-KR" sz="1000">
                <a:latin typeface="나눔바른고딕"/>
                <a:ea typeface="나눔바른고딕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380736" y="177297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/>
          </a:p>
        </p:txBody>
      </p:sp>
      <p:sp>
        <p:nvSpPr>
          <p:cNvPr id="52" name="TextBox 51"/>
          <p:cNvSpPr txBox="1"/>
          <p:nvPr/>
        </p:nvSpPr>
        <p:spPr>
          <a:xfrm>
            <a:off x="226525" y="429430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/>
          </a:p>
        </p:txBody>
      </p:sp>
      <p:sp>
        <p:nvSpPr>
          <p:cNvPr id="53" name="TextBox 52"/>
          <p:cNvSpPr txBox="1"/>
          <p:nvPr/>
        </p:nvSpPr>
        <p:spPr>
          <a:xfrm>
            <a:off x="236390" y="176609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grpSp>
        <p:nvGrpSpPr>
          <p:cNvPr id="24" name="그룹 23"/>
          <p:cNvGrpSpPr/>
          <p:nvPr/>
        </p:nvGrpSpPr>
        <p:grpSpPr>
          <a:xfrm>
            <a:off x="4665312" y="1877323"/>
            <a:ext cx="2348932" cy="3511556"/>
            <a:chOff x="2764683" y="548754"/>
            <a:chExt cx="2339129" cy="3554258"/>
          </a:xfrm>
        </p:grpSpPr>
        <p:sp>
          <p:nvSpPr>
            <p:cNvPr id="37" name="TextBox 36"/>
            <p:cNvSpPr txBox="1"/>
            <p:nvPr/>
          </p:nvSpPr>
          <p:spPr>
            <a:xfrm>
              <a:off x="2803176" y="982684"/>
              <a:ext cx="707614" cy="326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아이디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791671" y="548754"/>
              <a:ext cx="2312141" cy="355425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87302" y="608274"/>
              <a:ext cx="1320880" cy="326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회원가입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510790" y="994679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469530" y="3774002"/>
              <a:ext cx="956421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나눔바른고딕"/>
                  <a:ea typeface="나눔바른고딕"/>
                </a:rPr>
                <a:t>가입하기</a:t>
              </a:r>
              <a:endParaRPr lang="en-US" altLang="ko-KR" sz="1300">
                <a:latin typeface="나눔바른고딕"/>
                <a:ea typeface="나눔바른고딕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69808" y="1315438"/>
              <a:ext cx="80770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비밀번호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3510790" y="1327433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803176" y="1648069"/>
              <a:ext cx="7076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이름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3510790" y="1660064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803176" y="1980298"/>
              <a:ext cx="7743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생년월일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3510790" y="1992293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803176" y="2323728"/>
              <a:ext cx="7076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이메일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3510790" y="2335723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803176" y="2694930"/>
              <a:ext cx="7076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주소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510790" y="2686779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764683" y="3346824"/>
              <a:ext cx="7743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전화번호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510790" y="3027273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510790" y="3352336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804750" y="3431528"/>
            <a:ext cx="264216" cy="1040902"/>
            <a:chOff x="938207" y="3607156"/>
            <a:chExt cx="250384" cy="964041"/>
          </a:xfrm>
        </p:grpSpPr>
        <p:sp>
          <p:nvSpPr>
            <p:cNvPr id="84" name="화살표: 위쪽 83"/>
            <p:cNvSpPr/>
            <p:nvPr/>
          </p:nvSpPr>
          <p:spPr>
            <a:xfrm>
              <a:off x="938207" y="3607156"/>
              <a:ext cx="250384" cy="31493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cxnSp>
          <p:nvCxnSpPr>
            <p:cNvPr id="85" name="직선 화살표 연결선 84"/>
            <p:cNvCxnSpPr/>
            <p:nvPr/>
          </p:nvCxnSpPr>
          <p:spPr>
            <a:xfrm>
              <a:off x="1063399" y="3923351"/>
              <a:ext cx="0" cy="64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/>
          <p:cNvGrpSpPr/>
          <p:nvPr/>
        </p:nvGrpSpPr>
        <p:grpSpPr>
          <a:xfrm>
            <a:off x="361849" y="4446537"/>
            <a:ext cx="2224026" cy="1862352"/>
            <a:chOff x="588243" y="4595612"/>
            <a:chExt cx="2224026" cy="1862352"/>
          </a:xfrm>
        </p:grpSpPr>
        <p:sp>
          <p:nvSpPr>
            <p:cNvPr id="9" name="직사각형 8"/>
            <p:cNvSpPr/>
            <p:nvPr/>
          </p:nvSpPr>
          <p:spPr>
            <a:xfrm>
              <a:off x="588243" y="4770771"/>
              <a:ext cx="2224026" cy="168719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5645" y="5040626"/>
              <a:ext cx="7076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이름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1337703" y="5041848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49082" y="5442175"/>
              <a:ext cx="7743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생년월일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1353896" y="5415076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11106" y="5803433"/>
              <a:ext cx="7743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전화번호</a:t>
              </a:r>
              <a:endParaRPr lang="en-US" altLang="ko-KR">
                <a:latin typeface="나눔바른고딕"/>
                <a:ea typeface="나눔바른고딕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353896" y="5788304"/>
              <a:ext cx="1320880" cy="28515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1044" y="4595612"/>
              <a:ext cx="1618423" cy="27699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solidFill>
                    <a:schemeClr val="bg1"/>
                  </a:solidFill>
                  <a:latin typeface="나눔바른고딕"/>
                  <a:ea typeface="나눔바른고딕"/>
                </a:rPr>
                <a:t>아이디</a:t>
              </a:r>
              <a:r>
                <a:rPr lang="en-US" altLang="ko-KR">
                  <a:solidFill>
                    <a:schemeClr val="bg1"/>
                  </a:solidFill>
                  <a:latin typeface="나눔바른고딕"/>
                  <a:ea typeface="나눔바른고딕"/>
                </a:rPr>
                <a:t>/</a:t>
              </a:r>
              <a:r>
                <a:rPr lang="ko-KR" altLang="en-US">
                  <a:solidFill>
                    <a:schemeClr val="bg1"/>
                  </a:solidFill>
                  <a:latin typeface="나눔바른고딕"/>
                  <a:ea typeface="나눔바른고딕"/>
                </a:rPr>
                <a:t>비밀번호 찾기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200104" y="6176717"/>
              <a:ext cx="87496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확인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806282" y="4694419"/>
            <a:ext cx="2255450" cy="1862352"/>
            <a:chOff x="3080314" y="4595612"/>
            <a:chExt cx="2255450" cy="1862352"/>
          </a:xfrm>
        </p:grpSpPr>
        <p:sp>
          <p:nvSpPr>
            <p:cNvPr id="98" name="직사각형 97"/>
            <p:cNvSpPr/>
            <p:nvPr/>
          </p:nvSpPr>
          <p:spPr>
            <a:xfrm>
              <a:off x="3080314" y="4770771"/>
              <a:ext cx="2224026" cy="168719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383115" y="4595612"/>
              <a:ext cx="1618423" cy="27699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solidFill>
                    <a:schemeClr val="bg1"/>
                  </a:solidFill>
                  <a:latin typeface="나눔바른고딕"/>
                  <a:ea typeface="나눔바른고딕"/>
                </a:rPr>
                <a:t>회원가입 완료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325609" y="6149692"/>
              <a:ext cx="87496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로그인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75543" y="6149691"/>
              <a:ext cx="104098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메인으로 이동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155687" y="4953302"/>
              <a:ext cx="21800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나눔바른고딕"/>
                  <a:ea typeface="나눔바른고딕"/>
                </a:rPr>
                <a:t>회원가입이 완료 되었습니다</a:t>
              </a:r>
              <a:r>
                <a:rPr lang="en-US" altLang="ko-KR" sz="1300">
                  <a:latin typeface="나눔바른고딕"/>
                  <a:ea typeface="나눔바른고딕"/>
                </a:rPr>
                <a:t>.</a:t>
              </a:r>
              <a:endParaRPr lang="ko-KR" altLang="en-US" sz="1300">
                <a:latin typeface="나눔바른고딕"/>
                <a:ea typeface="나눔바른고딕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187111" y="5297866"/>
              <a:ext cx="6137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아이디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187111" y="5626896"/>
              <a:ext cx="6137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이름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3751827" y="5274239"/>
              <a:ext cx="1173230" cy="27202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3751827" y="5618770"/>
              <a:ext cx="1173230" cy="27202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</p:grpSp>
      <p:sp>
        <p:nvSpPr>
          <p:cNvPr id="120" name="화살표: 오른쪽 119"/>
          <p:cNvSpPr/>
          <p:nvPr/>
        </p:nvSpPr>
        <p:spPr>
          <a:xfrm>
            <a:off x="4338178" y="2989458"/>
            <a:ext cx="360012" cy="2577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122" name="연결선: 꺾임 121"/>
          <p:cNvCxnSpPr>
            <a:stCxn id="120" idx="1"/>
          </p:cNvCxnSpPr>
          <p:nvPr/>
        </p:nvCxnSpPr>
        <p:spPr>
          <a:xfrm rot="10800000" flipV="1">
            <a:off x="3778192" y="3118324"/>
            <a:ext cx="559986" cy="157609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accent5">
                <a:lumMod val="75000"/>
              </a:schemeClr>
            </a:solidFill>
            <a:prstDash val="solid"/>
            <a:round/>
            <a:tailEnd type="triangle"/>
          </a:ln>
          <a:effectLst/>
        </p:spPr>
      </p:cxnSp>
      <p:sp>
        <p:nvSpPr>
          <p:cNvPr id="74" name="Rectangle 94"/>
          <p:cNvSpPr txBox="1">
            <a:spLocks noChangeArrowheads="1"/>
          </p:cNvSpPr>
          <p:nvPr/>
        </p:nvSpPr>
        <p:spPr bwMode="auto"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1.1</a:t>
            </a:r>
            <a:r>
              <a:rPr kumimoji="0" lang="en-US" altLang="ko-KR" sz="1800" b="1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공통 화면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4</a:t>
            </a:fld>
            <a:r>
              <a:rPr lang="en-US" altLang="ko-KR"/>
              <a:t> -</a:t>
            </a:r>
            <a:endParaRPr lang="ko-KR" altLang="ko-KR"/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859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회원비밀번호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memberPw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회원생일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memberBirth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회원이메일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memberMail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회원주소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memberAddr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 bwMode="auto"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1.1</a:t>
            </a:r>
            <a:r>
              <a:rPr kumimoji="0" lang="en-US" altLang="ko-KR" sz="1800" b="1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공통 화면</a:t>
            </a: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5</a:t>
            </a:fld>
            <a:r>
              <a:rPr lang="en-US" altLang="ko-KR"/>
              <a:t> -</a:t>
            </a:r>
            <a:endParaRPr lang="ko-KR" altLang="ko-KR"/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4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819806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마이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페이지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일반 회원의 마이페이지 화면이다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일반 회원과 관리자를 구분할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 내역 목록으로 이동하고 상품을 누르면 상품 상세보기로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또 배송조회와 취소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환불이 가능한 페이지로 이동할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처리여부 확인 후에 이메일이 전송된다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회원 정보 수정 페이지로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작성 가능 리뷰와 작성한 리뷰를 볼 수 있는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작성 가능 리뷰를 누르면 리뷰를 등록할 수 있는 페이지로 넘어가고 작성한 리뷰를 누르면 리뷰 수정 페이지로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리뷰를 쓴 상품 사진을 누르면 상품 상세보기 페이지로 이동할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결제 수단 등록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수정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삭제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등록을 다 하고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 하지 않고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나서는 이전 페이지로 돌아간다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FAQ, Q&amp;A,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상담원 연결 페이지로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Q&amp;A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의 경우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등록과 내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내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페이지에서는 수정과 삭제가 가능하다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85870" y="3029444"/>
            <a:ext cx="827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order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2025" y="418877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/>
          </a:p>
        </p:txBody>
      </p:sp>
      <p:sp>
        <p:nvSpPr>
          <p:cNvPr id="31" name="TextBox 30"/>
          <p:cNvSpPr txBox="1"/>
          <p:nvPr/>
        </p:nvSpPr>
        <p:spPr>
          <a:xfrm>
            <a:off x="242730" y="4870657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⑤</a:t>
            </a:r>
            <a:endParaRPr lang="ko-KR" altLang="en-US" sz="2000"/>
          </a:p>
        </p:txBody>
      </p:sp>
      <p:sp>
        <p:nvSpPr>
          <p:cNvPr id="32" name="TextBox 31"/>
          <p:cNvSpPr txBox="1"/>
          <p:nvPr/>
        </p:nvSpPr>
        <p:spPr>
          <a:xfrm>
            <a:off x="256628" y="361635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/>
          </a:p>
        </p:txBody>
      </p:sp>
      <p:sp>
        <p:nvSpPr>
          <p:cNvPr id="33" name="TextBox 32"/>
          <p:cNvSpPr txBox="1"/>
          <p:nvPr/>
        </p:nvSpPr>
        <p:spPr>
          <a:xfrm>
            <a:off x="247795" y="290349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/>
          </a:p>
        </p:txBody>
      </p:sp>
      <p:sp>
        <p:nvSpPr>
          <p:cNvPr id="35" name="TextBox 34"/>
          <p:cNvSpPr txBox="1"/>
          <p:nvPr/>
        </p:nvSpPr>
        <p:spPr>
          <a:xfrm>
            <a:off x="231716" y="554684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⑥</a:t>
            </a:r>
            <a:endParaRPr lang="ko-KR" altLang="en-US" sz="2000"/>
          </a:p>
        </p:txBody>
      </p:sp>
      <p:sp>
        <p:nvSpPr>
          <p:cNvPr id="23" name="직사각형 22"/>
          <p:cNvSpPr/>
          <p:nvPr/>
        </p:nvSpPr>
        <p:spPr>
          <a:xfrm>
            <a:off x="416497" y="1916832"/>
            <a:ext cx="108012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마이 페이지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93796" y="2282476"/>
            <a:ext cx="6624735" cy="57606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8366" y="2406556"/>
            <a:ext cx="281608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ㅇㅇㅇ 님은 </a:t>
            </a:r>
            <a:r>
              <a:rPr lang="en-US" altLang="ko-KR" sz="1500">
                <a:latin typeface="나눔바른고딕"/>
                <a:ea typeface="나눔바른고딕"/>
              </a:rPr>
              <a:t>[</a:t>
            </a:r>
            <a:r>
              <a:rPr lang="ko-KR" altLang="en-US" sz="1500">
                <a:latin typeface="나눔바른고딕"/>
                <a:ea typeface="나눔바른고딕"/>
              </a:rPr>
              <a:t>일반회원</a:t>
            </a:r>
            <a:r>
              <a:rPr lang="en-US" altLang="ko-KR" sz="1500">
                <a:latin typeface="나눔바른고딕"/>
                <a:ea typeface="나눔바른고딕"/>
              </a:rPr>
              <a:t>] </a:t>
            </a:r>
            <a:r>
              <a:rPr lang="ko-KR" altLang="en-US" sz="1500">
                <a:latin typeface="나눔바른고딕"/>
                <a:ea typeface="나눔바른고딕"/>
              </a:rPr>
              <a:t>이십니다</a:t>
            </a:r>
            <a:r>
              <a:rPr lang="en-US" altLang="ko-KR" sz="1500">
                <a:latin typeface="나눔바른고딕"/>
                <a:ea typeface="나눔바른고딕"/>
              </a:rPr>
              <a:t>.</a:t>
            </a:r>
            <a:endParaRPr lang="ko-KR" altLang="en-US" sz="1500">
              <a:latin typeface="나눔바른고딕"/>
              <a:ea typeface="나눔바른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1732" y="2323359"/>
            <a:ext cx="489561" cy="489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41439" y="2418187"/>
            <a:ext cx="7801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2836" y="2429638"/>
            <a:ext cx="780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---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402941" y="2439668"/>
            <a:ext cx="561381" cy="26696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조회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459868" y="2971969"/>
            <a:ext cx="649259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1757841" y="3075358"/>
            <a:ext cx="1265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</a:t>
            </a:r>
            <a:r>
              <a:rPr lang="en-US" altLang="ko-KR">
                <a:latin typeface="나눔바른고딕"/>
                <a:ea typeface="나눔바른고딕"/>
              </a:rPr>
              <a:t>/</a:t>
            </a:r>
            <a:r>
              <a:rPr lang="ko-KR" altLang="en-US">
                <a:latin typeface="나눔바른고딕"/>
                <a:ea typeface="나눔바른고딕"/>
              </a:rPr>
              <a:t>배송 조회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132" y="3046563"/>
            <a:ext cx="598441" cy="598441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flipH="1">
            <a:off x="566140" y="4953073"/>
            <a:ext cx="540549" cy="54054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H="1">
            <a:off x="599006" y="3674528"/>
            <a:ext cx="549647" cy="549647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4726" y="4314629"/>
            <a:ext cx="534550" cy="534550"/>
          </a:xfrm>
          <a:prstGeom prst="rect">
            <a:avLst/>
          </a:prstGeom>
        </p:spPr>
      </p:pic>
      <p:cxnSp>
        <p:nvCxnSpPr>
          <p:cNvPr id="41" name="직선 연결선 40"/>
          <p:cNvCxnSpPr/>
          <p:nvPr/>
        </p:nvCxnSpPr>
        <p:spPr>
          <a:xfrm>
            <a:off x="439339" y="3687158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1099871" y="3712915"/>
            <a:ext cx="92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profile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03266" y="3760006"/>
            <a:ext cx="9215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회원 정보</a:t>
            </a:r>
          </a:p>
        </p:txBody>
      </p:sp>
      <p:sp>
        <p:nvSpPr>
          <p:cNvPr id="44" name="순서도: 추출 43"/>
          <p:cNvSpPr/>
          <p:nvPr/>
        </p:nvSpPr>
        <p:spPr>
          <a:xfrm rot="5400000">
            <a:off x="6791118" y="3175591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45" name="순서도: 추출 44"/>
          <p:cNvSpPr/>
          <p:nvPr/>
        </p:nvSpPr>
        <p:spPr>
          <a:xfrm rot="5400000">
            <a:off x="6791118" y="3795348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459868" y="4230745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7" name="순서도: 추출 46"/>
          <p:cNvSpPr/>
          <p:nvPr/>
        </p:nvSpPr>
        <p:spPr>
          <a:xfrm rot="5400000">
            <a:off x="6770706" y="4416127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23227" y="4326303"/>
            <a:ext cx="92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board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877228" y="4334133"/>
            <a:ext cx="9215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리뷰 관리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9998" y="4974929"/>
            <a:ext cx="111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payment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83593" y="5023540"/>
            <a:ext cx="1116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결제 수단 관리</a:t>
            </a:r>
          </a:p>
        </p:txBody>
      </p:sp>
      <p:cxnSp>
        <p:nvCxnSpPr>
          <p:cNvPr id="55" name="직선 연결선 54"/>
          <p:cNvCxnSpPr/>
          <p:nvPr/>
        </p:nvCxnSpPr>
        <p:spPr>
          <a:xfrm>
            <a:off x="471732" y="4918285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13555" y="5573436"/>
            <a:ext cx="645721" cy="645721"/>
          </a:xfrm>
          <a:prstGeom prst="rect">
            <a:avLst/>
          </a:prstGeom>
        </p:spPr>
      </p:pic>
      <p:cxnSp>
        <p:nvCxnSpPr>
          <p:cNvPr id="58" name="직선 연결선 57"/>
          <p:cNvCxnSpPr/>
          <p:nvPr/>
        </p:nvCxnSpPr>
        <p:spPr>
          <a:xfrm>
            <a:off x="449853" y="5589240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963315" y="5651846"/>
            <a:ext cx="1879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Service center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667725" y="5699698"/>
            <a:ext cx="8579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고객 센터</a:t>
            </a:r>
          </a:p>
        </p:txBody>
      </p:sp>
      <p:sp>
        <p:nvSpPr>
          <p:cNvPr id="62" name="순서도: 추출 61"/>
          <p:cNvSpPr/>
          <p:nvPr/>
        </p:nvSpPr>
        <p:spPr>
          <a:xfrm rot="5400000">
            <a:off x="6791118" y="5082518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63" name="순서도: 추출 62"/>
          <p:cNvSpPr/>
          <p:nvPr/>
        </p:nvSpPr>
        <p:spPr>
          <a:xfrm rot="5400000">
            <a:off x="6780754" y="5732621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5882" y="219738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6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포인트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point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7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792189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일반회원 주문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배송 조회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 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배송 조회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검색어와 카테고리로 주문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배송 정보를 조회할 수 있다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검색을 누르면 정보가 일치하는 주문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배송 정보가 페이지에 나타난다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초기화를 누를 시 검색어와 카테고리를 선택했던 것이 선택 되어 있지 않은 상태로 돌아간다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배송 정보 목록이 나온다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44642" y="3175804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2402418" y="292586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200819" y="194016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cxnSp>
        <p:nvCxnSpPr>
          <p:cNvPr id="49" name="직선 연결선 48"/>
          <p:cNvCxnSpPr/>
          <p:nvPr/>
        </p:nvCxnSpPr>
        <p:spPr>
          <a:xfrm>
            <a:off x="357655" y="201585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275607" y="2036272"/>
            <a:ext cx="17375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주문 </a:t>
            </a:r>
            <a:r>
              <a:rPr lang="en-US" altLang="ko-KR" sz="1500">
                <a:latin typeface="나눔바른고딕"/>
                <a:ea typeface="나눔바른고딕"/>
              </a:rPr>
              <a:t>/ </a:t>
            </a:r>
            <a:r>
              <a:rPr lang="ko-KR" altLang="en-US" sz="1500">
                <a:latin typeface="나눔바른고딕"/>
                <a:ea typeface="나눔바른고딕"/>
              </a:rPr>
              <a:t>배송 조회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06233" y="2366779"/>
            <a:ext cx="6691029" cy="5851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1533" y="2382367"/>
            <a:ext cx="64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검색어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532" y="2646131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카테고리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069605" y="2397822"/>
            <a:ext cx="1260465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전체</a:t>
            </a:r>
          </a:p>
        </p:txBody>
      </p:sp>
      <p:sp>
        <p:nvSpPr>
          <p:cNvPr id="55" name="이등변 삼각형 54"/>
          <p:cNvSpPr/>
          <p:nvPr/>
        </p:nvSpPr>
        <p:spPr>
          <a:xfrm rot="10800000">
            <a:off x="2074791" y="2442712"/>
            <a:ext cx="201360" cy="12526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092783" y="2660090"/>
            <a:ext cx="982008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1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분류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2149219" y="2646901"/>
            <a:ext cx="1030590" cy="2630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부류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732419" y="3038183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검색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3582692" y="3038183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초기화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06233" y="3477819"/>
            <a:ext cx="6691029" cy="123496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406233" y="373096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423453" y="3466789"/>
            <a:ext cx="76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주문일자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98437" y="3463700"/>
            <a:ext cx="752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주문번호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6693" y="3464554"/>
            <a:ext cx="821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주문상품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40912" y="3464872"/>
            <a:ext cx="769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주문금액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63275" y="3466789"/>
            <a:ext cx="11925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주문처리상태</a:t>
            </a:r>
          </a:p>
        </p:txBody>
      </p:sp>
      <p:cxnSp>
        <p:nvCxnSpPr>
          <p:cNvPr id="114" name="직선 연결선 113"/>
          <p:cNvCxnSpPr/>
          <p:nvPr/>
        </p:nvCxnSpPr>
        <p:spPr>
          <a:xfrm>
            <a:off x="449370" y="4019231"/>
            <a:ext cx="6647892" cy="212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15" name="직선 연결선 114"/>
          <p:cNvCxnSpPr/>
          <p:nvPr/>
        </p:nvCxnSpPr>
        <p:spPr>
          <a:xfrm>
            <a:off x="421533" y="4383458"/>
            <a:ext cx="6675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9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8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주문일자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orderDate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주문명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배송상태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orderState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9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28159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회원 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정보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일반 회원의 회원 정보 수정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아이디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비밀번호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비밀번호 확인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주소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유선전화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휴대전화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, E-mail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을 입력한다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회원탈퇴 버튼을 누를 시 탈퇴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취소 버튼을 누를 시 이전 페이지로 돌아간다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회원정보수정 버튼을 누를 시 정보 수정이 완료된다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923655" y="511152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3124588" y="508650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228836" y="507390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236996" y="197813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grpSp>
        <p:nvGrpSpPr>
          <p:cNvPr id="6" name="그룹 5"/>
          <p:cNvGrpSpPr/>
          <p:nvPr/>
        </p:nvGrpSpPr>
        <p:grpSpPr>
          <a:xfrm>
            <a:off x="164447" y="2015857"/>
            <a:ext cx="6932815" cy="3657443"/>
            <a:chOff x="164447" y="2015857"/>
            <a:chExt cx="6932815" cy="3657443"/>
          </a:xfrm>
        </p:grpSpPr>
        <p:cxnSp>
          <p:nvCxnSpPr>
            <p:cNvPr id="49" name="직선 연결선 48"/>
            <p:cNvCxnSpPr/>
            <p:nvPr/>
          </p:nvCxnSpPr>
          <p:spPr>
            <a:xfrm>
              <a:off x="357655" y="2015857"/>
              <a:ext cx="673960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50" name="TextBox 49"/>
            <p:cNvSpPr txBox="1"/>
            <p:nvPr/>
          </p:nvSpPr>
          <p:spPr>
            <a:xfrm>
              <a:off x="164447" y="2020715"/>
              <a:ext cx="1545248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바른고딕"/>
                  <a:ea typeface="나눔바른고딕"/>
                </a:rPr>
                <a:t>회원 정보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4950" y="2372967"/>
              <a:ext cx="6458672" cy="27761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40" name="직선 연결선 39"/>
            <p:cNvCxnSpPr/>
            <p:nvPr/>
          </p:nvCxnSpPr>
          <p:spPr>
            <a:xfrm>
              <a:off x="351467" y="3459454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183222" y="2375633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아이디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970975" y="2375632"/>
              <a:ext cx="826162" cy="26096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4712" y="3738305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주소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970796" y="3463848"/>
              <a:ext cx="1152128" cy="2375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977491" y="3728249"/>
              <a:ext cx="1628911" cy="2769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977491" y="4022822"/>
              <a:ext cx="1628911" cy="28370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8836" y="430652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유선전화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977492" y="4306525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1" name="사각형: 둥근 모서리 60"/>
            <p:cNvSpPr/>
            <p:nvPr/>
          </p:nvSpPr>
          <p:spPr>
            <a:xfrm>
              <a:off x="2526631" y="3454318"/>
              <a:ext cx="899131" cy="274828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r>
                <a:rPr kumimoji="0" lang="ko-KR" altLang="en-US" sz="1000" b="0" i="0" u="none" strike="noStrike" cap="none" normalizeH="0" baseline="0">
                  <a:solidFill>
                    <a:schemeClr val="tx1"/>
                  </a:solidFill>
                  <a:effectLst/>
                  <a:latin typeface="Arial"/>
                  <a:ea typeface="굴림"/>
                </a:rPr>
                <a:t>우편번호</a:t>
              </a:r>
              <a:endParaRPr kumimoji="0" lang="ko-KR" altLang="en-US" sz="1000" b="0" i="0" u="none" strike="noStrike" cap="none" normalizeH="0" baseline="0">
                <a:solidFill>
                  <a:schemeClr val="tx1"/>
                </a:solidFill>
                <a:latin typeface="Arial"/>
                <a:ea typeface="굴림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542667" y="3738305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기본주소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581498" y="4001248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나머지주소</a:t>
              </a:r>
            </a:p>
          </p:txBody>
        </p:sp>
        <p:cxnSp>
          <p:nvCxnSpPr>
            <p:cNvPr id="64" name="직선 연결선 63"/>
            <p:cNvCxnSpPr/>
            <p:nvPr/>
          </p:nvCxnSpPr>
          <p:spPr>
            <a:xfrm>
              <a:off x="351467" y="4310311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65" name="직선 연결선 64"/>
            <p:cNvCxnSpPr/>
            <p:nvPr/>
          </p:nvCxnSpPr>
          <p:spPr>
            <a:xfrm>
              <a:off x="351467" y="4583525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66" name="TextBox 65"/>
            <p:cNvSpPr txBox="1"/>
            <p:nvPr/>
          </p:nvSpPr>
          <p:spPr>
            <a:xfrm>
              <a:off x="228836" y="4580002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휴대전화</a:t>
              </a: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1692542" y="432409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28836" y="486544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E-mail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77492" y="4865446"/>
              <a:ext cx="1145432" cy="28370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70" name="직선 연결선 69"/>
            <p:cNvCxnSpPr/>
            <p:nvPr/>
          </p:nvCxnSpPr>
          <p:spPr>
            <a:xfrm>
              <a:off x="351467" y="4865446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2022501" y="4857001"/>
              <a:ext cx="50405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@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2403480" y="4865446"/>
              <a:ext cx="1145432" cy="28370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73" name="사각형: 둥근 모서리 72"/>
            <p:cNvSpPr/>
            <p:nvPr/>
          </p:nvSpPr>
          <p:spPr>
            <a:xfrm>
              <a:off x="3671296" y="4883216"/>
              <a:ext cx="978603" cy="240068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74" name="순서도: 병합 73"/>
            <p:cNvSpPr/>
            <p:nvPr/>
          </p:nvSpPr>
          <p:spPr>
            <a:xfrm>
              <a:off x="4471593" y="4957900"/>
              <a:ext cx="144016" cy="108234"/>
            </a:xfrm>
            <a:prstGeom prst="flowChartMerg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non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196598" y="3457067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481791" y="431989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210722" y="431989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416752" y="432409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977492" y="4580092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692542" y="459766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481791" y="459346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210722" y="459346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2416752" y="459766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84" name="직선 연결선 83"/>
            <p:cNvCxnSpPr/>
            <p:nvPr/>
          </p:nvCxnSpPr>
          <p:spPr>
            <a:xfrm>
              <a:off x="344950" y="2652632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85" name="TextBox 84"/>
            <p:cNvSpPr txBox="1"/>
            <p:nvPr/>
          </p:nvSpPr>
          <p:spPr>
            <a:xfrm>
              <a:off x="222319" y="266135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비밀번호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970975" y="2661355"/>
              <a:ext cx="1198658" cy="2659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87" name="직선 연결선 86"/>
            <p:cNvCxnSpPr/>
            <p:nvPr/>
          </p:nvCxnSpPr>
          <p:spPr>
            <a:xfrm>
              <a:off x="344950" y="2938355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88" name="TextBox 87"/>
            <p:cNvSpPr txBox="1"/>
            <p:nvPr/>
          </p:nvSpPr>
          <p:spPr>
            <a:xfrm>
              <a:off x="260727" y="2934942"/>
              <a:ext cx="10663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비밀번호 확인</a:t>
              </a:r>
            </a:p>
          </p:txBody>
        </p:sp>
        <p:cxnSp>
          <p:nvCxnSpPr>
            <p:cNvPr id="89" name="직선 연결선 88"/>
            <p:cNvCxnSpPr/>
            <p:nvPr/>
          </p:nvCxnSpPr>
          <p:spPr>
            <a:xfrm>
              <a:off x="344950" y="3199807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246603" y="3185869"/>
              <a:ext cx="58781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이름</a:t>
              </a: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728600" y="3197781"/>
              <a:ext cx="1124019" cy="26486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1229519" y="2936337"/>
              <a:ext cx="1198657" cy="25401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557207" y="5255297"/>
              <a:ext cx="1628911" cy="3693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>
                  <a:solidFill>
                    <a:schemeClr val="tx1"/>
                  </a:solidFill>
                  <a:latin typeface="나눔바른고딕"/>
                  <a:ea typeface="나눔바른고딕"/>
                </a:rPr>
                <a:t>회원탈퇴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3409725" y="5303968"/>
              <a:ext cx="1628911" cy="3693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>
                  <a:solidFill>
                    <a:schemeClr val="tx1"/>
                  </a:solidFill>
                  <a:latin typeface="나눔바른고딕"/>
                  <a:ea typeface="나눔바른고딕"/>
                </a:rPr>
                <a:t>취소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5181228" y="5289061"/>
              <a:ext cx="1628911" cy="36933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>
                  <a:solidFill>
                    <a:schemeClr val="tx1"/>
                  </a:solidFill>
                  <a:latin typeface="나눔바른고딕"/>
                  <a:ea typeface="나눔바른고딕"/>
                </a:rPr>
                <a:t>회원정보수정</a:t>
              </a:r>
            </a:p>
          </p:txBody>
        </p:sp>
      </p:grpSp>
      <p:sp>
        <p:nvSpPr>
          <p:cNvPr id="59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10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30573" cy="5597788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회원비밀번호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memberPw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memberName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>
                          <a:latin typeface="맑은 고딕"/>
                          <a:ea typeface="맑은 고딕"/>
                          <a:cs typeface="Times New Roman"/>
                        </a:rPr>
                        <a:t>memberName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회원주소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memberAddr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 dirty="0" err="1">
                          <a:latin typeface="맑은 고딕"/>
                          <a:ea typeface="맑은 고딕"/>
                          <a:cs typeface="Times New Roman"/>
                        </a:rPr>
                        <a:t>memberAddr</a:t>
                      </a:r>
                      <a:endParaRPr lang="en-US" altLang="ko-KR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전화번호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 dirty="0" err="1">
                          <a:latin typeface="맑은 고딕"/>
                          <a:ea typeface="맑은 고딕"/>
                          <a:cs typeface="Times New Roman"/>
                        </a:rPr>
                        <a:t>tel</a:t>
                      </a:r>
                      <a:endParaRPr lang="en-US" altLang="ko-KR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회원이메일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memberMail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 dirty="0" err="1">
                          <a:latin typeface="맑은 고딕"/>
                          <a:ea typeface="맑은 고딕"/>
                          <a:cs typeface="Times New Roman"/>
                        </a:rPr>
                        <a:t>memberMail</a:t>
                      </a:r>
                      <a:endParaRPr lang="en-US" altLang="ko-KR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11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515582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UI_PD4_016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리뷰 관리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작성 가능한 리뷰와 작성한 리뷰를 확인할 수 있는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리뷰 등록 버튼을 누를 시 작성 가능한 리뷰의 리뷰를 쓸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작성한 리뷰의 리뷰를 수정할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761359" y="586360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5734572" y="217109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357655" y="191298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293212" y="1920289"/>
            <a:ext cx="15452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latin typeface="나눔바른고딕"/>
                <a:ea typeface="나눔바른고딕"/>
              </a:rPr>
              <a:t>작성 가능한 리뷰</a:t>
            </a:r>
          </a:p>
        </p:txBody>
      </p:sp>
      <p:cxnSp>
        <p:nvCxnSpPr>
          <p:cNvPr id="104" name="직선 연결선 103"/>
          <p:cNvCxnSpPr/>
          <p:nvPr/>
        </p:nvCxnSpPr>
        <p:spPr>
          <a:xfrm>
            <a:off x="351417" y="328498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00AD91-2574-797B-9F29-0B09839DB58D}"/>
              </a:ext>
            </a:extLst>
          </p:cNvPr>
          <p:cNvSpPr/>
          <p:nvPr/>
        </p:nvSpPr>
        <p:spPr>
          <a:xfrm>
            <a:off x="6039986" y="2289101"/>
            <a:ext cx="948107" cy="369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리뷰 등록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E999C77-9352-D86F-6461-8D0ED53BD5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6780" y="2277379"/>
            <a:ext cx="463479" cy="484085"/>
          </a:xfrm>
          <a:prstGeom prst="rect">
            <a:avLst/>
          </a:prstGeom>
        </p:spPr>
      </p:pic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A30922E-BAA3-53EA-73DF-EC0DABE48155}"/>
              </a:ext>
            </a:extLst>
          </p:cNvPr>
          <p:cNvCxnSpPr/>
          <p:nvPr/>
        </p:nvCxnSpPr>
        <p:spPr>
          <a:xfrm>
            <a:off x="357655" y="222059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D302551-E401-3CF9-848D-AE88FFAEC586}"/>
              </a:ext>
            </a:extLst>
          </p:cNvPr>
          <p:cNvSpPr txBox="1"/>
          <p:nvPr/>
        </p:nvSpPr>
        <p:spPr>
          <a:xfrm>
            <a:off x="867831" y="2311498"/>
            <a:ext cx="948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4F6065-F010-E3C0-77C7-CFA6B9846D47}"/>
              </a:ext>
            </a:extLst>
          </p:cNvPr>
          <p:cNvSpPr txBox="1"/>
          <p:nvPr/>
        </p:nvSpPr>
        <p:spPr>
          <a:xfrm>
            <a:off x="5900987" y="2658426"/>
            <a:ext cx="11900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바른고딕"/>
                <a:ea typeface="나눔바른고딕"/>
              </a:rPr>
              <a:t>포인트 </a:t>
            </a:r>
            <a:r>
              <a:rPr lang="en-US" altLang="ko-KR" dirty="0">
                <a:latin typeface="나눔바른고딕"/>
                <a:ea typeface="나눔바른고딕"/>
              </a:rPr>
              <a:t>000</a:t>
            </a:r>
            <a:r>
              <a:rPr lang="ko-KR" altLang="en-US" dirty="0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ABC776-EC7A-E849-6107-7EF9433D3E35}"/>
              </a:ext>
            </a:extLst>
          </p:cNvPr>
          <p:cNvSpPr txBox="1"/>
          <p:nvPr/>
        </p:nvSpPr>
        <p:spPr>
          <a:xfrm>
            <a:off x="5621384" y="2863602"/>
            <a:ext cx="1489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바른고딕"/>
                <a:ea typeface="나눔바른고딕"/>
              </a:rPr>
              <a:t>작성기한 </a:t>
            </a:r>
            <a:r>
              <a:rPr lang="en-US" altLang="ko-KR" dirty="0">
                <a:latin typeface="나눔바른고딕"/>
                <a:ea typeface="나눔바른고딕"/>
              </a:rPr>
              <a:t>22.07.03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3B68CF-E0BF-F22C-9443-53EBFE47CBA5}"/>
              </a:ext>
            </a:extLst>
          </p:cNvPr>
          <p:cNvSpPr txBox="1"/>
          <p:nvPr/>
        </p:nvSpPr>
        <p:spPr>
          <a:xfrm>
            <a:off x="245039" y="4696964"/>
            <a:ext cx="12754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latin typeface="나눔바른고딕"/>
                <a:ea typeface="나눔바른고딕"/>
              </a:rPr>
              <a:t>작성한 리뷰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5B86A2A-62DB-AE1E-C3AB-E968CCE8DFF9}"/>
              </a:ext>
            </a:extLst>
          </p:cNvPr>
          <p:cNvCxnSpPr/>
          <p:nvPr/>
        </p:nvCxnSpPr>
        <p:spPr>
          <a:xfrm>
            <a:off x="366331" y="469696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2E3CBE42-C7D0-0793-95BD-A2F287DEDA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1695" y="5138624"/>
            <a:ext cx="463479" cy="48408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F630E09-C6B8-8EF1-75B4-B3A08B5BEFA0}"/>
              </a:ext>
            </a:extLst>
          </p:cNvPr>
          <p:cNvSpPr txBox="1"/>
          <p:nvPr/>
        </p:nvSpPr>
        <p:spPr>
          <a:xfrm>
            <a:off x="791451" y="5155770"/>
            <a:ext cx="948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>
                <a:latin typeface="나눔바른고딕"/>
                <a:ea typeface="나눔바른고딕"/>
              </a:rPr>
              <a:t>상품명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3E00EC0-E65A-CA5E-4C57-A08E9EB30CB5}"/>
              </a:ext>
            </a:extLst>
          </p:cNvPr>
          <p:cNvCxnSpPr/>
          <p:nvPr/>
        </p:nvCxnSpPr>
        <p:spPr>
          <a:xfrm>
            <a:off x="366331" y="572441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9CBC51B-FFA8-23D9-ED5A-E26E5693CCAC}"/>
              </a:ext>
            </a:extLst>
          </p:cNvPr>
          <p:cNvSpPr txBox="1"/>
          <p:nvPr/>
        </p:nvSpPr>
        <p:spPr>
          <a:xfrm>
            <a:off x="308127" y="5777600"/>
            <a:ext cx="682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C3B4A85-BD6D-EA55-A365-E6E1D3DB5F91}"/>
              </a:ext>
            </a:extLst>
          </p:cNvPr>
          <p:cNvSpPr/>
          <p:nvPr/>
        </p:nvSpPr>
        <p:spPr>
          <a:xfrm>
            <a:off x="6054901" y="6040956"/>
            <a:ext cx="948107" cy="369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리뷰 수정</a:t>
            </a:r>
          </a:p>
        </p:txBody>
      </p:sp>
      <p:sp>
        <p:nvSpPr>
          <p:cNvPr id="24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12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123320"/>
              </p:ext>
            </p:extLst>
          </p:nvPr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포인트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point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작성기한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revDate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689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13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49257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UI_PD4_017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리뷰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리뷰 쓰기와 수정 할 수 있는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취소 버튼을 누를 시 이전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 버튼을 누르면 리뷰가 등록 되고 작성한 리뷰에 리뷰가 등록되어진다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취소 버튼을 누를 시 이전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 버튼을 누르면 리뷰가 등록 되고 작성한 리뷰에 새로 작성한 내용으로 수정되어진다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590184" y="542988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357655" y="191298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F3B68CF-E0BF-F22C-9443-53EBFE47CBA5}"/>
              </a:ext>
            </a:extLst>
          </p:cNvPr>
          <p:cNvSpPr txBox="1"/>
          <p:nvPr/>
        </p:nvSpPr>
        <p:spPr>
          <a:xfrm>
            <a:off x="116953" y="4307941"/>
            <a:ext cx="12754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latin typeface="나눔바른고딕"/>
                <a:ea typeface="나눔바른고딕"/>
              </a:rPr>
              <a:t>리뷰 수정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E3CBE42-C7D0-0793-95BD-A2F287DEDA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8013" y="4628104"/>
            <a:ext cx="463479" cy="48408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F630E09-C6B8-8EF1-75B4-B3A08B5BEFA0}"/>
              </a:ext>
            </a:extLst>
          </p:cNvPr>
          <p:cNvSpPr txBox="1"/>
          <p:nvPr/>
        </p:nvSpPr>
        <p:spPr>
          <a:xfrm>
            <a:off x="747617" y="4594224"/>
            <a:ext cx="948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3D96A7-7927-B642-E05C-A2780FF6B6DA}"/>
              </a:ext>
            </a:extLst>
          </p:cNvPr>
          <p:cNvSpPr txBox="1"/>
          <p:nvPr/>
        </p:nvSpPr>
        <p:spPr>
          <a:xfrm>
            <a:off x="269096" y="1921251"/>
            <a:ext cx="8818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>
                <a:latin typeface="나눔바른고딕"/>
                <a:ea typeface="나눔바른고딕"/>
              </a:rPr>
              <a:t>리뷰 쓰기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CADB61E3-7CD2-1B81-6E1B-EA69F7BECC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1695" y="2292685"/>
            <a:ext cx="463479" cy="48408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2559520-9BDD-9BD8-A2D6-4538C2265BE1}"/>
              </a:ext>
            </a:extLst>
          </p:cNvPr>
          <p:cNvSpPr txBox="1"/>
          <p:nvPr/>
        </p:nvSpPr>
        <p:spPr>
          <a:xfrm>
            <a:off x="732905" y="2247193"/>
            <a:ext cx="948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EA46BE-3D95-0DE0-121A-EED88C122FCF}"/>
              </a:ext>
            </a:extLst>
          </p:cNvPr>
          <p:cNvSpPr/>
          <p:nvPr/>
        </p:nvSpPr>
        <p:spPr>
          <a:xfrm>
            <a:off x="350075" y="2191525"/>
            <a:ext cx="6664169" cy="17340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606F58-69EF-A653-51C8-A11E0EC79067}"/>
              </a:ext>
            </a:extLst>
          </p:cNvPr>
          <p:cNvSpPr/>
          <p:nvPr/>
        </p:nvSpPr>
        <p:spPr>
          <a:xfrm>
            <a:off x="920316" y="2539836"/>
            <a:ext cx="5725144" cy="71985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BE9D7DB-9D83-3D49-EA0C-B782E597B2A3}"/>
              </a:ext>
            </a:extLst>
          </p:cNvPr>
          <p:cNvSpPr/>
          <p:nvPr/>
        </p:nvSpPr>
        <p:spPr>
          <a:xfrm>
            <a:off x="2891756" y="3371716"/>
            <a:ext cx="835702" cy="2842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취소</a:t>
            </a:r>
            <a:endParaRPr lang="ko-KR" altLang="en-US" sz="1400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1250A85-56A1-B881-23CB-36A7DD61F5B6}"/>
              </a:ext>
            </a:extLst>
          </p:cNvPr>
          <p:cNvSpPr/>
          <p:nvPr/>
        </p:nvSpPr>
        <p:spPr>
          <a:xfrm>
            <a:off x="3782888" y="3371599"/>
            <a:ext cx="835702" cy="2842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등록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F202C44-30F4-6832-3C72-E15AF50B7506}"/>
              </a:ext>
            </a:extLst>
          </p:cNvPr>
          <p:cNvSpPr/>
          <p:nvPr/>
        </p:nvSpPr>
        <p:spPr>
          <a:xfrm>
            <a:off x="920316" y="4869331"/>
            <a:ext cx="5725144" cy="63608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미리 작성한 내용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0E895E-E9E4-2356-404B-5E086CDF1590}"/>
              </a:ext>
            </a:extLst>
          </p:cNvPr>
          <p:cNvSpPr/>
          <p:nvPr/>
        </p:nvSpPr>
        <p:spPr>
          <a:xfrm>
            <a:off x="2891756" y="5607472"/>
            <a:ext cx="835702" cy="2842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취소</a:t>
            </a:r>
            <a:endParaRPr lang="ko-KR" altLang="en-US" sz="1400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4391961-7E11-6773-787C-D3B74BDFB234}"/>
              </a:ext>
            </a:extLst>
          </p:cNvPr>
          <p:cNvSpPr/>
          <p:nvPr/>
        </p:nvSpPr>
        <p:spPr>
          <a:xfrm>
            <a:off x="3782888" y="5607355"/>
            <a:ext cx="835702" cy="2842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등록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F446D6F-1966-2F47-7D11-0E93459E45FA}"/>
              </a:ext>
            </a:extLst>
          </p:cNvPr>
          <p:cNvSpPr/>
          <p:nvPr/>
        </p:nvSpPr>
        <p:spPr>
          <a:xfrm>
            <a:off x="350075" y="4306813"/>
            <a:ext cx="6664169" cy="180404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12A45C-BC41-9569-E1A0-ED716458C18E}"/>
              </a:ext>
            </a:extLst>
          </p:cNvPr>
          <p:cNvSpPr txBox="1"/>
          <p:nvPr/>
        </p:nvSpPr>
        <p:spPr>
          <a:xfrm>
            <a:off x="2595997" y="320788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23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1848063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14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productId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content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15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13655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UI_PD4_018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결제 수단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카드와 송금 가능한 계좌를 볼 수 있는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결제 수단을 등록할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등록된 결제 수단을 삭제할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814380" y="2856417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5823158" y="2161933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357655" y="191298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36380" y="1919773"/>
            <a:ext cx="15452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결제 수단 관리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357655" y="223375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292508" y="2248796"/>
            <a:ext cx="9565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latin typeface="나눔바른고딕"/>
                <a:ea typeface="나눔바른고딕"/>
              </a:rPr>
              <a:t>카드 관리</a:t>
            </a:r>
          </a:p>
        </p:txBody>
      </p:sp>
      <p:cxnSp>
        <p:nvCxnSpPr>
          <p:cNvPr id="104" name="직선 연결선 103"/>
          <p:cNvCxnSpPr/>
          <p:nvPr/>
        </p:nvCxnSpPr>
        <p:spPr>
          <a:xfrm>
            <a:off x="315913" y="356088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05" name="직선 연결선 104"/>
          <p:cNvCxnSpPr/>
          <p:nvPr/>
        </p:nvCxnSpPr>
        <p:spPr>
          <a:xfrm>
            <a:off x="357655" y="325623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</a:ln>
          <a:effectLst/>
        </p:spPr>
      </p:cxnSp>
      <p:sp>
        <p:nvSpPr>
          <p:cNvPr id="39" name="직사각형 38"/>
          <p:cNvSpPr/>
          <p:nvPr/>
        </p:nvSpPr>
        <p:spPr>
          <a:xfrm>
            <a:off x="315913" y="2566893"/>
            <a:ext cx="6781349" cy="3601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카드</a:t>
            </a:r>
            <a:r>
              <a:rPr lang="en-US" altLang="ko-KR" sz="1400">
                <a:solidFill>
                  <a:schemeClr val="tx1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카드번호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5088" y="2614389"/>
            <a:ext cx="1296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>
                <a:latin typeface="나눔바른고딕"/>
                <a:ea typeface="나눔바른고딕"/>
              </a:rPr>
              <a:t>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129" y="4508444"/>
            <a:ext cx="18863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>
                <a:latin typeface="나눔바른고딕"/>
                <a:ea typeface="나눔바른고딕"/>
              </a:rPr>
              <a:t>결제</a:t>
            </a:r>
            <a:r>
              <a:rPr lang="en-US" altLang="ko-KR" sz="1500" dirty="0">
                <a:latin typeface="나눔바른고딕"/>
                <a:ea typeface="나눔바른고딕"/>
              </a:rPr>
              <a:t>/</a:t>
            </a:r>
            <a:r>
              <a:rPr lang="ko-KR" altLang="en-US" sz="1500" dirty="0">
                <a:latin typeface="나눔바른고딕"/>
                <a:ea typeface="나눔바른고딕"/>
              </a:rPr>
              <a:t>송금 계좌 관리</a:t>
            </a:r>
          </a:p>
        </p:txBody>
      </p:sp>
      <p:cxnSp>
        <p:nvCxnSpPr>
          <p:cNvPr id="45" name="직선 연결선 44"/>
          <p:cNvCxnSpPr/>
          <p:nvPr/>
        </p:nvCxnSpPr>
        <p:spPr>
          <a:xfrm>
            <a:off x="357653" y="5767391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46" name="직선 연결선 45"/>
          <p:cNvCxnSpPr/>
          <p:nvPr/>
        </p:nvCxnSpPr>
        <p:spPr>
          <a:xfrm>
            <a:off x="357654" y="547375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</a:ln>
          <a:effectLst/>
        </p:spPr>
      </p:cxnSp>
      <p:sp>
        <p:nvSpPr>
          <p:cNvPr id="48" name="직사각형 47"/>
          <p:cNvSpPr/>
          <p:nvPr/>
        </p:nvSpPr>
        <p:spPr>
          <a:xfrm>
            <a:off x="315913" y="4815150"/>
            <a:ext cx="6781349" cy="36012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은행</a:t>
            </a:r>
            <a:r>
              <a:rPr lang="en-US" altLang="ko-KR" sz="1400">
                <a:solidFill>
                  <a:schemeClr val="tx1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계좌번호</a:t>
            </a:r>
            <a:r>
              <a:rPr lang="en-US" altLang="ko-KR" sz="1400">
                <a:solidFill>
                  <a:schemeClr val="tx1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계좌명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5088" y="4862646"/>
            <a:ext cx="1296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>
                <a:latin typeface="나눔바른고딕"/>
                <a:ea typeface="나눔바른고딕"/>
              </a:rPr>
              <a:t>관리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AD36B23-7736-705A-47DA-A3C3C049DE3B}"/>
              </a:ext>
            </a:extLst>
          </p:cNvPr>
          <p:cNvSpPr/>
          <p:nvPr/>
        </p:nvSpPr>
        <p:spPr>
          <a:xfrm>
            <a:off x="6114982" y="2233007"/>
            <a:ext cx="582955" cy="3231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등록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6DFA8F3-1E6C-57C6-1614-4F70B6535AB0}"/>
              </a:ext>
            </a:extLst>
          </p:cNvPr>
          <p:cNvSpPr/>
          <p:nvPr/>
        </p:nvSpPr>
        <p:spPr>
          <a:xfrm>
            <a:off x="6110152" y="2942383"/>
            <a:ext cx="566016" cy="29848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삭제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2A06F4-8726-F492-B6E7-25C29B5D51B6}"/>
              </a:ext>
            </a:extLst>
          </p:cNvPr>
          <p:cNvSpPr/>
          <p:nvPr/>
        </p:nvSpPr>
        <p:spPr>
          <a:xfrm>
            <a:off x="6110152" y="3250971"/>
            <a:ext cx="566016" cy="29848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삭제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CB3907B-9917-0CC4-0A18-33EEC92C01FE}"/>
              </a:ext>
            </a:extLst>
          </p:cNvPr>
          <p:cNvSpPr/>
          <p:nvPr/>
        </p:nvSpPr>
        <p:spPr>
          <a:xfrm>
            <a:off x="6114982" y="4491985"/>
            <a:ext cx="582955" cy="3231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등록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3CE0678-5DE5-F33F-0558-38C6B7B1519E}"/>
              </a:ext>
            </a:extLst>
          </p:cNvPr>
          <p:cNvSpPr/>
          <p:nvPr/>
        </p:nvSpPr>
        <p:spPr>
          <a:xfrm>
            <a:off x="6110152" y="5175273"/>
            <a:ext cx="566016" cy="29848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41A0D5C-287F-61F1-6F66-E1275357EEB1}"/>
              </a:ext>
            </a:extLst>
          </p:cNvPr>
          <p:cNvSpPr/>
          <p:nvPr/>
        </p:nvSpPr>
        <p:spPr>
          <a:xfrm>
            <a:off x="6110152" y="5468907"/>
            <a:ext cx="566016" cy="29848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삭제</a:t>
            </a:r>
          </a:p>
        </p:txBody>
      </p:sp>
      <p:sp>
        <p:nvSpPr>
          <p:cNvPr id="2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16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167849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UI_PD4_019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고객센터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고객센터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자주 묻는 질문을 볼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모든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들을 볼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상담원 연결을 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2657" y="5172951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225952" y="3545197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228360" y="215883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357655" y="191298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02532" y="1919774"/>
            <a:ext cx="12961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고객센터</a:t>
            </a:r>
          </a:p>
        </p:txBody>
      </p:sp>
      <p:cxnSp>
        <p:nvCxnSpPr>
          <p:cNvPr id="90" name="직선 연결선 89"/>
          <p:cNvCxnSpPr/>
          <p:nvPr/>
        </p:nvCxnSpPr>
        <p:spPr>
          <a:xfrm>
            <a:off x="357655" y="2233757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399580" y="2230817"/>
            <a:ext cx="717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FAQ</a:t>
            </a:r>
            <a:endParaRPr lang="ko-KR" altLang="en-US">
              <a:latin typeface="나눔바른고딕"/>
              <a:ea typeface="나눔바른고딕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301625" y="328498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37" name="직선 연결선 36"/>
          <p:cNvCxnSpPr/>
          <p:nvPr/>
        </p:nvCxnSpPr>
        <p:spPr>
          <a:xfrm>
            <a:off x="357655" y="2470673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136380" y="252169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답변상태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72150" y="252169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제목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5008" y="252169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357655" y="279869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428010" y="3626377"/>
            <a:ext cx="618771" cy="27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바른고딕"/>
                <a:ea typeface="나눔바른고딕"/>
              </a:rPr>
              <a:t>Q&amp;A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cxnSp>
        <p:nvCxnSpPr>
          <p:cNvPr id="54" name="직선 연결선 53"/>
          <p:cNvCxnSpPr/>
          <p:nvPr/>
        </p:nvCxnSpPr>
        <p:spPr>
          <a:xfrm>
            <a:off x="319846" y="4751640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57" name="직선 연결선 56"/>
          <p:cNvCxnSpPr/>
          <p:nvPr/>
        </p:nvCxnSpPr>
        <p:spPr>
          <a:xfrm>
            <a:off x="293212" y="3862033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71937" y="391305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답변상태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07707" y="391305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제목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0565" y="3913056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293212" y="419005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59265" y="5230352"/>
            <a:ext cx="9411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바른고딕"/>
                <a:ea typeface="나눔바른고딕"/>
              </a:rPr>
              <a:t>상담원 연결</a:t>
            </a:r>
          </a:p>
        </p:txBody>
      </p:sp>
      <p:cxnSp>
        <p:nvCxnSpPr>
          <p:cNvPr id="63" name="직선 연결선 62"/>
          <p:cNvCxnSpPr/>
          <p:nvPr/>
        </p:nvCxnSpPr>
        <p:spPr>
          <a:xfrm>
            <a:off x="335254" y="6393948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4" name="직선 연결선 63"/>
          <p:cNvCxnSpPr/>
          <p:nvPr/>
        </p:nvCxnSpPr>
        <p:spPr>
          <a:xfrm>
            <a:off x="335254" y="5504341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3F47289-2141-3453-2567-BD21B3D253E1}"/>
              </a:ext>
            </a:extLst>
          </p:cNvPr>
          <p:cNvSpPr txBox="1"/>
          <p:nvPr/>
        </p:nvSpPr>
        <p:spPr>
          <a:xfrm>
            <a:off x="232657" y="5553056"/>
            <a:ext cx="2563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dirty="0">
                <a:latin typeface="나눔바른고딕"/>
                <a:ea typeface="나눔바른고딕"/>
              </a:rPr>
              <a:t>고객센터 주소 </a:t>
            </a:r>
            <a:r>
              <a:rPr lang="en-US" altLang="ko-KR" dirty="0">
                <a:latin typeface="나눔바른고딕"/>
                <a:ea typeface="나눔바른고딕"/>
              </a:rPr>
              <a:t>: </a:t>
            </a:r>
            <a:r>
              <a:rPr lang="ko-KR" altLang="en-US" dirty="0">
                <a:latin typeface="나눔바른고딕"/>
                <a:ea typeface="나눔바른고딕"/>
              </a:rPr>
              <a:t>서울특별시 강남구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5B366F-9C9D-B1CC-87B6-2F5F155799DF}"/>
              </a:ext>
            </a:extLst>
          </p:cNvPr>
          <p:cNvSpPr txBox="1"/>
          <p:nvPr/>
        </p:nvSpPr>
        <p:spPr>
          <a:xfrm>
            <a:off x="2381196" y="5553056"/>
            <a:ext cx="2563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 dirty="0">
                <a:latin typeface="나눔바른고딕"/>
                <a:ea typeface="나눔바른고딕"/>
              </a:rPr>
              <a:t>전화 </a:t>
            </a:r>
            <a:r>
              <a:rPr lang="en-US" altLang="ko-KR" b="1" dirty="0">
                <a:latin typeface="나눔바른고딕"/>
                <a:ea typeface="나눔바른고딕"/>
              </a:rPr>
              <a:t>: </a:t>
            </a:r>
            <a:r>
              <a:rPr lang="en-US" altLang="ko-KR" dirty="0">
                <a:latin typeface="나눔바른고딕"/>
                <a:ea typeface="나눔바른고딕"/>
              </a:rPr>
              <a:t>1588-0000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30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18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title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8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11859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UI_PD4_010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Q&amp;A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를 작성하고 나의 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 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상태를 확인할 수 있다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 버튼을 누르면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가 등록 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수정 버튼을 누르면 수정 페이지로 이동하고 삭제 버튼을 누르면 내 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가 삭제된다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348485" y="580933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6053299" y="3845964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sp>
        <p:nvSpPr>
          <p:cNvPr id="39" name="TextBox 38"/>
          <p:cNvSpPr txBox="1"/>
          <p:nvPr/>
        </p:nvSpPr>
        <p:spPr>
          <a:xfrm>
            <a:off x="412" y="185379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latin typeface="나눔바른고딕"/>
                <a:ea typeface="나눔바른고딕"/>
              </a:rPr>
              <a:t>Q&amp;A</a:t>
            </a:r>
            <a:endParaRPr lang="ko-KR" altLang="en-US" b="1">
              <a:latin typeface="나눔바른고딕"/>
              <a:ea typeface="나눔바른고딕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95145" y="3904256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46" name="직선 연결선 45"/>
          <p:cNvCxnSpPr/>
          <p:nvPr/>
        </p:nvCxnSpPr>
        <p:spPr>
          <a:xfrm>
            <a:off x="395145" y="2081833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12" y="212281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제목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82" y="2434361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cxnSp>
        <p:nvCxnSpPr>
          <p:cNvPr id="52" name="직선 연결선 51"/>
          <p:cNvCxnSpPr/>
          <p:nvPr/>
        </p:nvCxnSpPr>
        <p:spPr>
          <a:xfrm>
            <a:off x="395145" y="2409855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2" name="직선 연결선 61"/>
          <p:cNvCxnSpPr/>
          <p:nvPr/>
        </p:nvCxnSpPr>
        <p:spPr>
          <a:xfrm>
            <a:off x="350748" y="5845449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3" name="직선 연결선 62"/>
          <p:cNvCxnSpPr/>
          <p:nvPr/>
        </p:nvCxnSpPr>
        <p:spPr>
          <a:xfrm>
            <a:off x="350748" y="4845609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4" name="TextBox 63"/>
          <p:cNvSpPr txBox="1"/>
          <p:nvPr/>
        </p:nvSpPr>
        <p:spPr>
          <a:xfrm>
            <a:off x="129473" y="489663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답변상태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5243" y="489663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제목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8101" y="489663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cxnSp>
        <p:nvCxnSpPr>
          <p:cNvPr id="67" name="직선 연결선 66"/>
          <p:cNvCxnSpPr/>
          <p:nvPr/>
        </p:nvCxnSpPr>
        <p:spPr>
          <a:xfrm>
            <a:off x="350748" y="5173631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8" name="직사각형 67"/>
          <p:cNvSpPr/>
          <p:nvPr/>
        </p:nvSpPr>
        <p:spPr>
          <a:xfrm>
            <a:off x="6391002" y="3962545"/>
            <a:ext cx="677153" cy="2938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등록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395145" y="2711360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70" name="직사각형 69"/>
          <p:cNvSpPr/>
          <p:nvPr/>
        </p:nvSpPr>
        <p:spPr>
          <a:xfrm>
            <a:off x="440256" y="2761963"/>
            <a:ext cx="6600976" cy="10840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-43985" y="4570183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b="1">
                <a:latin typeface="나눔바른고딕"/>
                <a:ea typeface="나눔바른고딕"/>
              </a:rPr>
              <a:t>내 </a:t>
            </a:r>
            <a:r>
              <a:rPr lang="en-US" altLang="ko-KR" b="1">
                <a:latin typeface="나눔바른고딕"/>
                <a:ea typeface="나눔바른고딕"/>
              </a:rPr>
              <a:t>Q&amp;A</a:t>
            </a:r>
            <a:endParaRPr lang="ko-KR" altLang="en-US" b="1">
              <a:latin typeface="나눔바른고딕"/>
              <a:ea typeface="나눔바른고딕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350748" y="4798224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73" name="직사각형 72"/>
          <p:cNvSpPr/>
          <p:nvPr/>
        </p:nvSpPr>
        <p:spPr>
          <a:xfrm>
            <a:off x="5666173" y="5924469"/>
            <a:ext cx="677153" cy="2938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수정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6391840" y="5921954"/>
            <a:ext cx="677153" cy="29381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삭제</a:t>
            </a:r>
          </a:p>
        </p:txBody>
      </p:sp>
      <p:sp>
        <p:nvSpPr>
          <p:cNvPr id="26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20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title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content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제목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title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8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21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031144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UI_PD4_011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회원 구매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상품 상세보기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상품의 상세 정보를 확인할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주문서 작성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장바구니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찜 목록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리뷰 관리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Q&amp;A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387078" y="3480641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5029050" y="3508260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⑤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297066" y="336023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/>
          </a:p>
        </p:txBody>
      </p:sp>
      <p:sp>
        <p:nvSpPr>
          <p:cNvPr id="33" name="TextBox 32"/>
          <p:cNvSpPr txBox="1"/>
          <p:nvPr/>
        </p:nvSpPr>
        <p:spPr>
          <a:xfrm>
            <a:off x="822122" y="3189740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245241" y="186422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029050" y="428862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⑥</a:t>
            </a:r>
            <a:endParaRPr lang="ko-KR" altLang="en-US" sz="2000" dirty="0"/>
          </a:p>
        </p:txBody>
      </p:sp>
      <p:grpSp>
        <p:nvGrpSpPr>
          <p:cNvPr id="72" name="그룹 71"/>
          <p:cNvGrpSpPr/>
          <p:nvPr/>
        </p:nvGrpSpPr>
        <p:grpSpPr>
          <a:xfrm>
            <a:off x="347088" y="1916831"/>
            <a:ext cx="2859145" cy="2839021"/>
            <a:chOff x="2618869" y="1196752"/>
            <a:chExt cx="5297191" cy="4799032"/>
          </a:xfrm>
        </p:grpSpPr>
        <p:sp>
          <p:nvSpPr>
            <p:cNvPr id="73" name="직사각형 72"/>
            <p:cNvSpPr/>
            <p:nvPr/>
          </p:nvSpPr>
          <p:spPr>
            <a:xfrm>
              <a:off x="2618869" y="1196752"/>
              <a:ext cx="5297191" cy="47990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975">
                <a:latin typeface="나눔바른고딕"/>
                <a:ea typeface="나눔바른고딕"/>
              </a:endParaRPr>
            </a:p>
          </p:txBody>
        </p:sp>
        <p:pic>
          <p:nvPicPr>
            <p:cNvPr id="74" name="그림 73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745832" y="1826695"/>
              <a:ext cx="1682402" cy="1603235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4404984" y="1638784"/>
              <a:ext cx="1502390" cy="494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 b="1">
                  <a:latin typeface="나눔바른고딕"/>
                  <a:ea typeface="나눔바른고딕"/>
                </a:rPr>
                <a:t>상품 이름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688731" y="1281797"/>
              <a:ext cx="1682402" cy="546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 b="1">
                  <a:latin typeface="나눔바른고딕"/>
                  <a:ea typeface="나눔바른고딕"/>
                </a:rPr>
                <a:t>상세보기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2648744" y="4039177"/>
            <a:ext cx="616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스크롤</a:t>
            </a: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25454" y="4285603"/>
            <a:ext cx="480779" cy="393394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219038" y="2439907"/>
            <a:ext cx="810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판매가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357302" y="2462767"/>
            <a:ext cx="13681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1209693" y="2656789"/>
            <a:ext cx="810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제조사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1357302" y="2680323"/>
            <a:ext cx="13681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1198911" y="2839559"/>
            <a:ext cx="810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원산지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1357302" y="2880342"/>
            <a:ext cx="13681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1242376" y="3066534"/>
            <a:ext cx="558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수량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372032" y="3080676"/>
            <a:ext cx="136815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87" name="직사각형 86"/>
          <p:cNvSpPr/>
          <p:nvPr/>
        </p:nvSpPr>
        <p:spPr>
          <a:xfrm>
            <a:off x="1092874" y="3351572"/>
            <a:ext cx="856682" cy="1981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나눔바른고딕"/>
                <a:ea typeface="나눔바른고딕"/>
              </a:rPr>
              <a:t>구매하기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521825" y="3589850"/>
            <a:ext cx="957138" cy="1981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나눔바른고딕"/>
                <a:ea typeface="나눔바른고딕"/>
              </a:rPr>
              <a:t>장바구니 담기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1521215" y="3589850"/>
            <a:ext cx="1040325" cy="1981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나눔바른고딕"/>
                <a:ea typeface="나눔바른고딕"/>
              </a:rPr>
              <a:t>찜 등록</a:t>
            </a:r>
          </a:p>
        </p:txBody>
      </p:sp>
      <p:grpSp>
        <p:nvGrpSpPr>
          <p:cNvPr id="61" name="그룹 60"/>
          <p:cNvGrpSpPr/>
          <p:nvPr/>
        </p:nvGrpSpPr>
        <p:grpSpPr>
          <a:xfrm>
            <a:off x="3377954" y="1916830"/>
            <a:ext cx="3554320" cy="2839021"/>
            <a:chOff x="236816" y="975779"/>
            <a:chExt cx="8136904" cy="5338484"/>
          </a:xfrm>
        </p:grpSpPr>
        <p:sp>
          <p:nvSpPr>
            <p:cNvPr id="62" name="직사각형 61"/>
            <p:cNvSpPr/>
            <p:nvPr/>
          </p:nvSpPr>
          <p:spPr>
            <a:xfrm>
              <a:off x="236816" y="975779"/>
              <a:ext cx="8136904" cy="533848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>
                <a:latin typeface="나눔바른고딕"/>
                <a:ea typeface="나눔바른고딕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335359" y="1072802"/>
              <a:ext cx="2138000" cy="53397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제품 상세설명</a:t>
              </a:r>
            </a:p>
          </p:txBody>
        </p:sp>
        <p:cxnSp>
          <p:nvCxnSpPr>
            <p:cNvPr id="64" name="직선 연결선 63"/>
            <p:cNvCxnSpPr/>
            <p:nvPr/>
          </p:nvCxnSpPr>
          <p:spPr>
            <a:xfrm>
              <a:off x="407368" y="2204864"/>
              <a:ext cx="77048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직사각형 64"/>
            <p:cNvSpPr/>
            <p:nvPr/>
          </p:nvSpPr>
          <p:spPr>
            <a:xfrm>
              <a:off x="335357" y="2301887"/>
              <a:ext cx="2847818" cy="58617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배송</a:t>
              </a:r>
              <a:r>
                <a:rPr lang="en-US" altLang="ko-KR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/</a:t>
              </a: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교환</a:t>
              </a:r>
              <a:r>
                <a:rPr lang="en-US" altLang="ko-KR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/</a:t>
              </a: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반품 정보</a:t>
              </a:r>
            </a:p>
          </p:txBody>
        </p:sp>
        <p:cxnSp>
          <p:nvCxnSpPr>
            <p:cNvPr id="66" name="직선 연결선 65"/>
            <p:cNvCxnSpPr/>
            <p:nvPr/>
          </p:nvCxnSpPr>
          <p:spPr>
            <a:xfrm>
              <a:off x="407368" y="3429000"/>
              <a:ext cx="77048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66"/>
            <p:cNvSpPr/>
            <p:nvPr/>
          </p:nvSpPr>
          <p:spPr>
            <a:xfrm>
              <a:off x="335360" y="3536251"/>
              <a:ext cx="1872208" cy="43204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후기</a:t>
              </a: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407368" y="4778697"/>
              <a:ext cx="77048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직사각형 68"/>
            <p:cNvSpPr/>
            <p:nvPr/>
          </p:nvSpPr>
          <p:spPr>
            <a:xfrm>
              <a:off x="335360" y="4885947"/>
              <a:ext cx="1872208" cy="43204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Q&amp;A</a:t>
              </a:r>
              <a:endParaRPr lang="ko-KR" altLang="en-US" sz="10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660104" y="4304565"/>
              <a:ext cx="1982991" cy="41156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상품후기쓰기</a:t>
              </a: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6643098" y="4318467"/>
              <a:ext cx="1605669" cy="41156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모두보기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4575643" y="5860046"/>
              <a:ext cx="1982991" cy="4035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상품문의하기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6643098" y="5852043"/>
              <a:ext cx="1605667" cy="40341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>
                  <a:solidFill>
                    <a:schemeClr val="tx1"/>
                  </a:solidFill>
                  <a:latin typeface="나눔바른고딕"/>
                  <a:ea typeface="나눔바른고딕"/>
                </a:rPr>
                <a:t>모두보기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189478" y="1199561"/>
              <a:ext cx="922746" cy="10417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00">
                  <a:latin typeface="나눔바른고딕"/>
                  <a:ea typeface="나눔바른고딕"/>
                </a:rPr>
                <a:t>스크롤</a:t>
              </a:r>
            </a:p>
          </p:txBody>
        </p:sp>
        <p:pic>
          <p:nvPicPr>
            <p:cNvPr id="92" name="그림 91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726372" y="1469451"/>
              <a:ext cx="583307" cy="583307"/>
            </a:xfrm>
            <a:prstGeom prst="rect">
              <a:avLst/>
            </a:prstGeom>
          </p:spPr>
        </p:pic>
      </p:grpSp>
      <p:sp>
        <p:nvSpPr>
          <p:cNvPr id="45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22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이미지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image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상품회사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menu_company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stock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23</a:t>
            </a:fld>
            <a:r>
              <a:rPr lang="en-US" altLang="ko-KR"/>
              <a:t> -</a:t>
            </a:r>
            <a:endParaRPr lang="ko-KR" altLang="ko-KR"/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562404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UI_PD4_012</a:t>
                      </a:r>
                      <a:endParaRPr kumimoji="1" lang="en-US" altLang="ko-KR" sz="1000" b="0" i="0" u="none" strike="noStrike" cap="none" normalizeH="0" baseline="0" dirty="0" smtClean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회원 구매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찜 목록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lang="en-US" altLang="ko-KR" sz="1000" b="0" i="0" u="none" strike="noStrike" kern="120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찜한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상품을 볼 수 있는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삭제와 장바구니 담기가 가능하다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찜한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상품을 선택해서 삭제할 수 도 있고 장바구니 담기를 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장바구니 담기를 누르면 장바구니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1454" y="186186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16" name="직사각형 15"/>
          <p:cNvSpPr/>
          <p:nvPr/>
        </p:nvSpPr>
        <p:spPr>
          <a:xfrm>
            <a:off x="416496" y="1916832"/>
            <a:ext cx="1628911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찜 목록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416496" y="2420888"/>
            <a:ext cx="6480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57826" y="2518851"/>
            <a:ext cx="864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이미지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1707" y="2512413"/>
            <a:ext cx="864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8994" y="2518852"/>
            <a:ext cx="864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옵션정보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4973" y="2507255"/>
            <a:ext cx="864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판매가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923" y="2518852"/>
            <a:ext cx="864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4087" y="2900081"/>
            <a:ext cx="463479" cy="4840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71008" y="2990522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서울</a:t>
            </a:r>
            <a:r>
              <a:rPr lang="en-US" altLang="ko-KR">
                <a:latin typeface="나눔바른고딕"/>
                <a:ea typeface="나눔바른고딕"/>
              </a:rPr>
              <a:t>)</a:t>
            </a:r>
            <a:r>
              <a:rPr lang="ko-KR" altLang="en-US">
                <a:latin typeface="나눔바른고딕"/>
                <a:ea typeface="나눔바른고딕"/>
              </a:rPr>
              <a:t>참이슬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416496" y="3685456"/>
            <a:ext cx="64807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4853090" y="2957855"/>
            <a:ext cx="85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1,720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6108000" y="2958641"/>
            <a:ext cx="517942" cy="30888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rPr>
              <a:t>삭제</a:t>
            </a:r>
            <a:endParaRPr kumimoji="0" lang="ko-KR" altLang="en-US" sz="1200" b="0" i="0" u="none" strike="noStrike" cap="none" normalizeH="0" baseline="0">
              <a:solidFill>
                <a:schemeClr val="tx1"/>
              </a:solidFill>
              <a:latin typeface="Arial"/>
              <a:ea typeface="굴림"/>
            </a:endParaRPr>
          </a:p>
        </p:txBody>
      </p:sp>
      <p:sp>
        <p:nvSpPr>
          <p:cNvPr id="39" name="사각형: 둥근 모서리 38"/>
          <p:cNvSpPr/>
          <p:nvPr/>
        </p:nvSpPr>
        <p:spPr>
          <a:xfrm>
            <a:off x="5643096" y="3814378"/>
            <a:ext cx="1224210" cy="30888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rPr>
              <a:t>장바구니</a:t>
            </a:r>
            <a:r>
              <a:rPr lang="en-US" altLang="ko-KR"/>
              <a:t> </a:t>
            </a:r>
            <a:r>
              <a:rPr lang="ko-KR" altLang="en-US"/>
              <a:t>담기</a:t>
            </a: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5913" y="2502949"/>
            <a:ext cx="6442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선택</a:t>
            </a:r>
          </a:p>
        </p:txBody>
      </p:sp>
      <p:sp>
        <p:nvSpPr>
          <p:cNvPr id="41" name="사각형: 둥근 모서리 40"/>
          <p:cNvSpPr/>
          <p:nvPr/>
        </p:nvSpPr>
        <p:spPr>
          <a:xfrm>
            <a:off x="523512" y="2971249"/>
            <a:ext cx="229013" cy="276406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2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946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24</a:t>
            </a:fld>
            <a:r>
              <a:rPr lang="en-US" altLang="ko-KR"/>
              <a:t> -</a:t>
            </a:r>
            <a:endParaRPr lang="ko-KR" altLang="ko-KR"/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장바구니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cartid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이미지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image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871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25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96870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UI_PD4_013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장바구니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장바구니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주문서 작성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선택 버튼 체크 후에 버튼을 누를 시 장바구니에서 선택한 상품이 삭제된다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장바구니에 있던 상품들이 모두 삭제된다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견적서 출력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찜 목록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525638" y="3059010"/>
            <a:ext cx="12865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>
                <a:latin typeface="나눔바른고딕"/>
                <a:ea typeface="나눔바른고딕"/>
              </a:rPr>
              <a:t>서울</a:t>
            </a:r>
            <a:r>
              <a:rPr lang="en-US" altLang="ko-KR" sz="1300">
                <a:latin typeface="나눔바른고딕"/>
                <a:ea typeface="나눔바른고딕"/>
              </a:rPr>
              <a:t>)</a:t>
            </a:r>
            <a:r>
              <a:rPr lang="ko-KR" altLang="en-US" sz="1300">
                <a:latin typeface="나눔바른고딕"/>
                <a:ea typeface="나눔바른고딕"/>
              </a:rPr>
              <a:t>참이슬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5782" y="5826150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4442514" y="586562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⑤</a:t>
            </a:r>
            <a:endParaRPr lang="ko-KR" alt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1653169" y="5826150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254782" y="581632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5091336" y="395006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sp>
        <p:nvSpPr>
          <p:cNvPr id="23" name="직사각형 22"/>
          <p:cNvSpPr/>
          <p:nvPr/>
        </p:nvSpPr>
        <p:spPr>
          <a:xfrm>
            <a:off x="406645" y="1890564"/>
            <a:ext cx="93610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500">
                <a:solidFill>
                  <a:schemeClr val="tx1"/>
                </a:solidFill>
                <a:latin typeface="나눔바른고딕"/>
                <a:ea typeface="나눔바른고딕"/>
              </a:rPr>
              <a:t>장바구니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478653" y="2636912"/>
            <a:ext cx="656257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8" name="순서도: 병합 7"/>
          <p:cNvSpPr/>
          <p:nvPr/>
        </p:nvSpPr>
        <p:spPr>
          <a:xfrm rot="16200000">
            <a:off x="469278" y="2286247"/>
            <a:ext cx="177545" cy="148942"/>
          </a:xfrm>
          <a:prstGeom prst="flowChartMerg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344" y="2232497"/>
            <a:ext cx="733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장바구니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342749" y="2271945"/>
            <a:ext cx="0" cy="2375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1342749" y="2237619"/>
            <a:ext cx="101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일반 상품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1458" y="2717320"/>
            <a:ext cx="6442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378" y="2725897"/>
            <a:ext cx="684056" cy="28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이미지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0187" y="2700218"/>
            <a:ext cx="936104" cy="28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62569" y="2725897"/>
            <a:ext cx="642731" cy="28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포인트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5446" y="2711802"/>
            <a:ext cx="7086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판매가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1587" y="2724166"/>
            <a:ext cx="519311" cy="284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수량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66221" y="2724166"/>
            <a:ext cx="936104" cy="28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배송구분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7506" y="2720575"/>
            <a:ext cx="773929" cy="28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배송비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1968" y="2724166"/>
            <a:ext cx="773929" cy="28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합계</a:t>
            </a:r>
          </a:p>
        </p:txBody>
      </p:sp>
      <p:sp>
        <p:nvSpPr>
          <p:cNvPr id="11" name="사각형: 둥근 모서리 10"/>
          <p:cNvSpPr/>
          <p:nvPr/>
        </p:nvSpPr>
        <p:spPr>
          <a:xfrm>
            <a:off x="532968" y="3013929"/>
            <a:ext cx="229013" cy="276406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6955" y="2985916"/>
            <a:ext cx="425510" cy="444428"/>
          </a:xfrm>
          <a:prstGeom prst="rect">
            <a:avLst/>
          </a:prstGeom>
        </p:spPr>
      </p:pic>
      <p:cxnSp>
        <p:nvCxnSpPr>
          <p:cNvPr id="49" name="직선 연결선 48"/>
          <p:cNvCxnSpPr/>
          <p:nvPr/>
        </p:nvCxnSpPr>
        <p:spPr>
          <a:xfrm>
            <a:off x="478653" y="3501008"/>
            <a:ext cx="656257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2826240" y="3036586"/>
            <a:ext cx="747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1,720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31077" y="3026262"/>
            <a:ext cx="8281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기본배송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8617" y="3049228"/>
            <a:ext cx="7739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3,500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  <a:endParaRPr lang="en-US" altLang="ko-KR">
              <a:latin typeface="나눔바른고딕"/>
              <a:ea typeface="나눔바른고딕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10456" y="3049227"/>
            <a:ext cx="1017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5,220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  <a:endParaRPr lang="en-US" altLang="ko-KR">
              <a:latin typeface="나눔바른고딕"/>
              <a:ea typeface="나눔바른고딕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615987" y="3035625"/>
            <a:ext cx="184164" cy="233014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kumimoji="0" lang="ko-KR" altLang="en-US" sz="9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rPr>
              <a:t>포</a:t>
            </a:r>
            <a:endParaRPr kumimoji="0" lang="ko-KR" altLang="en-US" sz="900" b="0" i="0" u="none" strike="noStrike" cap="none" normalizeH="0" baseline="0">
              <a:solidFill>
                <a:schemeClr val="tx1"/>
              </a:solidFill>
              <a:latin typeface="Arial"/>
              <a:ea typeface="굴림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83729" y="3035625"/>
            <a:ext cx="627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20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288725" y="3048885"/>
            <a:ext cx="220535" cy="23301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lang="en-US" altLang="ko-KR" sz="900"/>
              <a:t>1</a:t>
            </a:r>
            <a:endParaRPr kumimoji="0" lang="ko-KR" altLang="en-US" sz="9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5" name="사각형: 둥근 모서리 54"/>
          <p:cNvSpPr/>
          <p:nvPr/>
        </p:nvSpPr>
        <p:spPr>
          <a:xfrm>
            <a:off x="4550538" y="3038003"/>
            <a:ext cx="502764" cy="257802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kumimoji="0" lang="ko-KR" altLang="en-US" sz="9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rPr>
              <a:t>수정</a:t>
            </a:r>
            <a:endParaRPr kumimoji="0" lang="ko-KR" altLang="en-US" sz="900" b="0" i="0" u="none" strike="noStrike" cap="none" normalizeH="0" baseline="0">
              <a:solidFill>
                <a:schemeClr val="tx1"/>
              </a:solidFill>
              <a:latin typeface="Arial"/>
              <a:ea typeface="굴림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0620" y="3561230"/>
            <a:ext cx="11800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300">
                <a:latin typeface="나눔바른고딕"/>
                <a:ea typeface="나눔바른고딕"/>
              </a:rPr>
              <a:t>[ </a:t>
            </a:r>
            <a:r>
              <a:rPr lang="ko-KR" altLang="en-US" sz="1300">
                <a:latin typeface="나눔바른고딕"/>
                <a:ea typeface="나눔바른고딕"/>
              </a:rPr>
              <a:t>기본 배송 </a:t>
            </a:r>
            <a:r>
              <a:rPr lang="en-US" altLang="ko-KR" sz="1300">
                <a:latin typeface="나눔바른고딕"/>
                <a:ea typeface="나눔바른고딕"/>
              </a:rPr>
              <a:t>]</a:t>
            </a:r>
            <a:endParaRPr lang="ko-KR" altLang="en-US" sz="1300">
              <a:latin typeface="나눔바른고딕"/>
              <a:ea typeface="나눔바른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218979" y="3561230"/>
            <a:ext cx="38769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>
                <a:latin typeface="나눔바른고딕"/>
                <a:ea typeface="나눔바른고딕"/>
              </a:rPr>
              <a:t>상품구매금액 </a:t>
            </a:r>
            <a:r>
              <a:rPr lang="en-US" altLang="ko-KR" sz="1300" b="1">
                <a:latin typeface="나눔바른고딕"/>
                <a:ea typeface="나눔바른고딕"/>
              </a:rPr>
              <a:t>1,720</a:t>
            </a:r>
            <a:r>
              <a:rPr lang="en-US" altLang="ko-KR" sz="1300">
                <a:latin typeface="나눔바른고딕"/>
                <a:ea typeface="나눔바른고딕"/>
              </a:rPr>
              <a:t> + </a:t>
            </a:r>
            <a:r>
              <a:rPr lang="ko-KR" altLang="en-US" sz="1300">
                <a:latin typeface="나눔바른고딕"/>
                <a:ea typeface="나눔바른고딕"/>
              </a:rPr>
              <a:t>배송비 </a:t>
            </a:r>
            <a:r>
              <a:rPr lang="en-US" altLang="ko-KR" sz="1300" b="1">
                <a:latin typeface="나눔바른고딕"/>
                <a:ea typeface="나눔바른고딕"/>
              </a:rPr>
              <a:t>3,500</a:t>
            </a:r>
            <a:r>
              <a:rPr lang="en-US" altLang="ko-KR" sz="1300">
                <a:latin typeface="나눔바른고딕"/>
                <a:ea typeface="나눔바른고딕"/>
              </a:rPr>
              <a:t> = </a:t>
            </a:r>
            <a:r>
              <a:rPr lang="ko-KR" altLang="en-US" sz="1300">
                <a:latin typeface="나눔바른고딕"/>
                <a:ea typeface="나눔바른고딕"/>
              </a:rPr>
              <a:t>합계 </a:t>
            </a:r>
            <a:r>
              <a:rPr lang="en-US" altLang="ko-KR" sz="1300">
                <a:latin typeface="나눔바른고딕"/>
                <a:ea typeface="나눔바른고딕"/>
              </a:rPr>
              <a:t>: </a:t>
            </a:r>
            <a:r>
              <a:rPr lang="en-US" altLang="ko-KR" sz="1300" b="1">
                <a:latin typeface="나눔바른고딕"/>
                <a:ea typeface="나눔바른고딕"/>
              </a:rPr>
              <a:t>5,220</a:t>
            </a:r>
            <a:r>
              <a:rPr lang="ko-KR" altLang="en-US" sz="1300" b="1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5385333" y="4133600"/>
            <a:ext cx="1628911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선택상품 주문하기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493389" y="4751573"/>
            <a:ext cx="6504117" cy="1156137"/>
            <a:chOff x="460620" y="4954713"/>
            <a:chExt cx="6504117" cy="1156137"/>
          </a:xfrm>
        </p:grpSpPr>
        <p:sp>
          <p:nvSpPr>
            <p:cNvPr id="59" name="직사각형 58"/>
            <p:cNvSpPr/>
            <p:nvPr/>
          </p:nvSpPr>
          <p:spPr>
            <a:xfrm>
              <a:off x="483579" y="4954713"/>
              <a:ext cx="6389098" cy="11561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0620" y="5092498"/>
              <a:ext cx="1364182" cy="796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 b="1">
                  <a:latin typeface="나눔바른고딕"/>
                  <a:ea typeface="나눔바른고딕"/>
                </a:rPr>
                <a:t>합계</a:t>
              </a:r>
            </a:p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고객님의 총 주문 합계 금액 입니다</a:t>
              </a:r>
              <a:r>
                <a:rPr lang="en-US" altLang="ko-KR">
                  <a:latin typeface="나눔바른고딕"/>
                  <a:ea typeface="나눔바른고딕"/>
                </a:rPr>
                <a:t>.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392582" y="5126512"/>
              <a:ext cx="136418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상품 합계금액</a:t>
              </a:r>
            </a:p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배송비</a:t>
              </a:r>
            </a:p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총 주문합계 금액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784725" y="5126512"/>
              <a:ext cx="11800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1,720</a:t>
              </a:r>
              <a:r>
                <a:rPr lang="ko-KR" altLang="en-US">
                  <a:latin typeface="나눔바른고딕"/>
                  <a:ea typeface="나눔바른고딕"/>
                </a:rPr>
                <a:t>원</a:t>
              </a:r>
            </a:p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3,500</a:t>
              </a:r>
              <a:r>
                <a:rPr lang="ko-KR" altLang="en-US">
                  <a:latin typeface="나눔바른고딕"/>
                  <a:ea typeface="나눔바른고딕"/>
                </a:rPr>
                <a:t>원</a:t>
              </a:r>
            </a:p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5,220</a:t>
              </a:r>
              <a:r>
                <a:rPr lang="ko-KR" altLang="en-US">
                  <a:latin typeface="나눔바른고딕"/>
                  <a:ea typeface="나눔바른고딕"/>
                </a:rPr>
                <a:t>원</a:t>
              </a:r>
            </a:p>
          </p:txBody>
        </p:sp>
      </p:grpSp>
      <p:sp>
        <p:nvSpPr>
          <p:cNvPr id="66" name="직사각형 65"/>
          <p:cNvSpPr/>
          <p:nvPr/>
        </p:nvSpPr>
        <p:spPr>
          <a:xfrm>
            <a:off x="4622485" y="6002306"/>
            <a:ext cx="1268666" cy="3588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찜 상품 등록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251734" y="6002306"/>
            <a:ext cx="1268666" cy="3588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견적서출력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1885792" y="6002306"/>
            <a:ext cx="1268666" cy="3588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장바구니비우기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19850" y="6002306"/>
            <a:ext cx="1268666" cy="3588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선택상품삭제</a:t>
            </a:r>
          </a:p>
        </p:txBody>
      </p:sp>
      <p:sp>
        <p:nvSpPr>
          <p:cNvPr id="63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26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이미지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image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deliveryCost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>
                          <a:latin typeface="맑은 고딕"/>
                          <a:ea typeface="맑은 고딕"/>
                          <a:cs typeface="Times New Roman"/>
                        </a:rPr>
                        <a:t>count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사용포인트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usePoint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kern="100">
                          <a:latin typeface="맑은 고딕"/>
                          <a:ea typeface="맑은 고딕"/>
                          <a:cs typeface="Times New Roman"/>
                        </a:rPr>
                        <a:t>0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27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29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UI_PD4_014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주문서 작성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주문서 작성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>
          <a:xfrm>
            <a:off x="383254" y="1883536"/>
            <a:ext cx="1628911" cy="3077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주문서 작성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288366" y="2207228"/>
            <a:ext cx="6595427" cy="2283839"/>
            <a:chOff x="301789" y="2382239"/>
            <a:chExt cx="6595427" cy="2283839"/>
          </a:xfrm>
        </p:grpSpPr>
        <p:sp>
          <p:nvSpPr>
            <p:cNvPr id="50" name="TextBox 49"/>
            <p:cNvSpPr txBox="1"/>
            <p:nvPr/>
          </p:nvSpPr>
          <p:spPr>
            <a:xfrm>
              <a:off x="348352" y="2382239"/>
              <a:ext cx="10762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 b="1">
                  <a:latin typeface="나눔바른고딕"/>
                  <a:ea typeface="나눔바른고딕"/>
                </a:rPr>
                <a:t>주문자 정보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38544" y="2690015"/>
              <a:ext cx="6458672" cy="197606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438544" y="2976384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315913" y="2692681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성명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064569" y="2692680"/>
              <a:ext cx="826162" cy="26096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01789" y="3255235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주소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057873" y="2980778"/>
              <a:ext cx="1152128" cy="2375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064568" y="3245179"/>
              <a:ext cx="1628911" cy="2769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1064568" y="3539752"/>
              <a:ext cx="1628911" cy="28370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15913" y="382345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유선전화</a:t>
              </a: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1064569" y="3823455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67" name="사각형: 둥근 모서리 66"/>
            <p:cNvSpPr/>
            <p:nvPr/>
          </p:nvSpPr>
          <p:spPr>
            <a:xfrm>
              <a:off x="2613708" y="2971248"/>
              <a:ext cx="899131" cy="274828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r>
                <a:rPr kumimoji="0" lang="ko-KR" altLang="en-US" sz="1000" b="0" i="0" u="none" strike="noStrike" cap="none" normalizeH="0" baseline="0">
                  <a:solidFill>
                    <a:schemeClr val="tx1"/>
                  </a:solidFill>
                  <a:effectLst/>
                  <a:latin typeface="Arial"/>
                  <a:ea typeface="굴림"/>
                </a:rPr>
                <a:t>우편번호</a:t>
              </a:r>
              <a:endParaRPr kumimoji="0" lang="ko-KR" altLang="en-US" sz="1000" b="0" i="0" u="none" strike="noStrike" cap="none" normalizeH="0" baseline="0">
                <a:solidFill>
                  <a:schemeClr val="tx1"/>
                </a:solidFill>
                <a:latin typeface="Arial"/>
                <a:ea typeface="굴림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29744" y="3255235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기본주소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668575" y="3518178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나머지주소</a:t>
              </a:r>
            </a:p>
          </p:txBody>
        </p:sp>
        <p:cxnSp>
          <p:nvCxnSpPr>
            <p:cNvPr id="75" name="직선 연결선 74"/>
            <p:cNvCxnSpPr/>
            <p:nvPr/>
          </p:nvCxnSpPr>
          <p:spPr>
            <a:xfrm>
              <a:off x="438544" y="3827241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76" name="직선 연결선 75"/>
            <p:cNvCxnSpPr/>
            <p:nvPr/>
          </p:nvCxnSpPr>
          <p:spPr>
            <a:xfrm>
              <a:off x="438544" y="4100455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315913" y="4096932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휴대전화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779619" y="384102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15913" y="438237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E-mail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064569" y="4382376"/>
              <a:ext cx="1145432" cy="28370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81" name="직선 연결선 80"/>
            <p:cNvCxnSpPr/>
            <p:nvPr/>
          </p:nvCxnSpPr>
          <p:spPr>
            <a:xfrm>
              <a:off x="438544" y="4382376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83" name="TextBox 82"/>
            <p:cNvSpPr txBox="1"/>
            <p:nvPr/>
          </p:nvSpPr>
          <p:spPr>
            <a:xfrm>
              <a:off x="2109578" y="4373931"/>
              <a:ext cx="50405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@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2490557" y="4382376"/>
              <a:ext cx="1145432" cy="28370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85" name="사각형: 둥근 모서리 84"/>
            <p:cNvSpPr/>
            <p:nvPr/>
          </p:nvSpPr>
          <p:spPr>
            <a:xfrm>
              <a:off x="3758373" y="4400146"/>
              <a:ext cx="978603" cy="240068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86" name="순서도: 병합 85"/>
            <p:cNvSpPr/>
            <p:nvPr/>
          </p:nvSpPr>
          <p:spPr>
            <a:xfrm>
              <a:off x="4558670" y="4474830"/>
              <a:ext cx="144016" cy="108234"/>
            </a:xfrm>
            <a:prstGeom prst="flowChartMerg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non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283675" y="2973997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568868" y="383682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297799" y="383682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2503829" y="384102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064569" y="4097022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779619" y="411459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568868" y="411039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297799" y="411039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503829" y="411459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232685" y="4553393"/>
            <a:ext cx="6595427" cy="2008047"/>
            <a:chOff x="301789" y="2382239"/>
            <a:chExt cx="6595427" cy="2008047"/>
          </a:xfrm>
        </p:grpSpPr>
        <p:sp>
          <p:nvSpPr>
            <p:cNvPr id="100" name="TextBox 99"/>
            <p:cNvSpPr txBox="1"/>
            <p:nvPr/>
          </p:nvSpPr>
          <p:spPr>
            <a:xfrm>
              <a:off x="348352" y="2382239"/>
              <a:ext cx="10762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 b="1">
                  <a:latin typeface="나눔바른고딕"/>
                  <a:ea typeface="나눔바른고딕"/>
                </a:rPr>
                <a:t>배송지 정보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38544" y="2690015"/>
              <a:ext cx="6458672" cy="170027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438544" y="2976384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103" name="TextBox 102"/>
            <p:cNvSpPr txBox="1"/>
            <p:nvPr/>
          </p:nvSpPr>
          <p:spPr>
            <a:xfrm>
              <a:off x="315913" y="2692681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성명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064569" y="2692680"/>
              <a:ext cx="826162" cy="26096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01789" y="3255235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주소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057873" y="2980778"/>
              <a:ext cx="1152128" cy="2375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1064568" y="3245179"/>
              <a:ext cx="1628911" cy="2769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064568" y="3539752"/>
              <a:ext cx="1628911" cy="28370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15913" y="3823456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유선전화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1064569" y="3823455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11" name="사각형: 둥근 모서리 110"/>
            <p:cNvSpPr/>
            <p:nvPr/>
          </p:nvSpPr>
          <p:spPr>
            <a:xfrm>
              <a:off x="2613708" y="2971248"/>
              <a:ext cx="899131" cy="274828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squar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r>
                <a:rPr kumimoji="0" lang="ko-KR" altLang="en-US" sz="1000" b="0" i="0" u="none" strike="noStrike" cap="none" normalizeH="0" baseline="0">
                  <a:solidFill>
                    <a:schemeClr val="tx1"/>
                  </a:solidFill>
                  <a:effectLst/>
                  <a:latin typeface="Arial"/>
                  <a:ea typeface="굴림"/>
                </a:rPr>
                <a:t>우편번호</a:t>
              </a:r>
              <a:endParaRPr kumimoji="0" lang="ko-KR" altLang="en-US" sz="1000" b="0" i="0" u="none" strike="noStrike" cap="none" normalizeH="0" baseline="0">
                <a:solidFill>
                  <a:schemeClr val="tx1"/>
                </a:solidFill>
                <a:latin typeface="Arial"/>
                <a:ea typeface="굴림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629744" y="3255235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기본주소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668575" y="3518178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나머지주소</a:t>
              </a:r>
            </a:p>
          </p:txBody>
        </p:sp>
        <p:cxnSp>
          <p:nvCxnSpPr>
            <p:cNvPr id="114" name="직선 연결선 113"/>
            <p:cNvCxnSpPr/>
            <p:nvPr/>
          </p:nvCxnSpPr>
          <p:spPr>
            <a:xfrm>
              <a:off x="438544" y="3827241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115" name="직선 연결선 114"/>
            <p:cNvCxnSpPr/>
            <p:nvPr/>
          </p:nvCxnSpPr>
          <p:spPr>
            <a:xfrm>
              <a:off x="438544" y="4100455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116" name="TextBox 115"/>
            <p:cNvSpPr txBox="1"/>
            <p:nvPr/>
          </p:nvSpPr>
          <p:spPr>
            <a:xfrm>
              <a:off x="315913" y="4096932"/>
              <a:ext cx="8261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휴대전화</a:t>
              </a:r>
            </a:p>
          </p:txBody>
        </p:sp>
        <p:sp>
          <p:nvSpPr>
            <p:cNvPr id="117" name="직사각형 116"/>
            <p:cNvSpPr/>
            <p:nvPr/>
          </p:nvSpPr>
          <p:spPr>
            <a:xfrm>
              <a:off x="1779619" y="384102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120" name="직선 연결선 119"/>
            <p:cNvCxnSpPr/>
            <p:nvPr/>
          </p:nvCxnSpPr>
          <p:spPr>
            <a:xfrm>
              <a:off x="438544" y="4382376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125" name="TextBox 124"/>
            <p:cNvSpPr txBox="1"/>
            <p:nvPr/>
          </p:nvSpPr>
          <p:spPr>
            <a:xfrm>
              <a:off x="2283675" y="2973997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568868" y="383682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297799" y="3836824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503829" y="3841029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1064569" y="4097022"/>
              <a:ext cx="504056" cy="28542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1779619" y="411459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568868" y="411039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297799" y="4110391"/>
              <a:ext cx="2174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바른고딕"/>
                  <a:ea typeface="나눔바른고딕"/>
                </a:rPr>
                <a:t>-</a:t>
              </a:r>
              <a:endParaRPr lang="ko-KR" altLang="en-US">
                <a:latin typeface="나눔바른고딕"/>
                <a:ea typeface="나눔바른고딕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2503829" y="4114596"/>
              <a:ext cx="504056" cy="26034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</p:grpSp>
      <p:sp>
        <p:nvSpPr>
          <p:cNvPr id="71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28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314791"/>
              </p:ext>
            </p:extLst>
          </p:nvPr>
        </p:nvGraphicFramePr>
        <p:xfrm>
          <a:off x="560511" y="1052738"/>
          <a:ext cx="8930573" cy="5499987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memberName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회원주소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memberAddr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전화번호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회원이메일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memberMail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배송이름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postName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배송주소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postAddr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전화번호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tel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058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503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29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185817"/>
              </p:ext>
            </p:extLst>
          </p:nvPr>
        </p:nvGraphicFramePr>
        <p:xfrm>
          <a:off x="315913" y="820944"/>
          <a:ext cx="9272587" cy="5924596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일반 회원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UI_PD4_015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1" hangingPunct="1"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결제 정보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730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결제정보 입력 화면이다</a:t>
                      </a:r>
                      <a:r>
                        <a:rPr kumimoji="0" lang="en-US" altLang="ko-KR" sz="1000" b="0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카드 결제일 경우 등록된 카드로 결제가 진행된다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무통장 입금일 경우 결제 방식 선택 화면이 생기고 입금자명과 입금 은행을 선택할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결제가 완료되면 결제완료 페이지로 넘어가게 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207630" y="3869023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44" name="TextBox 43"/>
          <p:cNvSpPr txBox="1"/>
          <p:nvPr/>
        </p:nvSpPr>
        <p:spPr>
          <a:xfrm>
            <a:off x="2193035" y="330777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45" name="TextBox 44"/>
          <p:cNvSpPr txBox="1"/>
          <p:nvPr/>
        </p:nvSpPr>
        <p:spPr>
          <a:xfrm>
            <a:off x="1255188" y="3287295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5913" y="1978375"/>
            <a:ext cx="6548864" cy="2373707"/>
            <a:chOff x="325811" y="2048604"/>
            <a:chExt cx="6548864" cy="2373707"/>
          </a:xfrm>
        </p:grpSpPr>
        <p:sp>
          <p:nvSpPr>
            <p:cNvPr id="10" name="TextBox 9"/>
            <p:cNvSpPr txBox="1"/>
            <p:nvPr/>
          </p:nvSpPr>
          <p:spPr>
            <a:xfrm>
              <a:off x="325811" y="2048604"/>
              <a:ext cx="1076255" cy="34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 b="1" dirty="0">
                  <a:latin typeface="나눔바른고딕"/>
                  <a:ea typeface="나눔바른고딕"/>
                </a:rPr>
                <a:t>결제 정보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16003" y="2332460"/>
              <a:ext cx="6458672" cy="15815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416003" y="2650553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419561" y="2346986"/>
              <a:ext cx="904943" cy="3076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포인트사용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433350" y="2349395"/>
              <a:ext cx="826162" cy="28307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0857" y="2971872"/>
              <a:ext cx="826161" cy="3076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결제금액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425044" y="2975027"/>
              <a:ext cx="1152128" cy="26389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00">
                <a:solidFill>
                  <a:schemeClr val="tx1"/>
                </a:solidFill>
                <a:latin typeface="나눔바른고딕"/>
                <a:ea typeface="나눔바른고딕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5199" y="3627355"/>
              <a:ext cx="110869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결제방식 선택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25450" y="2932267"/>
              <a:ext cx="8670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원</a:t>
              </a:r>
            </a:p>
          </p:txBody>
        </p:sp>
        <p:cxnSp>
          <p:nvCxnSpPr>
            <p:cNvPr id="24" name="직선 연결선 23"/>
            <p:cNvCxnSpPr/>
            <p:nvPr/>
          </p:nvCxnSpPr>
          <p:spPr>
            <a:xfrm>
              <a:off x="416003" y="3595669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25" name="직선 연결선 24"/>
            <p:cNvCxnSpPr/>
            <p:nvPr/>
          </p:nvCxnSpPr>
          <p:spPr>
            <a:xfrm>
              <a:off x="416003" y="3899149"/>
              <a:ext cx="645867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2254923" y="2355471"/>
              <a:ext cx="50405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원</a:t>
              </a: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1402066" y="2625298"/>
              <a:ext cx="0" cy="102447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54" name="직선 연결선 53"/>
            <p:cNvCxnSpPr/>
            <p:nvPr/>
          </p:nvCxnSpPr>
          <p:spPr>
            <a:xfrm>
              <a:off x="1402066" y="3627355"/>
              <a:ext cx="0" cy="2866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cxnSp>
          <p:nvCxnSpPr>
            <p:cNvPr id="55" name="직선 연결선 54"/>
            <p:cNvCxnSpPr/>
            <p:nvPr/>
          </p:nvCxnSpPr>
          <p:spPr>
            <a:xfrm>
              <a:off x="1402066" y="2335422"/>
              <a:ext cx="0" cy="2866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</p:cxnSp>
        <p:sp>
          <p:nvSpPr>
            <p:cNvPr id="56" name="타원 55"/>
            <p:cNvSpPr/>
            <p:nvPr/>
          </p:nvSpPr>
          <p:spPr>
            <a:xfrm>
              <a:off x="1451080" y="3685564"/>
              <a:ext cx="176736" cy="1571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non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2361588" y="3692115"/>
              <a:ext cx="176736" cy="157121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vert="horz" wrap="none" lIns="89999" tIns="46800" rIns="89999" bIns="46800" anchor="t" anchorCtr="0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latinLnBrk="0" hangingPunct="0">
                <a:lnSpc>
                  <a:spcPct val="100000"/>
                </a:lnSpc>
                <a:spcBef>
                  <a:spcPct val="25000"/>
                </a:spcBef>
                <a:spcAft>
                  <a:spcPct val="25000"/>
                </a:spcAft>
                <a:buClr>
                  <a:schemeClr val="bg1"/>
                </a:buClr>
                <a:buFont typeface="Wingdings"/>
                <a:buNone/>
                <a:defRPr/>
              </a:pPr>
              <a:endParaRPr kumimoji="0" lang="ko-KR" altLang="en-US" sz="12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굴림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563277" y="3633153"/>
              <a:ext cx="87566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카드 결제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483782" y="3631248"/>
              <a:ext cx="10018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>
                  <a:latin typeface="나눔바른고딕"/>
                  <a:ea typeface="나눔바른고딕"/>
                </a:rPr>
                <a:t>무통장 입금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501357" y="4089424"/>
              <a:ext cx="1373318" cy="33288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500">
                  <a:solidFill>
                    <a:schemeClr val="tx1"/>
                  </a:solidFill>
                  <a:latin typeface="나눔바른고딕"/>
                  <a:ea typeface="나눔바른고딕"/>
                </a:rPr>
                <a:t>상품 결제하기</a:t>
              </a:r>
            </a:p>
          </p:txBody>
        </p:sp>
      </p:grpSp>
      <p:grpSp>
        <p:nvGrpSpPr>
          <p:cNvPr id="74" name="그룹 73"/>
          <p:cNvGrpSpPr/>
          <p:nvPr/>
        </p:nvGrpSpPr>
        <p:grpSpPr>
          <a:xfrm rot="1780880">
            <a:off x="2108023" y="3686635"/>
            <a:ext cx="330603" cy="607205"/>
            <a:chOff x="875295" y="3607156"/>
            <a:chExt cx="313296" cy="562369"/>
          </a:xfrm>
        </p:grpSpPr>
        <p:sp>
          <p:nvSpPr>
            <p:cNvPr id="75" name="화살표: 위쪽 74"/>
            <p:cNvSpPr/>
            <p:nvPr/>
          </p:nvSpPr>
          <p:spPr>
            <a:xfrm>
              <a:off x="938207" y="3607156"/>
              <a:ext cx="250384" cy="314934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나눔바른고딕"/>
                <a:ea typeface="나눔바른고딕"/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 rot="19819120" flipH="1">
              <a:off x="875295" y="3972062"/>
              <a:ext cx="254847" cy="197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560513" y="4252721"/>
            <a:ext cx="3168344" cy="11061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88739" y="4294765"/>
            <a:ext cx="88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입금자명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739" y="4623853"/>
            <a:ext cx="88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입금은행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1830571" y="4306757"/>
            <a:ext cx="1178213" cy="2613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40959" y="4526570"/>
            <a:ext cx="881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결제방식 선택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830571" y="4623853"/>
            <a:ext cx="1826285" cy="2613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6" name="이등변 삼각형 5"/>
          <p:cNvSpPr/>
          <p:nvPr/>
        </p:nvSpPr>
        <p:spPr>
          <a:xfrm rot="10800000">
            <a:off x="3437305" y="4698882"/>
            <a:ext cx="181080" cy="171768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40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30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706642"/>
              </p:ext>
            </p:extLst>
          </p:nvPr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사용 포인트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usePoint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입금자명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입금은행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bankSelect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A</a:t>
                      </a:r>
                      <a:endParaRPr lang="en-US" sz="11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1.2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ko-KR" altLang="en-US" sz="1800" b="1" i="0" u="none" strike="noStrike" kern="0" cap="none" spc="0" normalizeH="0" baseline="0" dirty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일반 회원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31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10646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UI_PD4_016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마이페이지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관리자 마이페이지 화면이다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일반 회원과 관리자를 구분할 수 있다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싱품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관리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재고 관리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 관리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매출 관리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28600" marR="0" lvl="0" indent="-2286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게시판 관리 화면으로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60950" y="3052324"/>
            <a:ext cx="159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Product Management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025" y="418877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242730" y="4870657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⑤</a:t>
            </a:r>
            <a:endParaRPr lang="ko-KR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256628" y="361635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247795" y="290349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/>
          </a:p>
        </p:txBody>
      </p:sp>
      <p:sp>
        <p:nvSpPr>
          <p:cNvPr id="20" name="TextBox 19"/>
          <p:cNvSpPr txBox="1"/>
          <p:nvPr/>
        </p:nvSpPr>
        <p:spPr>
          <a:xfrm>
            <a:off x="231716" y="554684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⑥</a:t>
            </a:r>
            <a:endParaRPr lang="ko-KR" altLang="en-US" sz="2000"/>
          </a:p>
        </p:txBody>
      </p:sp>
      <p:sp>
        <p:nvSpPr>
          <p:cNvPr id="21" name="직사각형 20"/>
          <p:cNvSpPr/>
          <p:nvPr/>
        </p:nvSpPr>
        <p:spPr>
          <a:xfrm>
            <a:off x="416497" y="1916832"/>
            <a:ext cx="108012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마이 페이지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93796" y="2282476"/>
            <a:ext cx="6624735" cy="57606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8366" y="2406556"/>
            <a:ext cx="281608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ㅇㅇㅇ 님은 </a:t>
            </a:r>
            <a:r>
              <a:rPr lang="en-US" altLang="ko-KR" sz="1500">
                <a:latin typeface="나눔바른고딕"/>
                <a:ea typeface="나눔바른고딕"/>
              </a:rPr>
              <a:t>[</a:t>
            </a:r>
            <a:r>
              <a:rPr lang="ko-KR" altLang="en-US" sz="1500">
                <a:latin typeface="나눔바른고딕"/>
                <a:ea typeface="나눔바른고딕"/>
              </a:rPr>
              <a:t>관리자</a:t>
            </a:r>
            <a:r>
              <a:rPr lang="en-US" altLang="ko-KR" sz="1500">
                <a:latin typeface="나눔바른고딕"/>
                <a:ea typeface="나눔바른고딕"/>
              </a:rPr>
              <a:t>] </a:t>
            </a:r>
            <a:r>
              <a:rPr lang="ko-KR" altLang="en-US" sz="1500">
                <a:latin typeface="나눔바른고딕"/>
                <a:ea typeface="나눔바른고딕"/>
              </a:rPr>
              <a:t>이십니다</a:t>
            </a:r>
            <a:r>
              <a:rPr lang="en-US" altLang="ko-KR" sz="1500">
                <a:latin typeface="나눔바른고딕"/>
                <a:ea typeface="나눔바른고딕"/>
              </a:rPr>
              <a:t>.</a:t>
            </a:r>
            <a:endParaRPr lang="ko-KR" altLang="en-US" sz="1500">
              <a:latin typeface="나눔바른고딕"/>
              <a:ea typeface="나눔바른고딕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1732" y="2323359"/>
            <a:ext cx="489561" cy="48956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41439" y="2418187"/>
            <a:ext cx="7801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2836" y="2429638"/>
            <a:ext cx="780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---</a:t>
            </a:r>
            <a:r>
              <a:rPr lang="ko-KR" altLang="en-US">
                <a:latin typeface="나눔바른고딕"/>
                <a:ea typeface="나눔바른고딕"/>
              </a:rPr>
              <a:t>원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402941" y="2439668"/>
            <a:ext cx="561381" cy="26696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조회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459868" y="2971969"/>
            <a:ext cx="649259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2599677" y="3141553"/>
            <a:ext cx="846966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 관리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>
            <a:off x="566140" y="4953073"/>
            <a:ext cx="540549" cy="54054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9006" y="5651846"/>
            <a:ext cx="534550" cy="534550"/>
          </a:xfrm>
          <a:prstGeom prst="rect">
            <a:avLst/>
          </a:prstGeom>
        </p:spPr>
      </p:pic>
      <p:cxnSp>
        <p:nvCxnSpPr>
          <p:cNvPr id="34" name="직선 연결선 33"/>
          <p:cNvCxnSpPr/>
          <p:nvPr/>
        </p:nvCxnSpPr>
        <p:spPr>
          <a:xfrm>
            <a:off x="439339" y="3687158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2562363" y="3806352"/>
            <a:ext cx="9215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재고 관리</a:t>
            </a:r>
          </a:p>
        </p:txBody>
      </p:sp>
      <p:sp>
        <p:nvSpPr>
          <p:cNvPr id="37" name="순서도: 추출 36"/>
          <p:cNvSpPr/>
          <p:nvPr/>
        </p:nvSpPr>
        <p:spPr>
          <a:xfrm rot="5400000">
            <a:off x="6791118" y="3175591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38" name="순서도: 추출 37"/>
          <p:cNvSpPr/>
          <p:nvPr/>
        </p:nvSpPr>
        <p:spPr>
          <a:xfrm rot="5400000">
            <a:off x="6791118" y="3795348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459868" y="4230745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0" name="순서도: 추출 39"/>
          <p:cNvSpPr/>
          <p:nvPr/>
        </p:nvSpPr>
        <p:spPr>
          <a:xfrm rot="5400000">
            <a:off x="6770706" y="4416127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3452" y="4306742"/>
            <a:ext cx="1606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Order Management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25049" y="4447098"/>
            <a:ext cx="9215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 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97" y="4974929"/>
            <a:ext cx="1606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Revenue Management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92590" y="5125933"/>
            <a:ext cx="1116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매출 관리</a:t>
            </a:r>
          </a:p>
        </p:txBody>
      </p:sp>
      <p:cxnSp>
        <p:nvCxnSpPr>
          <p:cNvPr id="45" name="직선 연결선 44"/>
          <p:cNvCxnSpPr/>
          <p:nvPr/>
        </p:nvCxnSpPr>
        <p:spPr>
          <a:xfrm>
            <a:off x="471732" y="4918285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47" name="직선 연결선 46"/>
          <p:cNvCxnSpPr/>
          <p:nvPr/>
        </p:nvCxnSpPr>
        <p:spPr>
          <a:xfrm>
            <a:off x="449853" y="5589240"/>
            <a:ext cx="649259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003057" y="5651846"/>
            <a:ext cx="1713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Board Management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35009" y="5869081"/>
            <a:ext cx="1061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게시판 관리</a:t>
            </a:r>
          </a:p>
        </p:txBody>
      </p:sp>
      <p:sp>
        <p:nvSpPr>
          <p:cNvPr id="50" name="순서도: 추출 49"/>
          <p:cNvSpPr/>
          <p:nvPr/>
        </p:nvSpPr>
        <p:spPr>
          <a:xfrm rot="5400000">
            <a:off x="6791118" y="5082518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1" name="순서도: 추출 50"/>
          <p:cNvSpPr/>
          <p:nvPr/>
        </p:nvSpPr>
        <p:spPr>
          <a:xfrm rot="5400000">
            <a:off x="6780754" y="5732621"/>
            <a:ext cx="179011" cy="141806"/>
          </a:xfrm>
          <a:prstGeom prst="flowChartExtract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95882" y="219738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/>
          </a:p>
        </p:txBody>
      </p:sp>
      <p:sp>
        <p:nvSpPr>
          <p:cNvPr id="53" name="TextBox 52"/>
          <p:cNvSpPr txBox="1"/>
          <p:nvPr/>
        </p:nvSpPr>
        <p:spPr>
          <a:xfrm>
            <a:off x="1036031" y="3664191"/>
            <a:ext cx="1647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바른고딕"/>
                <a:ea typeface="나눔바른고딕"/>
              </a:rPr>
              <a:t>Inventory Management</a:t>
            </a:r>
            <a:endParaRPr lang="ko-KR" altLang="en-US" sz="1800" b="1">
              <a:latin typeface="나눔바른고딕"/>
              <a:ea typeface="나눔바른고딕"/>
            </a:endParaRP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4592" y="3084088"/>
            <a:ext cx="547569" cy="547569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85452" y="4310833"/>
            <a:ext cx="568286" cy="568286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06442" y="3744886"/>
            <a:ext cx="475701" cy="475701"/>
          </a:xfrm>
          <a:prstGeom prst="rect">
            <a:avLst/>
          </a:prstGeom>
        </p:spPr>
      </p:pic>
      <p:sp>
        <p:nvSpPr>
          <p:cNvPr id="54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32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  <a:endParaRPr lang="ko-KR" sz="1100" b="1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관리자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adminId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33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750037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UI_PD4_017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상품관리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상품 관리 화면이다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상품 등록 페이지로 이동한다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수정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삭제가 가능하다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95400" y="3859733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23" name="직사각형 22"/>
          <p:cNvSpPr/>
          <p:nvPr/>
        </p:nvSpPr>
        <p:spPr>
          <a:xfrm>
            <a:off x="393066" y="2016782"/>
            <a:ext cx="1468735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상품 관리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344488" y="2388252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57655" y="2408667"/>
            <a:ext cx="12961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일반 상품 조회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93066" y="2739174"/>
            <a:ext cx="6691029" cy="5851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8366" y="2754762"/>
            <a:ext cx="64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검색어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365" y="3018526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카테고리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056438" y="2770217"/>
            <a:ext cx="1260465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전체</a:t>
            </a:r>
          </a:p>
        </p:txBody>
      </p:sp>
      <p:sp>
        <p:nvSpPr>
          <p:cNvPr id="31" name="이등변 삼각형 30"/>
          <p:cNvSpPr/>
          <p:nvPr/>
        </p:nvSpPr>
        <p:spPr>
          <a:xfrm rot="10800000">
            <a:off x="2061624" y="2815107"/>
            <a:ext cx="201360" cy="12526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79616" y="3032485"/>
            <a:ext cx="982008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1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분류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136052" y="3019296"/>
            <a:ext cx="1030590" cy="2630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부류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719252" y="3410578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검색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569525" y="3410578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초기화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098060" y="2436228"/>
            <a:ext cx="936104" cy="2956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상품등록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3066" y="3850214"/>
            <a:ext cx="6691029" cy="123496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40" name="사각형: 둥근 모서리 39"/>
          <p:cNvSpPr/>
          <p:nvPr/>
        </p:nvSpPr>
        <p:spPr>
          <a:xfrm>
            <a:off x="436203" y="3891946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93066" y="4103360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640351" y="3826361"/>
            <a:ext cx="508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09503" y="3836095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8755" y="3836095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정가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6595" y="3848517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판매가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9203" y="3848517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재고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5249" y="3846263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배송비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7438" y="3850213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0929" y="3862744"/>
            <a:ext cx="1074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등록일</a:t>
            </a:r>
            <a:r>
              <a:rPr lang="en-US" altLang="ko-KR">
                <a:latin typeface="나눔바른고딕"/>
                <a:ea typeface="나눔바른고딕"/>
              </a:rPr>
              <a:t>/</a:t>
            </a:r>
            <a:r>
              <a:rPr lang="ko-KR" altLang="en-US">
                <a:latin typeface="나눔바른고딕"/>
                <a:ea typeface="나눔바른고딕"/>
              </a:rPr>
              <a:t>수정일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4695" y="3850214"/>
            <a:ext cx="5694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관리</a:t>
            </a:r>
          </a:p>
        </p:txBody>
      </p:sp>
      <p:sp>
        <p:nvSpPr>
          <p:cNvPr id="52" name="사각형: 둥근 모서리 51"/>
          <p:cNvSpPr/>
          <p:nvPr/>
        </p:nvSpPr>
        <p:spPr>
          <a:xfrm>
            <a:off x="6534692" y="4138059"/>
            <a:ext cx="463668" cy="274828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lang="ko-KR" altLang="en-US" sz="1000"/>
              <a:t>수정</a:t>
            </a: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219005" y="4145405"/>
            <a:ext cx="1296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2022-06-30 02:33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40973" y="4134037"/>
            <a:ext cx="3719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259448" y="4134037"/>
            <a:ext cx="685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3,500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36845" y="4122417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[0]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63741" y="4134036"/>
            <a:ext cx="60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1,730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548739" y="4134036"/>
            <a:ext cx="60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1,730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52356" y="4152362"/>
            <a:ext cx="1000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나눔바른고딕"/>
                <a:ea typeface="나눔바른고딕"/>
              </a:rPr>
              <a:t>서울</a:t>
            </a:r>
            <a:r>
              <a:rPr lang="en-US" altLang="ko-KR" sz="1000">
                <a:latin typeface="나눔바른고딕"/>
                <a:ea typeface="나눔바른고딕"/>
              </a:rPr>
              <a:t>) </a:t>
            </a:r>
            <a:r>
              <a:rPr lang="ko-KR" altLang="en-US" sz="1000">
                <a:latin typeface="나눔바른고딕"/>
                <a:ea typeface="나눔바른고딕"/>
              </a:rPr>
              <a:t>참이슬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366" y="4122417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3" name="사각형: 둥근 모서리 62"/>
          <p:cNvSpPr/>
          <p:nvPr/>
        </p:nvSpPr>
        <p:spPr>
          <a:xfrm>
            <a:off x="451443" y="4158646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436203" y="4391626"/>
            <a:ext cx="6647892" cy="212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5" name="직선 연결선 64"/>
          <p:cNvCxnSpPr/>
          <p:nvPr/>
        </p:nvCxnSpPr>
        <p:spPr>
          <a:xfrm>
            <a:off x="408366" y="4755853"/>
            <a:ext cx="6675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1521969-2C86-006B-C297-FC88D9BDA30C}"/>
              </a:ext>
            </a:extLst>
          </p:cNvPr>
          <p:cNvSpPr txBox="1"/>
          <p:nvPr/>
        </p:nvSpPr>
        <p:spPr>
          <a:xfrm>
            <a:off x="5860901" y="232381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54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34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단가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unitcost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stock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deliveryCost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72880" y="6671742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35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07344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UI_PD4_018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재고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재고 관리 화면이다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선택한 상품의 발주가 가능하다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발주 페이지로 넘어간다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6958" y="5049791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23" name="직사각형 22"/>
          <p:cNvSpPr/>
          <p:nvPr/>
        </p:nvSpPr>
        <p:spPr>
          <a:xfrm>
            <a:off x="393066" y="2016782"/>
            <a:ext cx="1468735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재고 관리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344488" y="2388252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57655" y="2408667"/>
            <a:ext cx="17375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일반 상품 재고 조회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93066" y="2739174"/>
            <a:ext cx="6691029" cy="5851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8366" y="2754762"/>
            <a:ext cx="64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검색어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365" y="3018526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카테고리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056438" y="2770217"/>
            <a:ext cx="1260465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전체</a:t>
            </a:r>
          </a:p>
        </p:txBody>
      </p:sp>
      <p:sp>
        <p:nvSpPr>
          <p:cNvPr id="31" name="이등변 삼각형 30"/>
          <p:cNvSpPr/>
          <p:nvPr/>
        </p:nvSpPr>
        <p:spPr>
          <a:xfrm rot="10800000">
            <a:off x="2061624" y="2815107"/>
            <a:ext cx="201360" cy="12526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79616" y="3032485"/>
            <a:ext cx="982008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1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분류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136052" y="3019296"/>
            <a:ext cx="1030590" cy="2630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차 부류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719252" y="3410578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검색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569525" y="3410578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초기화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93066" y="3850214"/>
            <a:ext cx="6691029" cy="123496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40" name="사각형: 둥근 모서리 39"/>
          <p:cNvSpPr/>
          <p:nvPr/>
        </p:nvSpPr>
        <p:spPr>
          <a:xfrm>
            <a:off x="436203" y="3891946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93066" y="4103360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640351" y="3826361"/>
            <a:ext cx="508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09503" y="3836095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8755" y="3836095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정가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6595" y="3848517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판매가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9203" y="3848517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재고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5249" y="3846263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배송비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7438" y="3850213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0929" y="3862744"/>
            <a:ext cx="1074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등록일</a:t>
            </a:r>
            <a:r>
              <a:rPr lang="en-US" altLang="ko-KR">
                <a:latin typeface="나눔바른고딕"/>
                <a:ea typeface="나눔바른고딕"/>
              </a:rPr>
              <a:t>/</a:t>
            </a:r>
            <a:r>
              <a:rPr lang="ko-KR" altLang="en-US">
                <a:latin typeface="나눔바른고딕"/>
                <a:ea typeface="나눔바른고딕"/>
              </a:rPr>
              <a:t>수정일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4695" y="3850214"/>
            <a:ext cx="5694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관리</a:t>
            </a:r>
          </a:p>
        </p:txBody>
      </p:sp>
      <p:sp>
        <p:nvSpPr>
          <p:cNvPr id="52" name="사각형: 둥근 모서리 51"/>
          <p:cNvSpPr/>
          <p:nvPr/>
        </p:nvSpPr>
        <p:spPr>
          <a:xfrm>
            <a:off x="6534692" y="4138059"/>
            <a:ext cx="463668" cy="274828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r>
              <a:rPr lang="ko-KR" altLang="en-US" sz="1000"/>
              <a:t>수정</a:t>
            </a: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219005" y="4145405"/>
            <a:ext cx="1296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2022-06-30 02:33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40973" y="4134037"/>
            <a:ext cx="3719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259448" y="4134037"/>
            <a:ext cx="685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3,500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36845" y="4122417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[0]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63741" y="4134036"/>
            <a:ext cx="60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1,730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548739" y="4134036"/>
            <a:ext cx="60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1,730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52356" y="4152362"/>
            <a:ext cx="1000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나눔바른고딕"/>
                <a:ea typeface="나눔바른고딕"/>
              </a:rPr>
              <a:t>서울</a:t>
            </a:r>
            <a:r>
              <a:rPr lang="en-US" altLang="ko-KR" sz="1000">
                <a:latin typeface="나눔바른고딕"/>
                <a:ea typeface="나눔바른고딕"/>
              </a:rPr>
              <a:t>) </a:t>
            </a:r>
            <a:r>
              <a:rPr lang="ko-KR" altLang="en-US" sz="1000">
                <a:latin typeface="나눔바른고딕"/>
                <a:ea typeface="나눔바른고딕"/>
              </a:rPr>
              <a:t>참이슬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366" y="4122417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3" name="사각형: 둥근 모서리 62"/>
          <p:cNvSpPr/>
          <p:nvPr/>
        </p:nvSpPr>
        <p:spPr>
          <a:xfrm>
            <a:off x="451443" y="4158646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436203" y="4391626"/>
            <a:ext cx="6647892" cy="212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5" name="직선 연결선 64"/>
          <p:cNvCxnSpPr/>
          <p:nvPr/>
        </p:nvCxnSpPr>
        <p:spPr>
          <a:xfrm>
            <a:off x="408366" y="4755853"/>
            <a:ext cx="6675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6" name="직사각형 65"/>
          <p:cNvSpPr/>
          <p:nvPr/>
        </p:nvSpPr>
        <p:spPr>
          <a:xfrm>
            <a:off x="5412321" y="5153662"/>
            <a:ext cx="1628911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발주하기</a:t>
            </a:r>
          </a:p>
        </p:txBody>
      </p:sp>
      <p:sp>
        <p:nvSpPr>
          <p:cNvPr id="53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36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단가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unitcost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재고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stock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deliveryCost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41086" y="6272766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37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048001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UI_PD4_019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주문 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주문현황 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주문 상태에 따라서 검색이 가능하다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입금 확인된 상품은 재고를 재확인 한 후에 배송 준비로 수정한다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만약 재고 재확인을 했지만 재고가 없는 경우 환불 및 이메일 전송 버튼을 눌러 환불 및 이메일 팝업창에서 전송하도록 한다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96127" y="357347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209103" y="3056994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23" name="직사각형 22"/>
          <p:cNvSpPr/>
          <p:nvPr/>
        </p:nvSpPr>
        <p:spPr>
          <a:xfrm>
            <a:off x="347346" y="1879622"/>
            <a:ext cx="1468735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주문 </a:t>
            </a:r>
            <a:r>
              <a:rPr lang="ko-KR" altLang="en-US" sz="1400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관리</a:t>
            </a:r>
            <a:endParaRPr lang="ko-KR" altLang="en-US" sz="1400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344488" y="2286149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41811" y="2294168"/>
            <a:ext cx="12827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주문 현황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44488" y="2637072"/>
            <a:ext cx="6739607" cy="99846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914" y="2652659"/>
            <a:ext cx="64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검색어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913" y="2916423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날짜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963986" y="2668115"/>
            <a:ext cx="2513087" cy="19930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endParaRPr lang="ko-KR" altLang="en-US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87164" y="2930382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주문일</a:t>
            </a: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입금일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451044" y="3698425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수정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301317" y="3698425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초기화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52230" y="4469972"/>
            <a:ext cx="6691029" cy="123496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40" name="사각형: 둥근 모서리 39"/>
          <p:cNvSpPr/>
          <p:nvPr/>
        </p:nvSpPr>
        <p:spPr>
          <a:xfrm>
            <a:off x="395367" y="4511704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52230" y="4723118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99515" y="4446119"/>
            <a:ext cx="508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0087" y="4469972"/>
            <a:ext cx="807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 상품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80097" y="4468056"/>
            <a:ext cx="6857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수</a:t>
            </a:r>
            <a:r>
              <a:rPr lang="en-US" altLang="ko-KR">
                <a:latin typeface="나눔바른고딕"/>
                <a:ea typeface="나눔바른고딕"/>
              </a:rPr>
              <a:t>(</a:t>
            </a:r>
            <a:r>
              <a:rPr lang="ko-KR" altLang="en-US">
                <a:latin typeface="나눔바른고딕"/>
                <a:ea typeface="나눔바른고딕"/>
              </a:rPr>
              <a:t>종</a:t>
            </a:r>
            <a:r>
              <a:rPr lang="en-US" altLang="ko-KR">
                <a:latin typeface="나눔바른고딕"/>
                <a:ea typeface="나눔바른고딕"/>
              </a:rPr>
              <a:t>)</a:t>
            </a:r>
            <a:endParaRPr lang="ko-KR" altLang="en-US">
              <a:latin typeface="나눔바른고딕"/>
              <a:ea typeface="나눔바른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61094" y="4762381"/>
            <a:ext cx="1000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나눔바른고딕"/>
                <a:ea typeface="나눔바른고딕"/>
              </a:rPr>
              <a:t>서울</a:t>
            </a:r>
            <a:r>
              <a:rPr lang="en-US" altLang="ko-KR" sz="1000">
                <a:latin typeface="나눔바른고딕"/>
                <a:ea typeface="나눔바른고딕"/>
              </a:rPr>
              <a:t>) </a:t>
            </a:r>
            <a:r>
              <a:rPr lang="ko-KR" altLang="en-US" sz="1000">
                <a:latin typeface="나눔바른고딕"/>
                <a:ea typeface="나눔바른고딕"/>
              </a:rPr>
              <a:t>참이슬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530" y="4742175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sp>
        <p:nvSpPr>
          <p:cNvPr id="63" name="사각형: 둥근 모서리 62"/>
          <p:cNvSpPr/>
          <p:nvPr/>
        </p:nvSpPr>
        <p:spPr>
          <a:xfrm>
            <a:off x="410607" y="4778404"/>
            <a:ext cx="147170" cy="137414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395367" y="5011384"/>
            <a:ext cx="6647892" cy="212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5" name="직선 연결선 64"/>
          <p:cNvCxnSpPr/>
          <p:nvPr/>
        </p:nvCxnSpPr>
        <p:spPr>
          <a:xfrm>
            <a:off x="367530" y="5375611"/>
            <a:ext cx="6675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957056" y="4455853"/>
            <a:ext cx="7965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주문일시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35471" y="4468056"/>
            <a:ext cx="838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 번호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26866" y="4467841"/>
            <a:ext cx="5472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출고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060" y="4478726"/>
            <a:ext cx="80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결제 수단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39102" y="4467840"/>
            <a:ext cx="80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결제 금액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74330" y="4478726"/>
            <a:ext cx="80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 상태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2220529" y="2930382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2022-06-29</a:t>
            </a:r>
            <a:endParaRPr lang="ko-KR" altLang="en-US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406627" y="2931885"/>
            <a:ext cx="3625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-</a:t>
            </a:r>
            <a:endParaRPr lang="ko-KR" altLang="en-US">
              <a:latin typeface="나눔바른고딕"/>
              <a:ea typeface="나눔바른고딕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748584" y="2930382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2022-06-30</a:t>
            </a:r>
            <a:endParaRPr lang="ko-KR" altLang="en-US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1625" y="3235089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주문상태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1273478" y="3262994"/>
            <a:ext cx="771073" cy="2870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입금확인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2428134" y="3251688"/>
            <a:ext cx="809876" cy="2983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배송준비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3634277" y="3262994"/>
            <a:ext cx="809876" cy="2870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배송중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4787186" y="3251688"/>
            <a:ext cx="809876" cy="2983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배송 완료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5890330" y="3260842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취소</a:t>
            </a: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>
                <a:solidFill>
                  <a:schemeClr val="tx1"/>
                </a:solidFill>
                <a:latin typeface="나눔바른고딕"/>
                <a:ea typeface="나눔바른고딕"/>
              </a:rPr>
              <a:t>환불 요청</a:t>
            </a:r>
          </a:p>
        </p:txBody>
      </p:sp>
      <p:sp>
        <p:nvSpPr>
          <p:cNvPr id="86" name="사각형: 둥근 모서리 85"/>
          <p:cNvSpPr/>
          <p:nvPr/>
        </p:nvSpPr>
        <p:spPr>
          <a:xfrm>
            <a:off x="1007068" y="3257049"/>
            <a:ext cx="201165" cy="265219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87" name="사각형: 둥근 모서리 86"/>
          <p:cNvSpPr/>
          <p:nvPr/>
        </p:nvSpPr>
        <p:spPr>
          <a:xfrm>
            <a:off x="2139080" y="3257049"/>
            <a:ext cx="201165" cy="265219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88" name="사각형: 둥근 모서리 87"/>
          <p:cNvSpPr/>
          <p:nvPr/>
        </p:nvSpPr>
        <p:spPr>
          <a:xfrm>
            <a:off x="3349684" y="3257049"/>
            <a:ext cx="201165" cy="265219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89" name="사각형: 둥근 모서리 88"/>
          <p:cNvSpPr/>
          <p:nvPr/>
        </p:nvSpPr>
        <p:spPr>
          <a:xfrm>
            <a:off x="4515087" y="3257049"/>
            <a:ext cx="201165" cy="265219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91" name="사각형: 둥근 모서리 90"/>
          <p:cNvSpPr/>
          <p:nvPr/>
        </p:nvSpPr>
        <p:spPr>
          <a:xfrm>
            <a:off x="5652924" y="3257049"/>
            <a:ext cx="201165" cy="265219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0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151590" y="3698425"/>
            <a:ext cx="1602819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환불 및 이메일 전송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0925AE1-61AE-54D5-EC0B-749ACAF940BF}"/>
              </a:ext>
            </a:extLst>
          </p:cNvPr>
          <p:cNvSpPr/>
          <p:nvPr/>
        </p:nvSpPr>
        <p:spPr>
          <a:xfrm>
            <a:off x="1643719" y="3698425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검색</a:t>
            </a:r>
          </a:p>
        </p:txBody>
      </p:sp>
      <p:sp>
        <p:nvSpPr>
          <p:cNvPr id="51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38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주문 일자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주문명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 이름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상품 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 상태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orderState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배송비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deliveryCost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41086" y="6272766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39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92555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UI_PD4_020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매출 </a:t>
                      </a: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매출관리</a:t>
                      </a:r>
                      <a:r>
                        <a:rPr kumimoji="0" lang="ko-KR" altLang="en-US" sz="1000" b="0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페이지이다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현황을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조회하고 싶은 종목을 </a:t>
                      </a:r>
                      <a:r>
                        <a:rPr kumimoji="0" lang="ko-KR" altLang="en-US" sz="1000" b="1" i="0" u="none" strike="noStrike" cap="none" normalizeH="0" baseline="0" dirty="0" err="1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셀랙트박스로</a:t>
                      </a: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선택할 수 있다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endParaRPr kumimoji="0" lang="en-US" altLang="ko-KR" sz="1000" b="1" i="0" u="none" strike="noStrike" cap="none" normalizeH="0" baseline="0" dirty="0" smtClean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조회하고자 하는 기간을 입력할 수 있으며 옆의 달력 아이콘으로도 선택할 수 있다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조회 조건을 선택할 수 있다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다수 선택 가능하며 이 경우 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에서 표가 여러 개 생성된다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 실행 혹은 조건 초기화 가능하다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</a:p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 결과를 표시한다</a:t>
                      </a:r>
                      <a:r>
                        <a:rPr kumimoji="0" lang="en-US" altLang="ko-KR" sz="1000" b="1" i="0" u="none" strike="noStrike" cap="none" normalizeH="0" baseline="0" dirty="0" smtClean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57558" y="2782629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②</a:t>
            </a:r>
            <a:endParaRPr lang="ko-KR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262605" y="2472847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23" name="직사각형 22"/>
          <p:cNvSpPr/>
          <p:nvPr/>
        </p:nvSpPr>
        <p:spPr>
          <a:xfrm>
            <a:off x="347346" y="1879622"/>
            <a:ext cx="1468735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매출</a:t>
            </a:r>
            <a:r>
              <a:rPr lang="ko-KR" altLang="en-US" sz="1400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관리</a:t>
            </a:r>
            <a:endParaRPr lang="ko-KR" altLang="en-US" sz="1400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344488" y="2286149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41811" y="2294168"/>
            <a:ext cx="12827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 dirty="0" smtClean="0">
                <a:latin typeface="나눔바른고딕"/>
                <a:ea typeface="나눔바른고딕"/>
              </a:rPr>
              <a:t>매출 </a:t>
            </a:r>
            <a:r>
              <a:rPr lang="ko-KR" altLang="en-US" sz="1500" dirty="0" smtClean="0">
                <a:latin typeface="나눔바른고딕"/>
                <a:ea typeface="나눔바른고딕"/>
              </a:rPr>
              <a:t>현황</a:t>
            </a:r>
            <a:endParaRPr lang="ko-KR" altLang="en-US" sz="1500" dirty="0">
              <a:latin typeface="나눔바른고딕"/>
              <a:ea typeface="나눔바른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44488" y="2637072"/>
            <a:ext cx="6739607" cy="99846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362" y="2661135"/>
            <a:ext cx="64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구분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5913" y="2916423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날짜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681685" y="3698425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초기화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52230" y="4469972"/>
            <a:ext cx="6691029" cy="123496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52230" y="4723118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99515" y="4446119"/>
            <a:ext cx="508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0193" y="4469972"/>
            <a:ext cx="807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상품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83979" y="4459927"/>
            <a:ext cx="12009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판매금액</a:t>
            </a:r>
            <a:r>
              <a:rPr lang="en-US" altLang="ko-KR" dirty="0" smtClean="0">
                <a:latin typeface="나눔바른고딕"/>
                <a:ea typeface="나눔바른고딕"/>
              </a:rPr>
              <a:t>(</a:t>
            </a:r>
            <a:r>
              <a:rPr lang="ko-KR" altLang="en-US" dirty="0" smtClean="0">
                <a:latin typeface="나눔바른고딕"/>
                <a:ea typeface="나눔바른고딕"/>
              </a:rPr>
              <a:t>단가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61094" y="4762381"/>
            <a:ext cx="1000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>
                <a:latin typeface="나눔바른고딕"/>
                <a:ea typeface="나눔바른고딕"/>
              </a:rPr>
              <a:t>서울</a:t>
            </a:r>
            <a:r>
              <a:rPr lang="en-US" altLang="ko-KR" sz="1000">
                <a:latin typeface="나눔바른고딕"/>
                <a:ea typeface="나눔바른고딕"/>
              </a:rPr>
              <a:t>) </a:t>
            </a:r>
            <a:r>
              <a:rPr lang="ko-KR" altLang="en-US" sz="1000">
                <a:latin typeface="나눔바른고딕"/>
                <a:ea typeface="나눔바른고딕"/>
              </a:rPr>
              <a:t>참이슬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530" y="4742175"/>
            <a:ext cx="38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바른고딕"/>
                <a:ea typeface="나눔바른고딕"/>
              </a:rPr>
              <a:t>1</a:t>
            </a:r>
            <a:endParaRPr lang="ko-KR" altLang="en-US" sz="1000">
              <a:latin typeface="나눔바른고딕"/>
              <a:ea typeface="나눔바른고딕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395367" y="5011384"/>
            <a:ext cx="6647892" cy="212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65" name="직선 연결선 64"/>
          <p:cNvCxnSpPr/>
          <p:nvPr/>
        </p:nvCxnSpPr>
        <p:spPr>
          <a:xfrm>
            <a:off x="367530" y="5375611"/>
            <a:ext cx="667572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957056" y="4455853"/>
            <a:ext cx="7965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94775" y="4468056"/>
            <a:ext cx="13790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mtClean="0">
                <a:latin typeface="나눔바른고딕"/>
                <a:ea typeface="나눔바른고딕"/>
              </a:rPr>
              <a:t>기간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785899" y="4459593"/>
            <a:ext cx="80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판매 수량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767281" y="4478726"/>
            <a:ext cx="11143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총 판매금액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963986" y="2913415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2022-03-01</a:t>
            </a:r>
            <a:endParaRPr lang="ko-KR" altLang="en-US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128076" y="2931885"/>
            <a:ext cx="366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-</a:t>
            </a:r>
            <a:endParaRPr lang="ko-KR" altLang="en-US">
              <a:latin typeface="나눔바른고딕"/>
              <a:ea typeface="나눔바른고딕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500946" y="2923739"/>
            <a:ext cx="1157524" cy="28000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>
                <a:solidFill>
                  <a:schemeClr val="tx1"/>
                </a:solidFill>
                <a:latin typeface="나눔바른고딕"/>
                <a:ea typeface="나눔바른고딕"/>
              </a:rPr>
              <a:t>2022-06-30</a:t>
            </a:r>
            <a:endParaRPr lang="ko-KR" altLang="en-US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1625" y="3235089"/>
            <a:ext cx="771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smtClean="0">
                <a:latin typeface="나눔바른고딕"/>
                <a:ea typeface="나눔바른고딕"/>
              </a:rPr>
              <a:t>조회 조건</a:t>
            </a:r>
            <a:endParaRPr lang="ko-KR" altLang="en-US" dirty="0">
              <a:latin typeface="나눔바른고딕"/>
              <a:ea typeface="나눔바른고딕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197582" y="3249378"/>
            <a:ext cx="771073" cy="2870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월별 매출</a:t>
            </a:r>
            <a:endParaRPr lang="ko-KR" altLang="en-US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096008" y="3243246"/>
            <a:ext cx="809876" cy="2983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dirty="0" err="1" smtClean="0">
                <a:solidFill>
                  <a:schemeClr val="tx1"/>
                </a:solidFill>
                <a:latin typeface="나눔바른고딕"/>
                <a:ea typeface="나눔바른고딕"/>
              </a:rPr>
              <a:t>주별</a:t>
            </a:r>
            <a:r>
              <a:rPr lang="ko-KR" altLang="en-US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 매출</a:t>
            </a:r>
            <a:endParaRPr lang="ko-KR" altLang="en-US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3031210" y="3254612"/>
            <a:ext cx="809876" cy="2870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일별 매출</a:t>
            </a:r>
            <a:endParaRPr lang="ko-KR" altLang="en-US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0925AE1-61AE-54D5-EC0B-749ACAF940BF}"/>
              </a:ext>
            </a:extLst>
          </p:cNvPr>
          <p:cNvSpPr/>
          <p:nvPr/>
        </p:nvSpPr>
        <p:spPr>
          <a:xfrm>
            <a:off x="2905299" y="3690434"/>
            <a:ext cx="692435" cy="34583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tx1"/>
                </a:solidFill>
                <a:latin typeface="나눔바른고딕"/>
                <a:ea typeface="나눔바른고딕"/>
              </a:rPr>
              <a:t>검색</a:t>
            </a:r>
          </a:p>
        </p:txBody>
      </p:sp>
      <p:sp>
        <p:nvSpPr>
          <p:cNvPr id="51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액자 3"/>
          <p:cNvSpPr/>
          <p:nvPr/>
        </p:nvSpPr>
        <p:spPr>
          <a:xfrm>
            <a:off x="3765280" y="2950953"/>
            <a:ext cx="228472" cy="228851"/>
          </a:xfrm>
          <a:prstGeom prst="fram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</a:pPr>
            <a:endParaRPr kumimoji="0" lang="ko-KR" altLang="en-US" sz="1200" b="0" i="0" u="none" strike="noStrike" cap="none" normalizeH="0" baseline="0" smtClean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1202" y="306349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③</a:t>
            </a:r>
            <a:endParaRPr lang="ko-KR" altLang="en-US" sz="2000" dirty="0"/>
          </a:p>
        </p:txBody>
      </p:sp>
      <p:sp>
        <p:nvSpPr>
          <p:cNvPr id="55" name="TextBox 54"/>
          <p:cNvSpPr txBox="1"/>
          <p:nvPr/>
        </p:nvSpPr>
        <p:spPr>
          <a:xfrm>
            <a:off x="3436148" y="3645366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④</a:t>
            </a:r>
            <a:endParaRPr lang="ko-KR" altLang="en-US" sz="2000" dirty="0"/>
          </a:p>
        </p:txBody>
      </p:sp>
      <p:sp>
        <p:nvSpPr>
          <p:cNvPr id="56" name="TextBox 55"/>
          <p:cNvSpPr txBox="1"/>
          <p:nvPr/>
        </p:nvSpPr>
        <p:spPr>
          <a:xfrm>
            <a:off x="1058265" y="4760809"/>
            <a:ext cx="13790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 dirty="0" smtClean="0">
                <a:latin typeface="나눔바른고딕"/>
                <a:ea typeface="나눔바른고딕"/>
              </a:rPr>
              <a:t>2022-03</a:t>
            </a:r>
            <a:endParaRPr lang="ko-KR" altLang="en-US" sz="1000" dirty="0">
              <a:latin typeface="나눔바른고딕"/>
              <a:ea typeface="나눔바른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9576" y="4768320"/>
            <a:ext cx="502062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</a:t>
            </a:r>
            <a:r>
              <a:rPr lang="en-US" altLang="ko-KR" sz="1000" dirty="0" smtClean="0"/>
              <a:t>,000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4982908" y="4726785"/>
            <a:ext cx="338555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xx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155167" y="4731352"/>
            <a:ext cx="338555" cy="276999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xx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242730" y="4515132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⑤</a:t>
            </a:r>
            <a:endParaRPr lang="ko-KR" altLang="en-US" sz="2000" dirty="0"/>
          </a:p>
        </p:txBody>
      </p:sp>
      <p:sp>
        <p:nvSpPr>
          <p:cNvPr id="71" name="직사각형 70"/>
          <p:cNvSpPr/>
          <p:nvPr/>
        </p:nvSpPr>
        <p:spPr>
          <a:xfrm>
            <a:off x="966377" y="2637651"/>
            <a:ext cx="982008" cy="24907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나눔바른고딕"/>
                <a:ea typeface="나눔바른고딕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차 분류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2022813" y="2624462"/>
            <a:ext cx="1030590" cy="2630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나눔바른고딕"/>
                <a:ea typeface="나눔바른고딕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나눔바른고딕"/>
                <a:ea typeface="나눔바른고딕"/>
              </a:rPr>
              <a:t>차 </a:t>
            </a:r>
            <a:r>
              <a:rPr lang="ko-KR" altLang="en-US" dirty="0" smtClean="0">
                <a:solidFill>
                  <a:schemeClr val="tx1"/>
                </a:solidFill>
                <a:latin typeface="나눔바른고딕"/>
                <a:ea typeface="나눔바른고딕"/>
              </a:rPr>
              <a:t>분류</a:t>
            </a:r>
            <a:endParaRPr lang="ko-KR" altLang="en-US" dirty="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90" name="이등변 삼각형 89"/>
          <p:cNvSpPr/>
          <p:nvPr/>
        </p:nvSpPr>
        <p:spPr>
          <a:xfrm rot="10800000">
            <a:off x="1733263" y="2689842"/>
            <a:ext cx="201360" cy="12526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  <p:sp>
        <p:nvSpPr>
          <p:cNvPr id="92" name="이등변 삼각형 91"/>
          <p:cNvSpPr/>
          <p:nvPr/>
        </p:nvSpPr>
        <p:spPr>
          <a:xfrm rot="10800000">
            <a:off x="2849322" y="2690092"/>
            <a:ext cx="201360" cy="125265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89999" tIns="46800" rIns="89999" bIns="46800" anchor="t" anchorCtr="0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latinLnBrk="0" hangingPunct="0">
              <a:lnSpc>
                <a:spcPct val="100000"/>
              </a:lnSpc>
              <a:spcBef>
                <a:spcPct val="25000"/>
              </a:spcBef>
              <a:spcAft>
                <a:spcPct val="25000"/>
              </a:spcAft>
              <a:buClr>
                <a:schemeClr val="bg1"/>
              </a:buClr>
              <a:buFont typeface="Wingdings"/>
              <a:buNone/>
              <a:defRPr/>
            </a:pPr>
            <a:endParaRPr kumimoji="0" lang="ko-KR" altLang="en-US" sz="12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82653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40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928461"/>
              </p:ext>
            </p:extLst>
          </p:nvPr>
        </p:nvGraphicFramePr>
        <p:xfrm>
          <a:off x="560511" y="1052738"/>
          <a:ext cx="8928992" cy="5410567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1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DATE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productName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단가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unitcost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금액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총 판매금액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price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차 분류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productCona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A1</a:t>
                      </a:r>
                      <a:endParaRPr lang="en-US" sz="11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차 분류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productConb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I/O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smtClean="0">
                          <a:latin typeface="맑은 고딕" pitchFamily="50" charset="-127"/>
                          <a:ea typeface="맑은 고딕" pitchFamily="50" charset="-127"/>
                          <a:cs typeface="Times New Roman"/>
                        </a:rPr>
                        <a:t>B1</a:t>
                      </a:r>
                      <a:endParaRPr lang="en-US" sz="1100" kern="100" dirty="0">
                        <a:latin typeface="맑은 고딕" pitchFamily="50" charset="-127"/>
                        <a:ea typeface="맑은 고딕" pitchFamily="50" charset="-127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896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841086" y="6272766"/>
            <a:ext cx="2063750" cy="213642"/>
          </a:xfrm>
        </p:spPr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41</a:t>
            </a:fld>
            <a:r>
              <a:rPr lang="en-US" altLang="ko-KR"/>
              <a:t> -</a:t>
            </a:r>
          </a:p>
        </p:txBody>
      </p:sp>
      <p:sp>
        <p:nvSpPr>
          <p:cNvPr id="3" name="Rectangle 94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Arial"/>
                <a:ea typeface="굴림"/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graphicFrame>
        <p:nvGraphicFramePr>
          <p:cNvPr id="5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74636"/>
              </p:ext>
            </p:extLst>
          </p:nvPr>
        </p:nvGraphicFramePr>
        <p:xfrm>
          <a:off x="315913" y="747145"/>
          <a:ext cx="9272587" cy="5876622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5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772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Level1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주류 유통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Level2</a:t>
                      </a:r>
                      <a:endParaRPr kumimoji="0" lang="en-US" altLang="ko-KR" sz="10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관리자 화면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151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</a:t>
                      </a:r>
                      <a:r>
                        <a:rPr kumimoji="0" lang="en-US" altLang="ko-KR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ID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4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 typeface="Wingdings"/>
                        <a:buNone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UI_PD4_021</a:t>
                      </a:r>
                      <a:endParaRPr kumimoji="1" lang="en-US" altLang="ko-KR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게시판 관리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56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화면개요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게시판 관리 화면이다</a:t>
                      </a:r>
                      <a:r>
                        <a:rPr kumimoji="0" lang="en-US" altLang="ko-KR" sz="10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811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0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설명</a:t>
                      </a: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132">
                <a:tc gridSpan="4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000" b="1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HY울릉도M"/>
                        <a:ea typeface="HY울릉도M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공지사항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, FAQ, Q&amp;A, </a:t>
                      </a:r>
                      <a:r>
                        <a:rPr kumimoji="0" lang="ko-KR" altLang="en-US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상품 문의를 모두 볼 수 있는 페이지이다</a:t>
                      </a:r>
                      <a:r>
                        <a:rPr kumimoji="0" lang="en-US" altLang="ko-KR" sz="10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.</a:t>
                      </a:r>
                      <a:endParaRPr kumimoji="0" lang="ko-KR" altLang="en-US" sz="1000" b="1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29950" y="2134118"/>
            <a:ext cx="40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b="1" dirty="0">
                <a:solidFill>
                  <a:srgbClr val="FF0000"/>
                </a:solidFill>
                <a:latin typeface="나눔바른고딕"/>
                <a:ea typeface="나눔바른고딕"/>
              </a:rPr>
              <a:t>①</a:t>
            </a:r>
            <a:endParaRPr lang="ko-KR" altLang="en-US" sz="2000" dirty="0"/>
          </a:p>
        </p:txBody>
      </p:sp>
      <p:sp>
        <p:nvSpPr>
          <p:cNvPr id="23" name="직사각형 22"/>
          <p:cNvSpPr/>
          <p:nvPr/>
        </p:nvSpPr>
        <p:spPr>
          <a:xfrm>
            <a:off x="347346" y="1879622"/>
            <a:ext cx="1468735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  <a:latin typeface="나눔바른고딕"/>
                <a:ea typeface="나눔바른고딕"/>
              </a:rPr>
              <a:t>게시판 관리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344488" y="2286149"/>
            <a:ext cx="67396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01625" y="2321893"/>
            <a:ext cx="16742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나눔바른고딕"/>
                <a:ea typeface="나눔바른고딕"/>
              </a:rPr>
              <a:t>최근 게시글 리스트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47346" y="2731286"/>
            <a:ext cx="3125280" cy="101111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63242" y="2737279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공지사항 </a:t>
            </a:r>
            <a:r>
              <a:rPr lang="en-US" altLang="ko-KR">
                <a:latin typeface="나눔바른고딕"/>
                <a:ea typeface="나눔바른고딕"/>
              </a:rPr>
              <a:t>0</a:t>
            </a:r>
            <a:r>
              <a:rPr lang="ko-KR" altLang="en-US">
                <a:latin typeface="나눔바른고딕"/>
                <a:ea typeface="나눔바른고딕"/>
              </a:rPr>
              <a:t>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7290" y="3027332"/>
            <a:ext cx="578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92027" y="3023132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40642" y="3023132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문의일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347346" y="3300131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94" name="직선 연결선 93"/>
          <p:cNvCxnSpPr/>
          <p:nvPr/>
        </p:nvCxnSpPr>
        <p:spPr>
          <a:xfrm>
            <a:off x="347346" y="3027332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9" name="직선 연결선 8"/>
          <p:cNvCxnSpPr/>
          <p:nvPr/>
        </p:nvCxnSpPr>
        <p:spPr>
          <a:xfrm>
            <a:off x="2192027" y="3063774"/>
            <a:ext cx="0" cy="209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95" name="직선 연결선 94"/>
          <p:cNvCxnSpPr/>
          <p:nvPr/>
        </p:nvCxnSpPr>
        <p:spPr>
          <a:xfrm>
            <a:off x="2840642" y="3056876"/>
            <a:ext cx="0" cy="247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05" name="직사각형 104"/>
          <p:cNvSpPr/>
          <p:nvPr/>
        </p:nvSpPr>
        <p:spPr>
          <a:xfrm>
            <a:off x="3915952" y="2731286"/>
            <a:ext cx="3125280" cy="101111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731848" y="2737279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FAQ</a:t>
            </a:r>
            <a:r>
              <a:rPr lang="ko-KR" altLang="en-US">
                <a:latin typeface="나눔바른고딕"/>
                <a:ea typeface="나눔바른고딕"/>
              </a:rPr>
              <a:t> </a:t>
            </a:r>
            <a:r>
              <a:rPr lang="en-US" altLang="ko-KR">
                <a:latin typeface="나눔바른고딕"/>
                <a:ea typeface="나눔바른고딕"/>
              </a:rPr>
              <a:t>0</a:t>
            </a:r>
            <a:r>
              <a:rPr lang="ko-KR" altLang="en-US">
                <a:latin typeface="나눔바른고딕"/>
                <a:ea typeface="나눔바른고딕"/>
              </a:rPr>
              <a:t>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75896" y="3027332"/>
            <a:ext cx="578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633" y="3023132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9248" y="3023132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문의일</a:t>
            </a:r>
          </a:p>
        </p:txBody>
      </p:sp>
      <p:cxnSp>
        <p:nvCxnSpPr>
          <p:cNvPr id="110" name="직선 연결선 109"/>
          <p:cNvCxnSpPr/>
          <p:nvPr/>
        </p:nvCxnSpPr>
        <p:spPr>
          <a:xfrm>
            <a:off x="3915952" y="3300131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11" name="직선 연결선 110"/>
          <p:cNvCxnSpPr/>
          <p:nvPr/>
        </p:nvCxnSpPr>
        <p:spPr>
          <a:xfrm>
            <a:off x="3915952" y="3027332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12" name="직선 연결선 111"/>
          <p:cNvCxnSpPr/>
          <p:nvPr/>
        </p:nvCxnSpPr>
        <p:spPr>
          <a:xfrm>
            <a:off x="5760633" y="3063774"/>
            <a:ext cx="0" cy="209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13" name="직선 연결선 112"/>
          <p:cNvCxnSpPr/>
          <p:nvPr/>
        </p:nvCxnSpPr>
        <p:spPr>
          <a:xfrm>
            <a:off x="6409248" y="3056876"/>
            <a:ext cx="0" cy="247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14" name="직사각형 113"/>
          <p:cNvSpPr/>
          <p:nvPr/>
        </p:nvSpPr>
        <p:spPr>
          <a:xfrm>
            <a:off x="347346" y="4006017"/>
            <a:ext cx="3125280" cy="101111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63242" y="4012010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바른고딕"/>
                <a:ea typeface="나눔바른고딕"/>
              </a:rPr>
              <a:t>Q&amp;A</a:t>
            </a:r>
            <a:r>
              <a:rPr lang="ko-KR" altLang="en-US">
                <a:latin typeface="나눔바른고딕"/>
                <a:ea typeface="나눔바른고딕"/>
              </a:rPr>
              <a:t> </a:t>
            </a:r>
            <a:r>
              <a:rPr lang="en-US" altLang="ko-KR">
                <a:latin typeface="나눔바른고딕"/>
                <a:ea typeface="나눔바른고딕"/>
              </a:rPr>
              <a:t>0</a:t>
            </a:r>
            <a:r>
              <a:rPr lang="ko-KR" altLang="en-US">
                <a:latin typeface="나눔바른고딕"/>
                <a:ea typeface="나눔바른고딕"/>
              </a:rPr>
              <a:t>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7290" y="4302063"/>
            <a:ext cx="578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92027" y="4297863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40642" y="4297863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문의일</a:t>
            </a:r>
          </a:p>
        </p:txBody>
      </p:sp>
      <p:cxnSp>
        <p:nvCxnSpPr>
          <p:cNvPr id="119" name="직선 연결선 118"/>
          <p:cNvCxnSpPr/>
          <p:nvPr/>
        </p:nvCxnSpPr>
        <p:spPr>
          <a:xfrm>
            <a:off x="347346" y="4574862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20" name="직선 연결선 119"/>
          <p:cNvCxnSpPr/>
          <p:nvPr/>
        </p:nvCxnSpPr>
        <p:spPr>
          <a:xfrm>
            <a:off x="347346" y="4302063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21" name="직선 연결선 120"/>
          <p:cNvCxnSpPr/>
          <p:nvPr/>
        </p:nvCxnSpPr>
        <p:spPr>
          <a:xfrm>
            <a:off x="2192027" y="4338505"/>
            <a:ext cx="0" cy="209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22" name="직선 연결선 121"/>
          <p:cNvCxnSpPr/>
          <p:nvPr/>
        </p:nvCxnSpPr>
        <p:spPr>
          <a:xfrm>
            <a:off x="2840642" y="4331607"/>
            <a:ext cx="0" cy="247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23" name="직사각형 122"/>
          <p:cNvSpPr/>
          <p:nvPr/>
        </p:nvSpPr>
        <p:spPr>
          <a:xfrm>
            <a:off x="3939679" y="4006017"/>
            <a:ext cx="3125280" cy="101111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400">
              <a:solidFill>
                <a:schemeClr val="tx1"/>
              </a:solidFill>
              <a:latin typeface="나눔바른고딕"/>
              <a:ea typeface="나눔바른고딕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755575" y="4012010"/>
            <a:ext cx="12961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상품 문의 </a:t>
            </a:r>
            <a:r>
              <a:rPr lang="en-US" altLang="ko-KR">
                <a:latin typeface="나눔바른고딕"/>
                <a:ea typeface="나눔바른고딕"/>
              </a:rPr>
              <a:t>0</a:t>
            </a:r>
            <a:r>
              <a:rPr lang="ko-KR" altLang="en-US">
                <a:latin typeface="나눔바른고딕"/>
                <a:ea typeface="나눔바른고딕"/>
              </a:rPr>
              <a:t>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99623" y="4302063"/>
            <a:ext cx="578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내용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84360" y="4297863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작성자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32975" y="4297863"/>
            <a:ext cx="703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나눔바른고딕"/>
                <a:ea typeface="나눔바른고딕"/>
              </a:rPr>
              <a:t>문의일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3939679" y="4574862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29" name="직선 연결선 128"/>
          <p:cNvCxnSpPr/>
          <p:nvPr/>
        </p:nvCxnSpPr>
        <p:spPr>
          <a:xfrm>
            <a:off x="3939679" y="4302063"/>
            <a:ext cx="3125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30" name="직선 연결선 129"/>
          <p:cNvCxnSpPr/>
          <p:nvPr/>
        </p:nvCxnSpPr>
        <p:spPr>
          <a:xfrm>
            <a:off x="5784360" y="4338505"/>
            <a:ext cx="0" cy="2095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31" name="직선 연결선 130"/>
          <p:cNvCxnSpPr/>
          <p:nvPr/>
        </p:nvCxnSpPr>
        <p:spPr>
          <a:xfrm>
            <a:off x="6432975" y="4331607"/>
            <a:ext cx="0" cy="247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46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- </a:t>
            </a:r>
            <a:fld id="{C901A90A-51E9-4B3D-970E-5E426F951B65}" type="slidenum">
              <a:rPr lang="en-US" altLang="ko-KR"/>
              <a:pPr>
                <a:defRPr/>
              </a:pPr>
              <a:t>42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4"/>
          <p:cNvGraphicFramePr>
            <a:graphicFrameLocks noGrp="1"/>
          </p:cNvGraphicFramePr>
          <p:nvPr/>
        </p:nvGraphicFramePr>
        <p:xfrm>
          <a:off x="560511" y="1052738"/>
          <a:ext cx="8928992" cy="5429409"/>
        </p:xfrm>
        <a:graphic>
          <a:graphicData uri="http://schemas.openxmlformats.org/drawingml/2006/table">
            <a:tbl>
              <a:tblPr/>
              <a:tblGrid>
                <a:gridCol w="996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alt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I/</a:t>
                      </a: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O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한글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영문 명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필수여부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en-US" sz="1100" b="1" kern="100">
                          <a:latin typeface="맑은 고딕"/>
                          <a:ea typeface="맑은 고딕"/>
                          <a:cs typeface="Times New Roman"/>
                        </a:rPr>
                        <a:t>I/O </a:t>
                      </a: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유형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sz="1100" b="1" kern="100">
                          <a:latin typeface="맑은 고딕"/>
                          <a:ea typeface="맑은 고딕"/>
                          <a:cs typeface="Times New Roman"/>
                        </a:rPr>
                        <a:t>초기값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관리자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adminId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memberId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내용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공지게시판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content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내용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문의사항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content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marL="0" marR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공지게시판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등록일자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문의사항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regdate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722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ko-KR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defRPr/>
                      </a:pPr>
                      <a:endParaRPr lang="en-US" sz="1100" kern="10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5" name="직사각형 6"/>
          <p:cNvSpPr/>
          <p:nvPr/>
        </p:nvSpPr>
        <p:spPr>
          <a:xfrm>
            <a:off x="425987" y="703729"/>
            <a:ext cx="1386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* </a:t>
            </a:r>
            <a:r>
              <a:rPr lang="ko-KR" altLang="ko-KR" b="1">
                <a:latin typeface="맑은 고딕"/>
                <a:ea typeface="맑은 고딕"/>
              </a:rPr>
              <a:t>화면입출력정보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1625" y="1714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2pPr>
            <a:lvl3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3pPr>
            <a:lvl4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4pPr>
            <a:lvl5pPr algn="l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 altLang="ko-KR" sz="1800"/>
              <a:t>1. UI </a:t>
            </a:r>
            <a:r>
              <a:rPr lang="ko-KR" altLang="en-US" sz="1800"/>
              <a:t> 설계</a:t>
            </a:r>
          </a:p>
        </p:txBody>
      </p:sp>
      <p:sp>
        <p:nvSpPr>
          <p:cNvPr id="7" name="Rectangle 94"/>
          <p:cNvSpPr txBox="1">
            <a:spLocks noChangeArrowheads="1"/>
          </p:cNvSpPr>
          <p:nvPr/>
        </p:nvSpPr>
        <p:spPr>
          <a:xfrm>
            <a:off x="5902325" y="323850"/>
            <a:ext cx="4003675" cy="3048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r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1.3</a:t>
            </a:r>
            <a:r>
              <a:rPr kumimoji="0" lang="en-US" altLang="ko-KR" sz="1800" b="1" i="0" u="none" strike="noStrike" kern="0" cap="none" spc="0" normalizeH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ko-KR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ko-KR" altLang="en-US" sz="1800" b="1" kern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관리자 </a:t>
            </a:r>
            <a:r>
              <a:rPr kumimoji="0" lang="ko-KR" altLang="en-US" sz="1800" b="1" i="0" u="none" strike="noStrike" kern="0" cap="none" spc="0" normalizeH="0" baseline="0" dirty="0" smtClean="0"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화면</a:t>
            </a:r>
            <a:endParaRPr kumimoji="0" lang="ko-KR" altLang="en-US" sz="1800" b="1" i="0" u="none" strike="noStrike" kern="0" cap="none" spc="0" normalizeH="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AC Photograph - Innovator">
  <a:themeElements>
    <a:clrScheme name="">
      <a:dk1>
        <a:srgbClr val="000000"/>
      </a:dk1>
      <a:lt1>
        <a:srgbClr val="FFFFFF"/>
      </a:lt1>
      <a:dk2>
        <a:srgbClr val="FFFFFF"/>
      </a:dk2>
      <a:lt2>
        <a:srgbClr val="C0C0C0"/>
      </a:lt2>
      <a:accent1>
        <a:srgbClr val="0066FF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FF"/>
      </a:accent5>
      <a:accent6>
        <a:srgbClr val="2DB9B9"/>
      </a:accent6>
      <a:hlink>
        <a:srgbClr val="FF9433"/>
      </a:hlink>
      <a:folHlink>
        <a:srgbClr val="00CC66"/>
      </a:folHlink>
    </a:clrScheme>
    <a:fontScheme name="AC Photograph - Innovator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5000"/>
          </a:spcBef>
          <a:spcAft>
            <a:spcPct val="25000"/>
          </a:spcAft>
          <a:buClr>
            <a:schemeClr val="bg1"/>
          </a:buClr>
          <a:buFont typeface="Wingdings"/>
          <a:buNone/>
          <a:defRPr kumimoji="0" 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굴림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5000"/>
          </a:spcBef>
          <a:spcAft>
            <a:spcPct val="25000"/>
          </a:spcAft>
          <a:buClr>
            <a:schemeClr val="bg1"/>
          </a:buClr>
          <a:buFont typeface="Wingdings"/>
          <a:buNone/>
          <a:defRPr kumimoji="0" 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1_AC Photograph - Innovator">
  <a:themeElements>
    <a:clrScheme name="">
      <a:dk1>
        <a:srgbClr val="000000"/>
      </a:dk1>
      <a:lt1>
        <a:srgbClr val="FFFFFF"/>
      </a:lt1>
      <a:dk2>
        <a:srgbClr val="FFFFFF"/>
      </a:dk2>
      <a:lt2>
        <a:srgbClr val="C0C0C0"/>
      </a:lt2>
      <a:accent1>
        <a:srgbClr val="0066FF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FF"/>
      </a:accent5>
      <a:accent6>
        <a:srgbClr val="2DB9B9"/>
      </a:accent6>
      <a:hlink>
        <a:srgbClr val="FF9433"/>
      </a:hlink>
      <a:folHlink>
        <a:srgbClr val="00CC66"/>
      </a:folHlink>
    </a:clrScheme>
    <a:fontScheme name="AC Photograph - Innovator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5000"/>
          </a:spcBef>
          <a:spcAft>
            <a:spcPct val="25000"/>
          </a:spcAft>
          <a:buClr>
            <a:schemeClr val="bg1"/>
          </a:buClr>
          <a:buFont typeface="Wingdings"/>
          <a:buNone/>
          <a:defRPr kumimoji="0" 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굴림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5000"/>
          </a:spcBef>
          <a:spcAft>
            <a:spcPct val="25000"/>
          </a:spcAft>
          <a:buClr>
            <a:schemeClr val="bg1"/>
          </a:buClr>
          <a:buFont typeface="Wingdings"/>
          <a:buNone/>
          <a:defRPr kumimoji="0" lang="en-US" sz="12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3135</Words>
  <Application>Microsoft Office PowerPoint</Application>
  <PresentationFormat>A4 용지(210x297mm)</PresentationFormat>
  <Paragraphs>1540</Paragraphs>
  <Slides>43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43</vt:i4>
      </vt:variant>
    </vt:vector>
  </HeadingPairs>
  <TitlesOfParts>
    <vt:vector size="53" baseType="lpstr">
      <vt:lpstr>굴림</vt:lpstr>
      <vt:lpstr>나눔바른고딕</vt:lpstr>
      <vt:lpstr>돋움</vt:lpstr>
      <vt:lpstr>맑은 고딕</vt:lpstr>
      <vt:lpstr>바탕체</vt:lpstr>
      <vt:lpstr>Arial</vt:lpstr>
      <vt:lpstr>Times New Roman</vt:lpstr>
      <vt:lpstr>Wingdings</vt:lpstr>
      <vt:lpstr>AC Photograph - Innovator</vt:lpstr>
      <vt:lpstr>1_AC Photograph - Innovator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URIELSOFT</dc:creator>
  <cp:lastModifiedBy>kim soohye</cp:lastModifiedBy>
  <cp:revision>2571</cp:revision>
  <dcterms:created xsi:type="dcterms:W3CDTF">1999-02-15T10:43:20Z</dcterms:created>
  <dcterms:modified xsi:type="dcterms:W3CDTF">2022-07-04T06:35:58Z</dcterms:modified>
  <cp:version>0906.0100.01</cp:version>
</cp:coreProperties>
</file>